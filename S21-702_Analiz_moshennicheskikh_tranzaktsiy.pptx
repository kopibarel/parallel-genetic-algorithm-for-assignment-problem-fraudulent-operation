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4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53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80"/>
  </p:notesMasterIdLst>
  <p:sldIdLst>
    <p:sldId id="256" r:id="rId3"/>
    <p:sldId id="299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74" r:id="rId12"/>
    <p:sldId id="315" r:id="rId13"/>
    <p:sldId id="316" r:id="rId14"/>
    <p:sldId id="305" r:id="rId15"/>
    <p:sldId id="306" r:id="rId16"/>
    <p:sldId id="307" r:id="rId17"/>
    <p:sldId id="392" r:id="rId18"/>
    <p:sldId id="302" r:id="rId19"/>
    <p:sldId id="303" r:id="rId20"/>
    <p:sldId id="333" r:id="rId21"/>
    <p:sldId id="318" r:id="rId22"/>
    <p:sldId id="319" r:id="rId23"/>
    <p:sldId id="320" r:id="rId24"/>
    <p:sldId id="321" r:id="rId25"/>
    <p:sldId id="322" r:id="rId26"/>
    <p:sldId id="390" r:id="rId27"/>
    <p:sldId id="323" r:id="rId28"/>
    <p:sldId id="332" r:id="rId29"/>
    <p:sldId id="324" r:id="rId30"/>
    <p:sldId id="325" r:id="rId31"/>
    <p:sldId id="326" r:id="rId32"/>
    <p:sldId id="327" r:id="rId33"/>
    <p:sldId id="328" r:id="rId34"/>
    <p:sldId id="329" r:id="rId35"/>
    <p:sldId id="391" r:id="rId36"/>
    <p:sldId id="330" r:id="rId37"/>
    <p:sldId id="379" r:id="rId38"/>
    <p:sldId id="331" r:id="rId39"/>
    <p:sldId id="334" r:id="rId40"/>
    <p:sldId id="335" r:id="rId41"/>
    <p:sldId id="336" r:id="rId42"/>
    <p:sldId id="337" r:id="rId43"/>
    <p:sldId id="338" r:id="rId44"/>
    <p:sldId id="339" r:id="rId45"/>
    <p:sldId id="340" r:id="rId46"/>
    <p:sldId id="341" r:id="rId47"/>
    <p:sldId id="342" r:id="rId48"/>
    <p:sldId id="343" r:id="rId49"/>
    <p:sldId id="344" r:id="rId50"/>
    <p:sldId id="345" r:id="rId51"/>
    <p:sldId id="347" r:id="rId52"/>
    <p:sldId id="349" r:id="rId53"/>
    <p:sldId id="350" r:id="rId54"/>
    <p:sldId id="353" r:id="rId55"/>
    <p:sldId id="354" r:id="rId56"/>
    <p:sldId id="355" r:id="rId57"/>
    <p:sldId id="373" r:id="rId58"/>
    <p:sldId id="358" r:id="rId59"/>
    <p:sldId id="362" r:id="rId60"/>
    <p:sldId id="363" r:id="rId61"/>
    <p:sldId id="376" r:id="rId62"/>
    <p:sldId id="378" r:id="rId63"/>
    <p:sldId id="365" r:id="rId64"/>
    <p:sldId id="366" r:id="rId65"/>
    <p:sldId id="367" r:id="rId66"/>
    <p:sldId id="368" r:id="rId67"/>
    <p:sldId id="369" r:id="rId68"/>
    <p:sldId id="371" r:id="rId69"/>
    <p:sldId id="381" r:id="rId70"/>
    <p:sldId id="382" r:id="rId71"/>
    <p:sldId id="388" r:id="rId72"/>
    <p:sldId id="383" r:id="rId73"/>
    <p:sldId id="384" r:id="rId74"/>
    <p:sldId id="385" r:id="rId75"/>
    <p:sldId id="386" r:id="rId76"/>
    <p:sldId id="387" r:id="rId77"/>
    <p:sldId id="389" r:id="rId78"/>
    <p:sldId id="265" r:id="rId7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4B1DD31-830E-4918-858C-E455993176C0}">
          <p14:sldIdLst>
            <p14:sldId id="256"/>
            <p14:sldId id="299"/>
            <p14:sldId id="308"/>
            <p14:sldId id="309"/>
            <p14:sldId id="310"/>
            <p14:sldId id="311"/>
            <p14:sldId id="312"/>
            <p14:sldId id="313"/>
            <p14:sldId id="314"/>
            <p14:sldId id="374"/>
            <p14:sldId id="315"/>
            <p14:sldId id="316"/>
            <p14:sldId id="305"/>
            <p14:sldId id="306"/>
            <p14:sldId id="307"/>
            <p14:sldId id="392"/>
            <p14:sldId id="302"/>
            <p14:sldId id="303"/>
            <p14:sldId id="333"/>
            <p14:sldId id="318"/>
            <p14:sldId id="319"/>
            <p14:sldId id="320"/>
            <p14:sldId id="321"/>
            <p14:sldId id="322"/>
            <p14:sldId id="390"/>
            <p14:sldId id="323"/>
            <p14:sldId id="332"/>
            <p14:sldId id="324"/>
            <p14:sldId id="325"/>
            <p14:sldId id="326"/>
            <p14:sldId id="327"/>
            <p14:sldId id="328"/>
            <p14:sldId id="329"/>
            <p14:sldId id="391"/>
            <p14:sldId id="330"/>
            <p14:sldId id="379"/>
            <p14:sldId id="331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7"/>
            <p14:sldId id="349"/>
            <p14:sldId id="350"/>
            <p14:sldId id="353"/>
            <p14:sldId id="354"/>
            <p14:sldId id="355"/>
            <p14:sldId id="373"/>
            <p14:sldId id="358"/>
            <p14:sldId id="362"/>
            <p14:sldId id="363"/>
            <p14:sldId id="376"/>
            <p14:sldId id="378"/>
            <p14:sldId id="365"/>
            <p14:sldId id="366"/>
            <p14:sldId id="367"/>
            <p14:sldId id="368"/>
            <p14:sldId id="369"/>
            <p14:sldId id="371"/>
            <p14:sldId id="381"/>
            <p14:sldId id="382"/>
            <p14:sldId id="388"/>
            <p14:sldId id="383"/>
            <p14:sldId id="384"/>
            <p14:sldId id="385"/>
            <p14:sldId id="386"/>
            <p14:sldId id="387"/>
            <p14:sldId id="389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140" autoAdjust="0"/>
  </p:normalViewPr>
  <p:slideViewPr>
    <p:cSldViewPr snapToGrid="0">
      <p:cViewPr varScale="1">
        <p:scale>
          <a:sx n="67" d="100"/>
          <a:sy n="67" d="100"/>
        </p:scale>
        <p:origin x="12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7:21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0 24575,'0'59'0,"2"-2"0,-4-1 0,-13 97 0,7-94 0,2 1 0,4-1 0,5 70 0,0-12 0,-4 928-1365,1-1024-5461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7:22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77 24575,'0'-1'0,"1"0"0,-1 0 0,1 0 0,-1 0 0,1 0 0,-1-1 0,1 2 0,0-1 0,0 0 0,-1 0 0,1 0 0,0 0 0,0 0 0,0 1 0,0-1 0,0 0 0,0 1 0,0-1 0,0 1 0,0-1 0,0 1 0,0-1 0,0 1 0,1 0 0,-1 0 0,0-1 0,2 1 0,38-5 0,-36 5 0,64-2 0,-40 2 0,0-2 0,57-9 0,-31-1 0,-1 2 0,1 3 0,94 0 0,947 8 0,-1092-1 0,0-1 0,0 2 0,0-1 0,0 0 0,0 1 0,-1 0 0,1 0 0,0 0 0,0 0 0,-1 0 0,1 1 0,-1 0 0,1 0 0,-1 0 0,0 0 0,0 0 0,0 1 0,0-1 0,0 1 0,0 0 0,2 3 0,-1 0 0,-1 1 0,0-1 0,-1 0 0,1 1 0,-1-1 0,0 1 0,-1 0 0,0 0 0,0-1 0,0 1 0,-1 9 0,-1 562 0,-1-232 0,1-327 0,-1-1 0,-8 35 0,6-34 0,0 1 0,-1 25 0,-7 50 0,7-69 0,-3 52 0,6-47 0,-9 50 0,6-50 0,-2 51 0,9-7 0,1-35 0,-5 48 0,2-78 0,-1 0 0,-1 0 0,0 0 0,0 0 0,-1 0 0,-1-1 0,1 1 0,-1-1 0,-10 16 0,10-20 0,0-1 0,0 0 0,0 1 0,0-2 0,-1 1 0,0 0 0,0-1 0,0 0 0,0 0 0,0 0 0,-1-1 0,1 0 0,-10 3 0,-8 1 0,-1-2 0,-25 3 0,5-1 0,-35 3 0,-28 6 0,-41 10 0,85-13 0,0-2 0,0-3 0,-88-2 0,133-4 0,0 0 0,1 2 0,-20 5 0,-47 4 0,54-11 0,-238-3 0,235-3 0,0-1 0,0-2 0,1-1 0,-34-15 0,62 22 0,0 0 0,1 0 0,-1 0 0,1-1 0,0 1 0,0-1 0,-1 0 0,2 0 0,-1 0 0,0 0 0,1-1 0,-1 1 0,1-1 0,0 1 0,0-1 0,1 0 0,-1 0 0,-1-5 0,-2-9 0,1-1 0,-3-34 0,4 29 0,-6-45-1365,3 48-5461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7:23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1512 24575,'0'0'0,"-1"1"0,1-1 0,0 1 0,0-1 0,0 1 0,0-1 0,0 1 0,0 0 0,0-1 0,0 1 0,0-1 0,0 1 0,0-1 0,1 1 0,-1-1 0,0 1 0,0-1 0,0 1 0,1-1 0,-1 1 0,0-1 0,1 1 0,-1-1 0,0 0 0,1 1 0,-1-1 0,0 1 0,1-1 0,-1 0 0,1 1 0,-1-1 0,1 0 0,-1 0 0,1 1 0,-1-1 0,1 0 0,-1 0 0,1 0 0,0 0 0,24-13 0,33-45 0,-46 44 0,12-6 0,0 0 0,1 1 0,47-26 0,1-1 0,-42 25 12,343-223-945,-338 224 1057,312-164-1871,-185 110 1747,132-54 0,-112 53-2129,297-107 1001,-48 25 1198,-257 89-46,4-5 918,-57 14 2108,-103 52-9526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7:24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1536 24575,'13'-2'0,"-1"-1"0,1 0 0,-1-1 0,0 0 0,0 0 0,-1-1 0,0-1 0,1 0 0,13-10 0,19-10 0,313-175-202,24-18-666,-215 128 724,761-391-1552,-516 286 1696,-378 181 0,330-148 0,-263 112-598,-48 23-220,-30 18-3047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7:25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24575,'96'-2'0,"107"4"0,-43 22 0,-24-11-354,37 1-157,1179-16-4012,-1121 15 4523,-4 0 0,-8 0-13,7-1 78,-170-12 134,2-1-178,0 2 0,86 13 0,-87-10 1275,-48-4-1011,0-1-1,-1 1 1,1 1 0,0 0 0,-1 0 0,1 1-1,-1 0 1,1 0 0,-1 1 0,0 0 0,0 0-1,11 7 1,-17-8-282,-1 0 0,1 0 0,0 1 0,0-1 0,-1 0 0,1 1 0,-1-1 0,0 1 0,0 0 0,0-1 0,0 1 1,0 0-1,-1 0 0,1-1 0,-1 1 0,0 0 0,0 0 0,0 0 0,0 0 0,0-1 0,0 1 0,-1 0 0,0 0 0,1 0 0,-1-1 0,0 1 0,0 0 0,0-1 0,-1 1 0,-2 4 0,-6 9-6,-1-1-1,0 0 0,-22 23 1,16-19-1,15-16 4,-198 213 0,42-73 0,52-53-166,-4-5 1,-4-4-1,-183 97 0,173-113 166,20-10 0,-123 47 0,-9-14 0,52-24 248,-153 43-1751,315-103-4770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7:26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2018 400 24575,'-8'-3'0,"1"1"0,0-1 0,-1 0 0,1-1 0,0 0 0,1 0 0,-1 0 0,1-1 0,-6-5 0,9 8 0,-84-71 0,59 48 0,0 1 0,-1 1 0,-1 2 0,-65-34 0,32 23 0,42 21 0,0 1 0,0 1 0,-31-10 0,-23 2 0,-1 3 0,0 4 0,0 2 0,-91 4 0,150 4 0,-1 0 0,1 0 0,-1 2 0,1 0 0,0 1 0,-1 1 0,2 1 0,-1 0 0,0 1 0,1 1 0,0 0 0,1 2 0,-1-1 0,-18 16 0,-17 13 0,32-24 0,1 0 0,1 1 0,0 1 0,-21 25 0,-3 9 0,-104 134 0,118-142 0,2 2 0,-23 52 0,-14 25 0,-79 153 0,129-251 0,1 2 0,2-1 0,0 1 0,1 1 0,2 0 0,-7 49 0,7 1 0,4 78 0,2-95 0,0-51 0,0 0 0,0 1 0,1-1 0,0 0 0,1 1 0,-1-1 0,2 0 0,-1 0 0,1-1 0,0 1 0,0 0 0,6 8 0,-1-5 0,1 0 0,0 0 0,1-1 0,0 0 0,19 13 0,-14-11 0,-1-2 0,1 1 0,1-2 0,-1 0 0,1-1 0,1 0 0,-1-2 0,32 7 0,-30-8 0,18 3 0,0 0 0,72 2 0,391-11 0,-481 2 0,-1-2 0,1 0 0,-1-1 0,0-1 0,0-1 0,31-13 0,-16 4 0,0-2 0,42-29 0,-67 39 0,0 0 0,0-1 0,-1 1 0,1-1 0,-2-1 0,1 1 0,-1-1 0,8-16 0,-4 7 0,-1-1 0,-1-1 0,6-22 0,-8 7 0,0-1 0,-3 1 0,0-1 0,-6-54 0,1 0 0,3 79 0,-1 1 0,-1-1 0,0 1 0,0-1 0,-1 1 0,0 0 0,0 0 0,-9-14 0,-43-66 0,54 87 0,-9-11 0,0 1 0,0 0 0,-1 1 0,0 0 0,-1 0 0,-1 2 0,-17-12 0,-10-2 0,-50-21 0,85 42 0,-9-5 0,-1 1 0,0 0 0,0 1 0,0 0 0,-1 2 0,0 0 0,0 0 0,1 2 0,-20 0 0,-34 0 0,-87 4 0,138 1 0,0 0 0,0 1 0,0 0 0,0 1 0,-20 11 0,-37 13 0,62-25 0,0 1 0,1 0 0,-1 1 0,1 0 0,-16 13 0,-27 16 0,-4-2 0,29-17 0,0 0 0,-1-2 0,-47 15 0,61-23-1365,3-1-5461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7:27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1 24575,'-10'41'0,"0"-10"0,-21 104 0,8-41 0,-27 54 0,23 1 0,1 1 0,3-29 0,15-87 0,1 1 0,-3 48 0,-15 109 0,15-137 0,3 1 0,-1 66 0,8-80 0,-3 1 0,-8 50 0,6-52 0,2 75 0,0-3 0,-9-38 0,7-52 0,2 0 0,-2 29 0,6 247-1365,-1-277-5461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7:28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395 157 24575,'19'-1'0,"-1"-1"0,35-8 0,-34 5 0,1 2 0,25-2 0,659 3-1395,-344 4-1058,2169-2-4232,-1973-40 6567,-255 10 1034,-251 26-1082,351-37 2943,-367 37-1583,49 1-1,26-3 3043,-108 5-4226,0 1-1,0 0 1,0-1 0,-1 1 0,1 0 0,0 0-1,0 0 1,0 0 0,0 0 0,0 0 0,0 0 0,-1 0-1,1 0 1,0 0 0,0 0 0,0 1 0,0-1-1,0 0 1,-1 1 0,1-1 0,0 0 0,0 1 0,0-1-1,-1 1 1,1-1 0,0 1 0,-1 0 0,1-1-1,-1 1 1,1 0 0,0-1 0,-1 1 0,1 0 0,-1-1-1,0 1 1,1 0 0,-1 0 0,0 0 0,1 0-1,-1-1 1,0 1 0,0 0 0,0 0 0,0 0-1,0 0 1,0 0 0,0 0 0,0 0 0,0-1 0,0 1-1,0 0 1,0 0 0,-1 0 0,1 0 0,-1 1-1,-3 9-32,0 0 1,0-1-1,-10 17 0,5-11 66,-91 210-43,-74 191 0,148-361 0,10-23 0,-15 43 0,-104 260-365,36-100 149,-29 51 216,20-49 0,39-97 0,44-95 0,2 1 0,-19 57 0,-52 196 581,76-226-581,10-37 0,-15 41 0,18-59 0,0 0 0,1 0 0,-2 24 0,-5 24 0,3-15 0,7-41 0,0 0 0,-1 0 0,0-1 0,-1 1 0,-6 15 0,8-23 0,-2 1 0,1-1 0,0 1 0,-1-1 0,1 0 0,-1 0 0,0 0 0,0 0 0,0 0 0,-1-1 0,1 1 0,-1-1 0,1 0 0,-1 0 0,0 0 0,0-1 0,0 1 0,-6 1 0,-53 14 0,0-3 0,-86 9 0,84-20-170,0-3-1,0-3 0,-1-2 1,-90-20-1,-111-8-1236,73 14 1409,-78-2-2,92 11 0,-71-2 0,-6-1 0,-141-12-2529,60 12 1163,12 2 1472,-76-19-106,192 20-550,-106 12 5163,92 1-2629,216-3-1984,-1 0 0,1-1 0,0 0 0,0 0 0,-1-1 0,1 0 0,0-1 0,-11-4 0,16 6 0,1-1 0,0 1 0,0 0 0,0-1 0,0 1 0,0-1 0,0 0 0,0 0 0,1 1 0,-1-1 0,1 0 0,-1 0 0,1-1 0,0 1 0,-1 0 0,1 0 0,0-1 0,1 1 0,-1-1 0,0 1 0,1 0 0,-1-1 0,1 1 0,0-1 0,0 0 0,0 1 0,0-1 0,0 1 0,1-1 0,-1 1 0,2-4 0,14-80-1365,-15 65-5461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9:34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24575,'167'0'1082,"83"0"-6643,-43 0 3256,-151-4 8353,0-5-4886,-26 4-1375,52-3 0,-8 8-1152,-53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9:35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24575,'-1'80'0,"3"90"0,22-44 0,2 21 0,-4-44-1365,-20-84-5461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9:36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24575,'10'1'0,"1"0"0,-1 1 0,0 0 0,13 5 0,36 5 0,62 0 0,60 2 0,491-15 0,-669 1 0,0 0 0,0 0 0,0 0 0,0 0 0,1 0 0,-1 1 0,0-1 0,0 1 0,0 0 0,-1 0 0,1 0 0,0 0 0,0 1 0,0-1 0,-1 1 0,1 0 0,-1-1 0,1 1 0,-1 0 0,0 1 0,3 2 0,-3 0 0,1-1 0,-1 1 0,0 1 0,-1-1 0,1 0 0,-1 0 0,0 1 0,-1-1 0,1 0 0,-1 1 0,-1 8 0,0-1 0,-1 0 0,0 0 0,-1 0 0,-1 0 0,0 0 0,-9 19 0,-11 36 0,-4 57 0,3 23 0,25-146 5,0 1 0,0-1 0,-1 0-1,0 0 1,1 1 0,-1-1 0,0 0 0,0 0-1,0 0 1,0 0 0,0 0 0,-1 0 0,1 0-1,-1 0 1,1-1 0,-1 1 0,1-1-1,-1 1 1,0-1 0,0 1 0,0-1 0,0 0-1,0 0 1,-3 1 0,-2 0-217,0 0 0,0 0 0,0-1-1,0 0 1,0-1 0,-11 0 0,-4 0-6614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9:37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24575,'5'0'0,"0"4"0,0 6 0,0 5 0,-2 5 0,-1 2 0,-1 3 0,-1 0 0,0 1 0,0 0 0,0 0 0,-1 0 0,1-5-8191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9:41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24575,'1'0'0,"0"1"0,0-1 0,0 1 0,0-1 0,0 1 0,0 0 0,0-1 0,0 1 0,0 0 0,0 0 0,0 0 0,0 0 0,-1-1 0,1 1 0,0 0 0,-1 0 0,1 0 0,-1 0 0,1 1 0,-1-1 0,1 0 0,-1 0 0,0 0 0,1 0 0,-1 0 0,0 1 0,0 1 0,5 38 0,-5-37 0,3 434 0,-6-224 0,3-202-115,1-2-135,-1-1 0,-1 0 0,0 0 0,-2 12 0,-2-5-6576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7:19:42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82 24575,'59'0'0,"-21"2"0,0-3 0,0 0 0,75-15 0,-72 9 0,1 2 0,0 2 0,0 2 0,55 4 0,3 0 0,572-3 0,-642-1 0,53-11 0,-53 7 0,51-2 0,-34 7 0,-4 0 0,-1-1 0,79-13 0,-65 7 0,0 1 0,0 3 0,79 6 0,-18 0 0,-22-4 0,107 3 0,-199-2 0,0 1 0,0 0 0,0 0 0,-1 0 0,1 0 0,0 0 0,-1 0 0,1 1 0,0-1 0,-1 1 0,0 0 0,1-1 0,-1 1 0,0 0 0,0 1 0,0-1 0,0 0 0,-1 0 0,1 1 0,-1-1 0,1 1 0,-1 0 0,0-1 0,0 1 0,0 0 0,0 0 0,0 0 0,-1-1 0,1 1 0,-1 0 0,0 0 0,0 0 0,0 5 0,0 0 0,0 1 0,-1-1 0,0 1 0,0-1 0,-1 0 0,0 0 0,0 1 0,-1-1 0,0-1 0,-8 16 0,-66 109 0,16-26 0,50-83 0,1 1 0,1-1 0,2 1 0,0 1 0,1-1 0,1 1 0,-1 34 0,-1-6 0,6-51 0,1 1 0,-1-1 0,0 0 0,1 1 0,-1-1 0,0 0 0,0 0 0,0 1 0,-1-1 0,1 0 0,-1 0 0,1 0 0,-1 0 0,1-1 0,-1 1 0,0 0 0,0-1 0,0 1 0,0-1 0,0 0 0,0 1 0,0-1 0,-1 0 0,-3 1 0,-5 1 0,0-1 0,0 0 0,0-1 0,-17 0 0,-23 4 0,15 1 0,-68 4 0,-17 2 0,55-4 0,-1-3 0,-123-6 0,65-2 0,66 4 0,1 0 0,0-2 0,-91-14 0,107 9 0,1 2 0,-1 3 0,-46 3 0,-72-4 0,93-10 0,49 8 0,0 0 0,-29-1 0,-302 6 0,339-1 0,-1 1 0,0 1 0,1 0 0,0 1 0,-1-1 0,1 2 0,0 0 0,1 0 0,-1 1 0,1 0 0,0 0 0,-15 13 0,-27 5-1365,37-15-5461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23:45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24575,'2'43'0,"9"50"0,-5-51 0,0 55 0,-7 855 0,-1-913 0,-8 51 0,-3 29 0,12 384 0,3-238 0,2-221-1365,2-28-5461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23:46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770 48 24575,'2039'0'-1919,"-1873"-14"1667,-1 1 7,-21 15 240,113-4 496,-201-7-269,-44 5 24,1 2 1,-1-1 0,1 2 0,-1 0 0,18 0 0,-27 2-239,0-1 0,0 1 1,0-1-1,0 1 1,0 0-1,0 0 1,0 0-1,0 1 0,-1-1 1,1 1-1,0 0 1,-1-1-1,0 1 1,1 0-1,-1 0 0,0 1 1,0-1-1,0 0 1,0 1-1,0-1 1,0 1-1,-1 0 1,0-1-1,1 1 0,-1 0 1,1 5-1,7 21-8,-2 1 0,-1 0 0,4 61 0,-9 94 0,-3-82 0,1-84 0,-1 0 0,-8 32 0,-2 34 0,11 0 0,2-38 0,-3-1 0,-11 75 0,6-75 0,-1 55 0,-7 41 0,4-83 0,2 1 0,-1 106 0,9-134 0,-11 61 0,7-58 0,-2 49 0,8 791 0,-1-870 0,0 0 0,-1 0 0,1 0 0,-1-1 0,1 1 0,-2 0 0,1 0 0,0-1 0,-1 1 0,0-1 0,0 1 0,0-1 0,-1 0 0,1 0 0,-1 0 0,0 0 0,0 0 0,0-1 0,-1 1 0,1-1 0,-1 0 0,0 0 0,0 0 0,0-1 0,0 1 0,-1-1 0,1 0 0,0 0 0,-1 0 0,0-1 0,-5 1 0,-15 3 0,0-2 0,0 0 0,0-2 0,-48-3 0,27 0 0,-2185-1-627,1135 6-111,1075-3-6088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23:48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1393 24575,'1'-9'0,"0"1"0,0 0 0,1 0 0,0 0 0,1 0 0,-1 1 0,1-1 0,1 1 0,6-11 0,46-66 0,-29 47 0,26-35-358,3 2 0,76-73 0,134-112-928,41-12 1286,-265 231 0,365-282-1992,-378 297-1847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23:49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0 429 24575,'314'-277'-726,"-183"170"543,-100 83-1031,-2 4-4854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23:49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24575,'104'-2'0,"117"5"0,-68 21 0,-93-17-89,155 12-555,-142-15 644,0 4 0,72 16 0,-44-6 0,42-3 0,-1-6 0,153-11 0,-100-1 0,-107 2 179,95 3 375,-181-2-554,1 0 0,-1 0 0,0 0 0,0 1 0,0-1 0,0 1 0,0-1 0,0 1 0,1 0 0,-2-1 0,1 1 0,0 0 0,0 0 0,0 1 0,0-1 0,-1 0 0,1 1 0,0-1 0,-1 1 0,1-1 0,-1 1 0,0 0 0,2 2 0,-2-1 0,0 0 0,-1 0 0,1 0 0,-1 0 0,0 0 0,0-1 0,0 1 0,0 0 0,0 0 0,-1 0 0,1 0 0,-1 0 0,0 0 0,-2 5 0,-5 8 0,0 1 0,-1-2 0,-1 1 0,-13 15 0,22-30 0,-66 87 0,-108 109 0,69-99-227,-4-5 0,-3-5 0,-192 114 0,-1-26 227,-215 56 908,487-217-1189,-36 22 0,57-30-522,-1 1-6023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23:50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0 24575,'-5'9'0,"-1"0"0,2 0 0,-1 0 0,1 1 0,1 0 0,-1 0 0,-2 19 0,3-17 0,-47 181 0,44-158 0,-4 68 0,1-6 0,4-62 0,-2 63 0,7-87 0,1 0 0,0 0 0,0 0 0,1 0 0,1 0 0,0 0 0,0-1 0,1 1 0,10 18 0,-10-23 0,0 0 0,0 0 0,1-1 0,0 1 0,0-1 0,0 0 0,1 0 0,-1-1 0,1 0 0,0 0 0,1 0 0,-1-1 0,1 0 0,-1 0 0,1 0 0,0-1 0,0 0 0,0-1 0,0 1 0,1-1 0,12 0 0,-11-1 0,1-1 0,-1 1 0,0-2 0,1 1 0,-1-1 0,0-1 0,0 0 0,0 0 0,0 0 0,-1-1 0,1-1 0,-1 1 0,0-2 0,0 1 0,-1-1 0,10-9 0,20-26 0,-1-1 0,-3-3 0,40-67 0,86-147 0,-99 149 0,-52 95 0,-1 0 0,-1 0 0,0 0 0,-2-1 0,1 0 0,-2 0 0,3-20 0,-11 48 0,0 0 0,-1 0 0,0-1 0,-10 14 0,-13 25 0,-4 14 0,10-20 0,1 2 0,-30 92 0,-19 66 0,47-127 0,12-40 0,-9 41 0,1 11 0,11-52 0,1-1 0,2 2 0,-2 39 0,6-52 0,-1-1 0,-1 0 0,-12 38 0,9-38 0,2 1 0,0-1 0,-3 42 0,8 8-1365,1-52-5461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23:51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1248 51 24575,'-41'-10'0,"10"1"0,-54-5 0,-171-4 0,216 19 0,-30-1 0,-104 13 0,150-9 0,0 1 0,0 1 0,1 1 0,0 1 0,0 1 0,1 1 0,0 2 0,-21 14 0,39-24 0,-16 10 0,0 1 0,2 1 0,0 1 0,0 0 0,1 2 0,-17 20 0,8-1 0,2 0 0,1 2 0,-28 63 0,41-77 0,1 1 0,1 0 0,2 0 0,0 1 0,2 0 0,1 0 0,0 36 0,5 512-592,-1-553 701,1 0 0,7 31 0,3 30 156,-6-34-265,1-1 0,23 80 0,-5-30 0,-17-58 0,1 0 0,2 0 0,2-2 0,26 55 0,-25-68 0,0-1 0,1 0 0,1-2 0,1 0 0,1 0 0,28 23 0,-18-20 0,0 0 0,1-3 0,1 0 0,2-2 0,0-1 0,51 21 0,-24-15 0,41 13 0,0-8 0,-46-11 0,1-3 0,1-2 0,109 10 0,4-11-1203,46 0 1281,-22-11-78,196-3-1,-324-5 2,-1-3-1,112-32 0,-77 17 0,-18 6 0,307-82 0,-313 77 0,-2-3 0,0-4 0,74-43 0,-104 48 0,-2-1 0,74-64 0,-95 73 0,-1-1 0,-1-1 0,0-1 0,-2-1 0,0 0 0,-2-1 0,13-26 0,-17 20 140,-1 0 1,-1 0 0,-2-1-1,-1 0 1,-1 0 0,-2-1 0,-1-35-1,-1 37-140,0 1 0,-2 0 0,-1 0 0,-1 0 0,-1 0 0,-12-33 0,-2 3 0,-3 2 0,-3 1 0,-1 1 0,-3 0 0,-3 3 0,-1 0 0,-53-59 0,64 85-43,-4-5-97,-1 2 0,-1 1 0,-49-37 0,-11 6 140,-165-80 0,244 134 3,-52-26 22,-1 2-1,-1 4 1,-68-18-1,-97-15 478,162 42-502,-102-16 0,19 9-209,87 11-7,-119-6-1,92 17 217,-88-13 0,67 4 0,-155 6 0,131 5 0,94 1 166,-1 1-1,-78 19 1,31-5-21,47-7-145,-1 1 0,1 2 0,-46 23 0,41-17 0,13-5 0,1 2 0,1 1 0,-47 36 0,18 2-1365,48-45-5461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32:09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24575,'0'28'0,"1"0"0,2 1 0,9 44 0,0-12-341,-2 0 0,-3 0-1,-1 96 1,-6-135-6485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32:10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52 24575,'53'-20'0,"-7"14"0,-1 2 0,86 4 0,-85 2 0,0-2 0,87-12 0,-80 5 0,-1 3 0,102 4 0,-64 1 0,-87-1 0,0 0 0,0 0 0,0 0 0,0 0 0,0 0 0,0 1 0,0-1 0,0 1 0,0 0 0,0 0 0,0 0 0,0 0 0,0 1 0,-1-1 0,1 1 0,-1 0 0,1-1 0,-1 1 0,0 0 0,1 1 0,1 2 0,-1-1 0,-1 1 0,0 0 0,0 0 0,-1 0 0,1 1 0,-1-1 0,0 0 0,0 1 0,-1-1 0,0 0 0,0 9 0,-5 389 0,5-398 0,1 0 0,-1 0 0,-1 0 0,1 0 0,-1 0 0,1 0 0,-1-1 0,-1 1 0,1 0 0,-1 0 0,0-1 0,0 1 0,0-1 0,0 0 0,-1 0 0,0 1 0,0-2 0,0 1 0,0 0 0,-1-1 0,1 1 0,-1-1 0,0 0 0,0 0 0,0 0 0,0-1 0,-1 0 0,1 1 0,0-2 0,-1 1 0,0 0 0,0-1 0,1 0 0,-1 0 0,0 0 0,0-1 0,0 0 0,-9 0 0,-36 1 0,16-1 0,-1 1 0,-52 10 0,30-4 0,0-1 0,0-4 0,-76-5 0,18 1 0,-199 2-1365,303 0-5461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32:11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79 24575,'74'-2'0,"103"-16"0,-77 11 0,-70 7 0,-1-2 0,47-10 0,-45 7 0,0 1 0,36-1 0,42-5 0,-42 1 0,0 4 0,122 7 0,-64 0 0,68-2-1365,-168 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32:12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24575,'1'0'0,"0"1"0,0-1 0,0 0 0,0 1 0,0-1 0,0 1 0,0-1 0,0 1 0,0-1 0,0 1 0,-1 0 0,1-1 0,0 1 0,-1 0 0,1 0 0,0 0 0,-1 0 0,1-1 0,-1 1 0,1 0 0,-1 0 0,1 0 0,-1 0 0,0 0 0,0 0 0,1 0 0,-1 2 0,6 35 0,-5-27 0,6 31 0,0-5 0,-2 0 0,1 51 0,-7 385-1365,1-451-5461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32:12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1 171 24575,'18'-1'0,"0"0"0,35-10 0,-33 7 0,-1 0 0,27-1 0,223 7 33,83-4-648,-175-23 615,-15 0 0,-103 17 0,78-20 0,-78 14 0,72-8 0,-19 18 32,-73 3 151,0 0 1,45-9-1,-75 8-183,0 0 0,0 1 0,0 0 0,0 0 0,1 1 0,-1 1 0,14 1 0,-21-1 0,0-1 0,0 1 0,1 0 0,-1 0 0,0 1 0,0-1 0,0 0 0,0 1 0,0-1 0,0 1 0,0-1 0,-1 1 0,1 0 0,-1 0 0,1 0 0,-1 0 0,0 0 0,1 0 0,-1 0 0,0 1 0,0-1 0,-1 0 0,1 0 0,0 1 0,-1-1 0,0 1 0,1-1 0,-1 0 0,0 1 0,0-1 0,0 1 0,-1 3 0,-1 11 0,-1-1 0,-1 0 0,0 0 0,-1 0 0,0 0 0,-12 20 0,-13 45 0,20-46 0,-15 69 0,5 3 0,10-62 0,2-1 0,-2 59 0,10-98 0,0 0 0,0 0 0,-1 0 0,1 0 0,-1 0 0,0 0 0,-1 0 0,1-1 0,-1 1 0,0-1 0,0 1 0,0-1 0,0 1 0,-5 4 0,4-6 0,-1 0 0,1 0 0,-1-1 0,1 0 0,-1 0 0,0 0 0,0 0 0,0 0 0,0-1 0,0 0 0,0 0 0,0 0 0,0 0 0,-1-1 0,1 1 0,-8-1 0,-25-1-137,1-2-1,-63-12 0,68 10-814,10 2-5874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47:00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24575,'1149'0'-1365,"-1128"0"-5461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47:02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24575,'121'-2'0,"133"5"0,-171 9 0,-51-7 0,47 3 0,547-8-1820,-602 0-4551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18:47:02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24575,'48'-1'0,"-11"0"0,0 2 0,1 1 0,62 12 0,-57-8 0,0-1 0,0-2 0,0-1 0,47-6 0,9 1 0,814 3-1365,-887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E65E9-61C5-4F69-8B3B-45EBD0BF60CA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25BB4-4B8C-473D-9F8A-9C3BCB7D92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470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BFF01-D5ED-4C91-A185-5B24AD67817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522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Процент мошеннических транзакций – примерно 1,5%. Создатели датасета утверждают, что использовали для создания датасета модель, обученную на реальных данных банка Испании.</a:t>
            </a:r>
            <a:endParaRPr lang="en-00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668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88CC-6C79-92EE-E404-0208B871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60342D8-D67E-F66E-8A11-55882564E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EB07FD6-206F-EC0F-F418-4BCB9C297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 трех признаков первой группы были созданы 11 дополнительных признаков: 9 количественных и 2 бинарных, описывающих взаимодействие клиента и продавца, а также связанные с этим взаимодействием суммы.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D810D2-1E66-EBEA-81C0-03E399598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393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4964B-A691-3417-8938-831A2565C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8AC6D8D-8D83-876E-36FA-170C43BA2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F4C6795-859F-95C5-9398-362536B8D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мошенников–клиентов, совершивших мошенническую транзакцию свойственно смещение в сторону низкого числа транзакций, большего числа уникальных продавцов.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6ED416-1016-B6CA-6274-11238765B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065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2670C-BF6B-2F0F-C748-2824ADAB1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6ADC10-604F-742C-B534-340694665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CD221D3-A6C6-FF6E-2645-6B2A3C127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мошенников–клиентов, совершивших мошенническую транзакцию свойственно смещение в сторону низкого числа транзакций, большего числа уникальных продавцов.</a:t>
            </a:r>
            <a:endParaRPr lang="en-001" dirty="0"/>
          </a:p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661602-8A45-5F4D-6444-4667A6CD4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9238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04CCE-C60E-B6E5-DB12-79215056C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31C1C3E-6E55-C9C4-045A-E483E0319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C9F8242-8D19-854A-43F6-AA0FBF935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мошенников–клиентов, совершение мошеннической транзакции происходит чаще как первая транзакция, также повторное взаимодействие с знакомым продавцом при совершении мошеннической транзакции.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42DAB7-3F85-1ADF-4CF3-B1C4FD210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2697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8241C-B75F-2305-005C-3656C691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83505D5-F6AF-456E-FF1B-09CAD131E4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F3903B5-B838-32B2-D04F-BE4FB613A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мошенников–клиентов, совершивших мошенническую транзакцию свойственна пониженная ежедневная активность, а также большее максимальное количество транзакций, совершенных за один день за весь период.</a:t>
            </a:r>
            <a:endParaRPr lang="en-001" dirty="0"/>
          </a:p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EA1780-6832-7D7C-A332-31BF5415A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137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2B68D-3477-D86D-2565-59CBAEA42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14627B0-BBF6-A294-0EB6-9AE5C3ABC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2BD7A5D-95BF-A346-E3BA-22215629B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мошенников–клиентов, совершивших мошенническую транзакцию свойственен больший интервал между транзакциями, меньшее по сравнению с обычной операцией количество операций, совершенных до данной. </a:t>
            </a:r>
            <a:endParaRPr lang="en-001" dirty="0"/>
          </a:p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EDCB1B-5213-BA90-9D92-56E632A13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78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177BE-B1B8-08A0-6659-6B1523D8A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E4759C7-FFB5-2E44-7F3B-2BEF5B14F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042C9C7-DB5D-44CC-D1E7-CE9002420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Для мошенников–клиентов, совершивших мошенническую транзакцию свойственно как необычайно большая, так и необычайно низкая активность.</a:t>
            </a:r>
            <a:endParaRPr lang="en-001" dirty="0"/>
          </a:p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D5BD28-B15F-83B0-B172-AB287DE9A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573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9546C-7BBD-A6DF-D72D-9B1DB00A7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B998938-0560-88A8-1B7A-B3A6A1A4D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101C4FD-A944-E3A2-00F9-0444A55A7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Нет, мы не знаем что за дополнительные 2 пола, обозначенные буквами </a:t>
            </a:r>
            <a:r>
              <a:rPr lang="en-US" dirty="0"/>
              <a:t>E </a:t>
            </a:r>
            <a:r>
              <a:rPr lang="ru-RU" dirty="0"/>
              <a:t>и </a:t>
            </a:r>
            <a:r>
              <a:rPr lang="en-US" dirty="0"/>
              <a:t>U.</a:t>
            </a:r>
            <a:r>
              <a:rPr lang="ru-RU" dirty="0"/>
              <a:t> В любом случае их состав в выборке около 0,2%. </a:t>
            </a:r>
            <a:r>
              <a:rPr lang="en-US" dirty="0"/>
              <a:t>U </a:t>
            </a:r>
            <a:r>
              <a:rPr lang="ru-RU" dirty="0"/>
              <a:t>скорее всего </a:t>
            </a:r>
            <a:r>
              <a:rPr lang="en-US" dirty="0"/>
              <a:t>Unknown.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64C57A-3E82-303A-4D54-4C11A3D20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80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1D7D-B5E4-4461-2F7F-A7FC9E9D2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6BB1290-7FF6-88C3-AEC9-8B7BA5C5D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3F557AC-4ACE-24C9-3163-53719ABE7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Мошенническим транзакциям свойственна большая сумма операции, возраст мошенников–клиентов, совершивших мошенническую транзакцию не отличается от среднего.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934830-DE2A-2B9E-C3D3-D770D1944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502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D74AB-5682-3EF5-DFA0-6D0D7BD3B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3CB209F-142E-34B9-FCA6-88C5344E9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06CB7F3-73A5-4B0F-A2A6-128E2B10B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Мошенники–клиенты, совершившие мошенническую транзакцию чаще всего женщины. Также мошенничество распространено более равномерно по всем категориям, в отличие от обычных операций – в основном транспортные. Выделяются категории спорттоваров и игрушек, здоровья.</a:t>
            </a:r>
            <a:endParaRPr lang="en-001" dirty="0"/>
          </a:p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7C2511-EE23-DBEC-7FA4-3DE56ADBC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777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92BE8-8608-F9A0-52B6-553AC517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C196C03-1B2A-C8CA-0191-AA5B9F55E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CB74A80-C874-3E29-C666-88E5BD6F8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По результатам подготовки признаков было получено 10 непрерывных и 22 бинарных признаков. Была произведена кластеризация и применен метод локтя для определения оптимального числа кластеров – 6.</a:t>
            </a:r>
          </a:p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A01D6E-0467-63AB-F1E4-17270D56B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701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EC8A2-F7E8-D77E-4869-809B3E3F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51A55C-B90D-340C-DA02-C874B4D42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3141BD1-DBFC-F289-F973-BF106E331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6 кластер хоть и немногочисленный, но имеет в своем составе 20% мошеннических транзакций. Также можно присмотреться к кластерам 4 и 3 – было выяснено, что мошеннические транзакции сочетают противоречивые признаки, а значит скорее всего имеют несколько типов.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5BE7CA-A6F8-359B-E6F4-61FA90DD1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243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AF565-D40B-8FF0-0EB8-6DA7EDAA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458C960-096D-00C9-922A-37CE28E9D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91EE726-9311-4F97-DC9D-0B777361E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Гистограммы кластеров по проценту мошеннических операций и проценту мошеннических операций от общего числа мошеннических операций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6B72F5-CE5A-60A1-4B36-D5466EDBD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6270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D8E3-AE28-78C3-174E-90464D6EA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13571D6-CE5C-ED76-7D3E-274BCDDFE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7A38A75-302B-DCE2-8BE2-F56283478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графике видно, что кластер мошеннических операций во многом повторяет движения графика кластера 6. Признаки с небольшими отклонениями по кластерам будут рассмотрены на следующем слайде.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2EC3F1-D5D9-1A0E-C9FD-C96D89E5B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902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4D8E3-AE28-78C3-174E-90464D6EA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13571D6-CE5C-ED76-7D3E-274BCDDFE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7A38A75-302B-DCE2-8BE2-F56283478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2EC3F1-D5D9-1A0E-C9FD-C96D89E5B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902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11C1-ABAD-1415-8C80-23C7CAC43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F1ADE0F-281C-239D-4104-3A15E9821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E29FE8-5EE1-AB75-3507-35C8D2FCA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Общий портрет мошеннических операций, представленных в 6 кластере – операции на крупную сумму, совершенные со знакомым продавцом в целом неактивным клиентом.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47B864-5CEE-F86D-280C-D473DD95C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5185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5A379-74C6-DC61-3C75-7FA0C02F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84BBBD9-3F3B-2DBE-CFCF-F6563B82E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AC8F7B9-EC76-0509-4EBD-F79FC6FF8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связи с низкой скоростью работы алгоритмов отбора признаков было принято решение сократить выборку до 5000 особей (</a:t>
            </a:r>
            <a:r>
              <a:rPr lang="en-US" dirty="0"/>
              <a:t>~</a:t>
            </a:r>
            <a:r>
              <a:rPr lang="ru-RU" dirty="0"/>
              <a:t>30 мин. скорость работы алгоритма </a:t>
            </a:r>
            <a:r>
              <a:rPr lang="en-US" dirty="0" err="1"/>
              <a:t>bfs</a:t>
            </a:r>
            <a:r>
              <a:rPr lang="en-US" dirty="0"/>
              <a:t>)</a:t>
            </a:r>
          </a:p>
          <a:p>
            <a:r>
              <a:rPr lang="ru-RU" dirty="0"/>
              <a:t>Выборка производилась </a:t>
            </a:r>
            <a:r>
              <a:rPr lang="ru-RU" dirty="0" err="1"/>
              <a:t>стратифицированно</a:t>
            </a:r>
            <a:r>
              <a:rPr lang="ru-RU" dirty="0"/>
              <a:t> по кластерам с сохранением соотношения </a:t>
            </a:r>
            <a:r>
              <a:rPr lang="en-US" dirty="0"/>
              <a:t>fraud/non-fraud</a:t>
            </a:r>
            <a:r>
              <a:rPr lang="ru-RU" dirty="0"/>
              <a:t> как в оригинальной выборке.</a:t>
            </a:r>
            <a:endParaRPr lang="en-US" dirty="0"/>
          </a:p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CBB033-926B-F3F6-A332-DF94114FE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7408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CCE5F-9845-3EED-C9B0-35CA9449E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B5606FD-4882-8149-D652-03A2A314F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B627856-E453-5622-A6CC-5537156C6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Количество итераций без улучшения было выбрано как 3.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134AEA-C52E-07AB-E24A-B4BF35A96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5670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6911-EAC7-A4FB-9D71-0AEF69B4D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9ACED26-3AE3-FCDF-2535-5C28BDBF2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D169B9F-A79E-8DE7-510E-0FF357889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слайде представлены функция </a:t>
            </a:r>
            <a:r>
              <a:rPr lang="ru-RU" dirty="0" err="1"/>
              <a:t>рассчета</a:t>
            </a:r>
            <a:r>
              <a:rPr lang="ru-RU" dirty="0"/>
              <a:t> функционала и объявление участвующих в алгоритме переменных.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1B41BD-138F-0478-EA1D-554509537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8274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806CE-D614-49D8-E73B-E624348C9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3CFD038-3B01-030B-8A2B-30F495261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0A61369-BD65-1671-4A8D-6AA99D177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11B07B-E8A6-613B-3534-F3DA1645C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8826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218A-25F2-B59F-18D4-0E78C41E1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A2284C4-4ADB-CC6D-3ACA-F9BE31678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638EAA6-B223-C6EF-DB4B-EF9B28C8D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E4478B-35B6-F66C-762A-D4B751A08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8431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A87AF-7F4A-4B01-B632-C0D01C2A5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8ED7751-348D-4EB8-82F4-9316C2B13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E0FDD3-ACEE-2705-6469-626A998BE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CC3B78-B022-8C58-6411-8D2CE76E9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59131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5A379-74C6-DC61-3C75-7FA0C02F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84BBBD9-3F3B-2DBE-CFCF-F6563B82E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AC8F7B9-EC76-0509-4EBD-F79FC6FF8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отработал одну полную итерацию, был получен итоговый набор из 7 признаков.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CBB033-926B-F3F6-A332-DF94114FE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47408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C793A-C72F-7980-2B91-1A21F06FE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B961DFE-258B-668B-DA59-D089B532F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37B6045-FF1C-70A2-D04D-CE2921194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4F65D4-5461-D2E0-D297-65DB9CFDF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2567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904B-8FFC-0FDB-1AB9-4B87F701A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D4CAE7-61CD-360B-3F92-F4823AA98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8E7370-AEFF-698E-E75F-06A09DB5B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3E4443-9C24-F56B-3D7A-6D725B5F2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8697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6A43-3C54-FEB6-3A46-11B7B19E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CC6BB36-AD46-0CDB-6DF9-5314FB974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68ABBC-8040-0477-856F-83CAE17C1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Количество итераций без улучшения было выбрано как 2, количество наборов, переходящее на следующую итерацию – 10.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8E9BF1-1A21-691B-04C9-E16B27DAC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2663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65204-ACCE-E6C5-6243-D97D2055A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B5A4127-F8C9-EB4B-0743-5A4CC239D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9F5BC60-CC6C-6DC6-AF29-360C8225D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Объявление переменных и создание первого ряда до входа в основной цикл.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5EB5DC-DEBD-32A3-0BB9-313DAC024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4339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8EE62-E6AF-65E9-FAD3-157333803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C37459-B16A-4A55-BB6D-41A326D6E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8C8B718-A72A-47AF-CDF3-79A6D1F78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нашей вариации алгоритма была реализована проверка на совпадение наборов с равными </a:t>
            </a:r>
            <a:r>
              <a:rPr lang="en-US" dirty="0"/>
              <a:t>Q.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FCC504-7D37-5FEB-76B2-1DDB9E2C8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52243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575E0-6418-B8FB-3691-D09F1FB63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9B5B488-FF04-6E7C-6771-425A65EF2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B293AC4-5D20-1749-9F2C-15D0D51C3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6B6793-8D3E-FB2B-B4D0-1592CBE94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7307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00E81-DAA8-1B51-11C6-AE075F39F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8FA102B-D2C7-AA3D-3381-14EB319E8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D76BEE2-4524-DE29-FC41-3DCC3616E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83BDB1-31B3-EA00-B1EA-D339FD8F5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0513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E658D-7EE5-D385-B255-E94A3DD1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0BD32A-6CB6-DFD9-C61A-6522B2CC4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1E432F4-2296-1FC2-CA73-C9CBE0518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CE82D5-A096-5F6E-E79D-3E04FFD5F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89037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904B-8FFC-0FDB-1AB9-4B87F701A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D4CAE7-61CD-360B-3F92-F4823AA98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8E7370-AEFF-698E-E75F-06A09DB5B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отработал 11 итераций и остановился на наборе из 9 признаков( 2 итерации без улучшения – критерий остановки).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3E4443-9C24-F56B-3D7A-6D725B5F2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08697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60B5A-75F1-85E8-6944-AC7A90C05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C9AE17-4282-4EFE-825A-9A07C5609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76F79A1-32C7-EA81-031E-DF4F683EC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29A213-6993-29CD-26C4-87E8AC930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9467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A99E-BDD2-CACC-FD2F-F5FF7B799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A8C4712-916D-2AF2-BD9C-983539C92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D62246E-C000-E7B1-1EC2-1767C72B6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нашем алгоритмы было принято решение реализовывать принцип </a:t>
            </a:r>
            <a:r>
              <a:rPr lang="ru-RU" dirty="0" err="1"/>
              <a:t>элитизма</a:t>
            </a:r>
            <a:r>
              <a:rPr lang="ru-RU" dirty="0"/>
              <a:t>, турнирный отбор из 5 особей, одноточечный кроссовер.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03FD7E-5FDA-C397-55AC-500642F08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0548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1F4D-3FBE-436E-484C-088E230D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84402A9-1E40-BA6B-3977-F8F993D25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0FBFDB-1DD1-ACB3-F392-DDFAA699C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Хромосомы представляют собой бинарный вектор размерности количества признаков.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1B3072-7212-2EAC-7A1A-4B22F13AE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42625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66AB5-BD57-7F40-7720-1DA746E10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3C3447F-5F61-C807-AD00-BAC389BF4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CFD84CB-AADC-813A-DC2C-6186551D6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1A71F9-62D9-2110-18DD-66950ECC5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761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6C680-81F9-1D7E-C164-6A25EAB8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F39B5E8-FC49-07B1-8074-58DAE041C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AFE5843-143E-16D6-5C56-50E1C04E6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1FD7CD7-F55F-EA17-4B7B-9370040FE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67428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985F0-36CA-374A-F4A4-A8B22D70A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AB856E-F5E2-CCED-05C0-7F6C99953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9C4DDE3-6321-9E68-6B2D-B77DED155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6FD7D7-9798-85F9-B718-1292F4900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18623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C96CE-D6A5-898B-3E5E-3EA1EBE9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8C2DC4-1C23-33BB-2BFF-B3A19305E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45F45E9-3946-E5AE-2788-317233BBC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323BA5-A81D-EF18-63E5-3D91E0B81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51590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17163-0ED9-C54E-D00F-DFB8F4FEB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1C0A1E0-8060-53B2-DF7C-D54ED5B7E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C2D4EE1-202C-C752-353C-94E1E600E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Выбранные параметры алгоритма представлены на слайде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76B6D0-5EAF-F121-25F6-3F9DF8000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54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FF362-7270-623C-8D61-B193A1D4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84C8A9-FFB0-BE92-A76B-9FA6A4AC6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D26837B-5C67-52FC-CC67-86E135BF7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46A81C-3CCC-75DF-1BA4-3C3B3DA6F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1706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0713F-5BCF-C6BE-C7BF-37B533F18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6F25710-00DB-823D-7D20-8D81E7672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44A23B8-30BB-DD79-29D0-4818F1717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7EE790-899A-70FA-61DC-465D9C8EB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378738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492C7-45EF-D167-947E-FE9026FE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DCE55E8-5942-093F-1776-3A49C5208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3463B28-F9F5-6DFD-8BED-32E3112BC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0B413B-58D9-0B70-7C62-13CFE0ECB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28616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7CFF4-7F82-AF52-A42B-DFF7F3EBE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9459D3C-5FEE-DF9B-D227-B6C786EC2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8467CAD-C92A-DA0A-7F49-5B24F13B4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698C80-AB96-C18E-92AE-178C98265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6978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E8362-B58D-CFF3-2337-B3273BDFE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39FC61E-80E5-AA83-B377-4D2AE488B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397BD4A-8C1E-18C0-F2A4-D4802638A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 завершился на 22 поколении с последним улучшением на 12 поколении(критерий остановки – 10 поколений без улучшения).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6874C3-4C79-6BD6-496A-B83D32441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067927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D5CEB-555A-58A2-7EE6-773CA6F23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16895B5-D5BB-5CA4-38B4-80FAD7D3A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D7643F4-9641-3659-98A8-1504E75B2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График не похож на графики предыдущих алгоритмов – это связано как со случайным выбором первоначальных хромосом, так и со стохастической составляющей алгоритма.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EBCD65-E341-5C79-9FAF-F3E07B945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7272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49A83-97EB-6E69-F0C4-25FF22E45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2856F54-AF0F-F228-1317-99AF1FCA3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F1330B-D70D-E837-2D4F-292DFB7B7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были получены веса:</a:t>
            </a:r>
          </a:p>
          <a:p>
            <a:r>
              <a:rPr lang="en-US" dirty="0" err="1"/>
              <a:t>svm</a:t>
            </a:r>
            <a:r>
              <a:rPr lang="en-US" dirty="0"/>
              <a:t> = SVC(kernel='linear', </a:t>
            </a:r>
            <a:r>
              <a:rPr lang="en-US" dirty="0" err="1"/>
              <a:t>random_state</a:t>
            </a:r>
            <a:r>
              <a:rPr lang="en-US" dirty="0"/>
              <a:t>=123, </a:t>
            </a:r>
            <a:r>
              <a:rPr lang="en-US" dirty="0" err="1"/>
              <a:t>class_weight</a:t>
            </a:r>
            <a:r>
              <a:rPr lang="en-US" dirty="0"/>
              <a:t>='balanced')</a:t>
            </a:r>
          </a:p>
          <a:p>
            <a:r>
              <a:rPr lang="en-US" dirty="0" err="1"/>
              <a:t>svm.fit</a:t>
            </a:r>
            <a:r>
              <a:rPr lang="en-US" dirty="0"/>
              <a:t>(</a:t>
            </a:r>
            <a:r>
              <a:rPr lang="en-US" dirty="0" err="1"/>
              <a:t>X_smart</a:t>
            </a:r>
            <a:r>
              <a:rPr lang="en-US" dirty="0"/>
              <a:t>, </a:t>
            </a:r>
            <a:r>
              <a:rPr lang="en-US" dirty="0" err="1"/>
              <a:t>y_smart</a:t>
            </a:r>
            <a:r>
              <a:rPr lang="en-US" dirty="0"/>
              <a:t>)</a:t>
            </a:r>
          </a:p>
          <a:p>
            <a:r>
              <a:rPr lang="en-US" dirty="0" err="1"/>
              <a:t>svm.coef</a:t>
            </a:r>
            <a:r>
              <a:rPr lang="en-US" dirty="0"/>
              <a:t>_</a:t>
            </a:r>
          </a:p>
          <a:p>
            <a:r>
              <a:rPr lang="ru-RU" dirty="0"/>
              <a:t>-</a:t>
            </a:r>
            <a:r>
              <a:rPr lang="en-US" dirty="0"/>
              <a:t>--&gt;</a:t>
            </a:r>
          </a:p>
          <a:p>
            <a:r>
              <a:rPr lang="en-US" dirty="0"/>
              <a:t>array([[</a:t>
            </a:r>
          </a:p>
          <a:p>
            <a:r>
              <a:rPr lang="en-US" dirty="0"/>
              <a:t>-0.14668001,  1.09851741, -0.00477329,  0.2830206 , -0.7165817 ,</a:t>
            </a:r>
          </a:p>
          <a:p>
            <a:r>
              <a:rPr lang="en-US" dirty="0"/>
              <a:t>  0.1582482 ,  0.01333767,  0.32070489, -0.18597661,  0.32793858,</a:t>
            </a:r>
          </a:p>
          <a:p>
            <a:r>
              <a:rPr lang="en-US" dirty="0"/>
              <a:t> 0.90406059,  2.31414715,  0.30956992, -0.50393066,  0.21383313,</a:t>
            </a:r>
          </a:p>
          <a:p>
            <a:r>
              <a:rPr lang="en-US" dirty="0"/>
              <a:t> 0.29009753,  0.                  ,  0.90390696, -0.50050667,  0.09059265,</a:t>
            </a:r>
          </a:p>
          <a:p>
            <a:r>
              <a:rPr lang="en-US" dirty="0"/>
              <a:t> -2.1432102 ,  1.4605367 ,  0.28361936, -0.01507053,  1.98610184,</a:t>
            </a:r>
          </a:p>
          <a:p>
            <a:r>
              <a:rPr lang="en-US" dirty="0"/>
              <a:t> 2.27017118, -0.10539787,  0.36203651, -1.00786132, -3.48172668,</a:t>
            </a:r>
          </a:p>
          <a:p>
            <a:r>
              <a:rPr lang="en-US" dirty="0"/>
              <a:t> -1.00786132,  0.9046694 </a:t>
            </a:r>
          </a:p>
          <a:p>
            <a:r>
              <a:rPr lang="en-US" dirty="0"/>
              <a:t>]])</a:t>
            </a:r>
          </a:p>
          <a:p>
            <a:r>
              <a:rPr lang="ru-RU" dirty="0"/>
              <a:t>Отбор признаков с весами больше 0,5:</a:t>
            </a:r>
            <a:br>
              <a:rPr lang="ru-RU" dirty="0"/>
            </a:br>
            <a:r>
              <a:rPr lang="en-US" dirty="0" err="1"/>
              <a:t>svm_coef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</a:t>
            </a:r>
            <a:r>
              <a:rPr lang="en-US" dirty="0" err="1"/>
              <a:t>svm.coef</a:t>
            </a:r>
            <a:r>
              <a:rPr lang="en-US" dirty="0"/>
              <a:t>_)</a:t>
            </a:r>
          </a:p>
          <a:p>
            <a:r>
              <a:rPr lang="en-US" dirty="0" err="1"/>
              <a:t>ind</a:t>
            </a:r>
            <a:r>
              <a:rPr lang="en-US" dirty="0"/>
              <a:t>= </a:t>
            </a:r>
            <a:r>
              <a:rPr lang="en-US" dirty="0" err="1"/>
              <a:t>np.where</a:t>
            </a:r>
            <a:r>
              <a:rPr lang="en-US" dirty="0"/>
              <a:t>(</a:t>
            </a:r>
            <a:r>
              <a:rPr lang="en-US" dirty="0" err="1"/>
              <a:t>svm_coef</a:t>
            </a:r>
            <a:r>
              <a:rPr lang="en-US" dirty="0"/>
              <a:t> &gt; 0.5)[1]</a:t>
            </a:r>
          </a:p>
          <a:p>
            <a:r>
              <a:rPr lang="en-US" dirty="0" err="1"/>
              <a:t>feature_names</a:t>
            </a:r>
            <a:r>
              <a:rPr lang="en-US" dirty="0"/>
              <a:t> = </a:t>
            </a:r>
            <a:r>
              <a:rPr lang="en-US" dirty="0" err="1"/>
              <a:t>scaled.columns.tolist</a:t>
            </a:r>
            <a:r>
              <a:rPr lang="en-US" dirty="0"/>
              <a:t>()</a:t>
            </a:r>
          </a:p>
          <a:p>
            <a:r>
              <a:rPr lang="en-US" dirty="0" err="1"/>
              <a:t>selected_feature_names</a:t>
            </a:r>
            <a:r>
              <a:rPr lang="en-US" dirty="0"/>
              <a:t> = [</a:t>
            </a:r>
            <a:r>
              <a:rPr lang="en-US" dirty="0" err="1"/>
              <a:t>feature_names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for </a:t>
            </a:r>
            <a:r>
              <a:rPr lang="en-US" dirty="0" err="1"/>
              <a:t>i</a:t>
            </a:r>
            <a:r>
              <a:rPr lang="en-US" dirty="0"/>
              <a:t> in </a:t>
            </a:r>
            <a:r>
              <a:rPr lang="en-US" dirty="0" err="1"/>
              <a:t>ind</a:t>
            </a:r>
            <a:r>
              <a:rPr lang="en-US" dirty="0"/>
              <a:t>]</a:t>
            </a:r>
          </a:p>
          <a:p>
            <a:r>
              <a:rPr lang="en-US" dirty="0"/>
              <a:t>print(f"\n</a:t>
            </a:r>
            <a:r>
              <a:rPr lang="ru-RU" dirty="0"/>
              <a:t>Названия отобранных признаков:")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, name in enumerate(</a:t>
            </a:r>
            <a:r>
              <a:rPr lang="en-US" dirty="0" err="1"/>
              <a:t>selected_feature_names</a:t>
            </a:r>
            <a:r>
              <a:rPr lang="en-US" dirty="0"/>
              <a:t>, 1):</a:t>
            </a:r>
          </a:p>
          <a:p>
            <a:r>
              <a:rPr lang="en-US" dirty="0"/>
              <a:t>    print(f"  {i:2d}. {name}")</a:t>
            </a:r>
          </a:p>
          <a:p>
            <a:r>
              <a:rPr lang="ru-RU" dirty="0"/>
              <a:t>Независимые эксперты в интернете утверждают, что чем выше значение веса признака, тем он лучше. При сравнении признаков, отобранных алгоритмами и этим способом мы в этом убедимся – многие признаки совпадают с отобранным алгоритмами, а признаки с отрицательными значениями не встречаются.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E27F28-45F3-4025-B8CC-E45661329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29776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9A63-AC5C-8C5A-A7C9-7EFE556DE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A01F9A5-6FB9-3F60-DD29-A01925322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D4D19A-425E-EA0D-C0CD-0B30563DF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Принцип отбора основан на сохранении среднего количества выбранных признаков и является аналогом невзвешенной композиции(половина и больше признаков входит – берем).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37040A-692D-D1E9-A859-4DA636F73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99346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39F0F-6081-C8A2-FBB0-97761834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E520A0C-3E28-328C-45EF-A0BD7057A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066D9E1-C019-0B57-F8DB-8E22C0ECD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4CF72D-C1DC-3BA4-E774-D941D9817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5840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FAB2B-EE48-766D-18C0-6CFFCFF7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1387D6B-E52B-ABBB-4ED7-2DC21F585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9FCDEEC-063E-457A-EB79-04EB8AF06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основе отобранного набора признаков был проведен кластерный анализ и применен метод локтя для нахождения оптимального числа кластеров – 4.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570BE3-63BE-B452-D26C-EACACD31A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66501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1BEC0-EEC7-AAFC-4D2C-122D9D35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A3969DE-C932-A154-3055-F1BC2ADE8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5C3A376-CC74-F3E8-CCCA-A95F3CEDB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 результатам кластеризации 3 кластер почти полностью представлен мошенническими транзакциями – 98%! Но его численность очень мала – всего 5% от всех мошеннических операций – возможно, какая-то изолированная группа операций определенного типа/схемы. Также стоит обратить внимание на 1 кластер – он содержит половину всех мошеннических транзакций, хоть и состоит из них всего на 4%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F716B2-DD3E-D17D-2F38-80CF81C36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98085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CB899-0B0B-2E51-219E-4239A062E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1AAAB54-79F4-FCB8-AA19-BCB53E8AB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5F6046-A383-0459-7FFC-B91D23588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Гистограммы кластеров по проценту мошеннических операций и проценту мошеннических операций от общего числа мошеннических операций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DC1507-5239-7FB4-73FC-F3FD95F9F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7225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D7C5F-B95A-4989-4058-E5A10FF9C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2426C93-502D-EEF1-AB89-15BF6B5C7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7CE1C01-3539-9516-BE19-1C3E1C529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Общий график средних значений признаков. График признаков с низкими отклонениями в зависимости от кластеров будет представлен на следующем слайде.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6E1BBA-EB9E-FE2F-6CB5-F93A59EE9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21659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0D6D-AA61-49E4-9A25-49D2E554B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32A3375-5D3E-F214-7EC6-05C7D5816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A9E8A53-AF02-A0C0-147D-63972F56C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 крайней мере для признаков с большим отклонением по кластерам 3 кластер повторяет позицию по отношению к другим кластерам кластера мошеннических операций. Интерпретация: портрет мошеннической транзакции в 3 кластере – первая операция клиента, операция на крупную сумму с последующими операциями в течение дня – возможно, вывод средств.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4203FD-0F74-2E32-50B3-D2203E503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69404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CC7B-6959-2B45-FF5A-192C14494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E7AB71A-EE06-FA07-7B16-E7F2D745F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9C78E4-2CFC-6EE3-6B08-7A93D4022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Параметры были выбраны как оптимальные для выборки нашей размерности и объема.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0807C8-159D-1F4B-3E86-5A32BF465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31710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DE67B-9F32-839D-682F-D4DE10C85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E3225C4-EE86-881B-53DB-98410CCE5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68DB33-5BC0-E658-D088-0ADE55F08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 точности модели особо не различаются – это связано с низким количеством мошеннических транзакций, которые в основном и определяются неправильно. С этим же связаны и высоки значения </a:t>
            </a:r>
            <a:r>
              <a:rPr lang="en-US" dirty="0"/>
              <a:t>Precision</a:t>
            </a:r>
            <a:r>
              <a:rPr lang="ru-RU" dirty="0"/>
              <a:t> и низкие значения </a:t>
            </a:r>
            <a:r>
              <a:rPr lang="en-US" dirty="0"/>
              <a:t>Recall</a:t>
            </a:r>
            <a:r>
              <a:rPr lang="ru-RU" dirty="0"/>
              <a:t>, </a:t>
            </a:r>
            <a:r>
              <a:rPr lang="en-US" dirty="0"/>
              <a:t>F1. </a:t>
            </a:r>
            <a:r>
              <a:rPr lang="ru-RU" dirty="0"/>
              <a:t>Можно заметить, что ни один набор признаков особо не выделился на фоне других, а также что набор из всех признаков имеет довольно хорошие показатели.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2C96C9-761A-8292-464F-A9291AF7C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09972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F9838-3426-2E78-59C2-1B1FB1DBB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9D582DE-2D35-9CB4-3A00-D3D43632A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07E37F-3150-039E-6A48-2D7D4B313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Проанализируем набор из всех признаков с помощью методов </a:t>
            </a:r>
            <a:r>
              <a:rPr lang="ru-RU" dirty="0" err="1"/>
              <a:t>бустинга</a:t>
            </a:r>
            <a:r>
              <a:rPr lang="ru-RU" dirty="0"/>
              <a:t>. Из доступных в библиотеках методов были выбраны наиболее популярные – они представлены на слайде. Стоит отметить, что </a:t>
            </a:r>
            <a:r>
              <a:rPr lang="en-US" dirty="0" err="1"/>
              <a:t>CatBoost</a:t>
            </a:r>
            <a:r>
              <a:rPr lang="ru-RU" dirty="0"/>
              <a:t> получил наивысшие за все исследование меры </a:t>
            </a:r>
            <a:r>
              <a:rPr lang="en-US" dirty="0"/>
              <a:t>F1</a:t>
            </a:r>
            <a:r>
              <a:rPr lang="ru-RU" dirty="0"/>
              <a:t> и </a:t>
            </a:r>
            <a:r>
              <a:rPr lang="en-US" dirty="0"/>
              <a:t>AUC</a:t>
            </a:r>
            <a:r>
              <a:rPr lang="ru-RU" dirty="0"/>
              <a:t>, хотя категориальные данные были представлены бинарным признаками, что не сильно влияет – таких всего 2. 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E87B82-7649-3778-67DC-CFD5877CE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03847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26BB-7DB3-08C6-255D-E733E2A41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3E542F3-5CDD-B9F9-887D-F685D1E4C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D0627A4-EFE0-97F5-1023-D55F8963B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качестве базовых алгоритмов для </a:t>
            </a:r>
            <a:r>
              <a:rPr lang="ru-RU" dirty="0" err="1"/>
              <a:t>комитетного</a:t>
            </a:r>
            <a:r>
              <a:rPr lang="ru-RU" dirty="0"/>
              <a:t> </a:t>
            </a:r>
            <a:r>
              <a:rPr lang="ru-RU" dirty="0" err="1"/>
              <a:t>бустинга</a:t>
            </a:r>
            <a:r>
              <a:rPr lang="ru-RU" dirty="0"/>
              <a:t> были выбраны SVM (линейный), Дерево решений, Логистическая регрессия. Функционал качества был выбран как количество объектов с отступом меньше 0 – то есть неправильно классифицированные ансамблем. </a:t>
            </a:r>
          </a:p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153944-7615-7512-A27B-009E92EDB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91532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56D8-93EB-4392-75FC-6A48A76F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494D27C-7025-D99E-1926-0EC9972C8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0D706EB-E59E-A794-9154-CD0AFA7F2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C9BD7F-73FA-25DA-6233-C16386C58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00390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07247-B327-C7C0-FE23-53DB6DB5A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FA6A123-9B19-FF06-BC2C-846F517B8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E0B9A6E-D6F1-F317-7756-9BF85513AA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Функции расчета отступа, расчета функционала и расчета предсказания ансамбля.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BBC116-EE8E-0B31-CB39-726579181C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88457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46793-C857-EC32-3375-363C5E2D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4482359-E362-FCCE-B280-6DA47C7D5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632FCBD-2F16-6CC3-6CB9-EDD3BF07A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Функция обучения моделей – кандидатов на базовый алгоритм.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1CB4D8-A559-09B1-E523-83892F801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601984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6DF4F-E893-694C-5833-450A50545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5A3BCA3-8792-88DB-9C33-40D1E2406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4EA4B3C-E99A-3A1E-5B50-D668DD588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Начало основной функции – объявление переменных.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1D213B-5ABE-3224-A168-6A7DB49AA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74353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97075-80A3-AE04-3320-9525F973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C68F49B-9954-9A31-E890-EBB96BF7E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7261C72-E1AA-A31A-60FC-13E969F43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Начало основного цикла.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59A7EB-A0B5-37F0-C087-637C54B4D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87846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DAB2B-057C-8B74-476F-F62F72108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EB58285-FDFA-7804-12C0-1A951F795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08D014F-85D2-E3C9-6AE2-E59D1C332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Конец основного цикла и основной функции.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B79B77-B14A-EF78-7880-FB6256986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B25BB4-4B8C-473D-9F8A-9C3BCB7D923A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53194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FA47E-F7B9-06FD-EA37-4C5C91E00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B24B416-6D2C-0132-C812-C2F9EA871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8876805-48C9-6B34-5F26-D47DC50D0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Объем выборки для тестирования был определен как 60000 ввиду времени работы алгоритма. Значение </a:t>
            </a:r>
            <a:r>
              <a:rPr lang="en-US" dirty="0"/>
              <a:t>l0=50</a:t>
            </a:r>
            <a:r>
              <a:rPr lang="ru-RU" dirty="0"/>
              <a:t> – отсечение проблемных экземпляров из выборки для обучения базовых алгоритмов. Второй конец интервала находится между 40000 и 50000 с шагом 2000. Алгоритм был запущен 2 раза – выводы алгоритма по центру и справа, во втором запуске было убрано условие остановки по </a:t>
            </a:r>
            <a:r>
              <a:rPr lang="ru-RU" dirty="0" err="1"/>
              <a:t>неулучшению</a:t>
            </a:r>
            <a:r>
              <a:rPr lang="ru-RU" dirty="0"/>
              <a:t> </a:t>
            </a:r>
            <a:r>
              <a:rPr lang="en-US" dirty="0"/>
              <a:t>Q</a:t>
            </a:r>
            <a:r>
              <a:rPr lang="ru-RU" dirty="0"/>
              <a:t> чтобы посмотреть динамику и корректность работы.  Количество ошибок по итогам стало равным 93, что с объемом выборки в 60000 дает точность 0,99845.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36E6A8-6BFD-873B-0738-606B5F4FD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259492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07105-D00B-9387-2507-FA3457F1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215A02-2C33-E8C2-71A2-161914BA7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69AAF03-104B-0FF2-CE4D-0E5DCC553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Веса моделей вычислялись по правилу Байеса и были нормализированы( в сумме стали давать 1). Можно заметить, что веса не сильно отличаются, что неудивительно ввиду рассмотренных ранее рассчитанных метрик для этих моделей.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855A2D-ECF3-192C-5B3F-C6D34A0F3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80613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31DC3-364A-57AA-C967-1DF086008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B55B711-799C-F476-6F62-2A83D7717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5AD567-15E1-10C5-D3D8-AFAED24A9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Встроенные методы </a:t>
            </a:r>
            <a:r>
              <a:rPr lang="ru-RU" dirty="0" err="1"/>
              <a:t>бэггинга</a:t>
            </a:r>
            <a:r>
              <a:rPr lang="ru-RU" dirty="0"/>
              <a:t> в целом показали хорошие результаты.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E58E2E-754A-F03E-83E2-88EE97AF0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70411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1A069-DC42-046C-FDBB-D63258175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83336E8-E103-6013-5E7D-9C1D20C32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F173CCE-BE6B-5962-2C01-95F6444DC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43ACAD-AF27-39B2-2A31-B1EA72C26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48299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C7563-CEE9-5A28-71DC-C557BA8C4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0BB8CE2-7782-D9B1-59E5-061D0EC0E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5A113D4-A867-74B1-642B-BAA2F5527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7DCB44-3C0D-8458-0C0C-AB7F5A3DC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22234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8E30-4F78-06C0-0CC7-0F9EB098E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BA011F8-FD0D-51E3-357C-E561E59F4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24F23AB-399D-3B66-869B-24BADFB86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Количество попыток добавления базового алгоритма было выбрано как 20, порги отбора признаков и объектов между 0,6 и 0,8, а пороги для </a:t>
            </a:r>
            <a:r>
              <a:rPr lang="en-US" dirty="0"/>
              <a:t>F1-</a:t>
            </a:r>
            <a:r>
              <a:rPr lang="ru-RU" dirty="0"/>
              <a:t>мер как 0,5 и 0,3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9F4EAB-45E8-4DA6-98CE-1EB96FB92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55976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3D4B1-4219-7C28-D64E-BABABBF57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9796B2E-EF8F-FC12-820D-ABBB3751C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95DAC67-04E1-C98C-1D4E-A2784FEB9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A41A7F-FF47-5810-713A-075FF6FCA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54013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AA152-83ED-9A68-B9A2-1CDDD54A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5E7E4DB-B506-62A1-A3D2-3A7B10144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4018B8D-C7BD-9198-FEBE-E7F006630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E5254E-EB2A-9549-C8A7-9F2A25D7DA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28643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CECA-BBC4-827E-6D7A-80027424A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3D15EC2-E263-BB81-88D3-23D03DB1B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D81FC4C-EC40-4CEA-D4B9-A30DEFDC7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Можно заметить, что результаты кастомного </a:t>
            </a:r>
            <a:r>
              <a:rPr lang="ru-RU" dirty="0" err="1"/>
              <a:t>бэггинга</a:t>
            </a:r>
            <a:r>
              <a:rPr lang="ru-RU" dirty="0"/>
              <a:t> не сильно лучше встроенного, а также довольно сильно уступают остальным методам.</a:t>
            </a:r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F804F4-56DA-EB7B-CC81-96F4C6A04B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36519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CDE20-D9A7-BE90-FCCC-A1B3B9BED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E9C20E5-973B-9508-32AF-42276228D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627A1ED-ADAE-85C8-FE1D-358E39DBA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ВЫВОД: В результате проделанной работы была проанализирована исходная выборка объектов и их признаков, были отобраны 4 набора признаков различными методами и сравнительным анализом получен пятый набор, улучшивший как определение мошеннического кластера, так и классификацию в целом. Были построены модели SVM (линейный),</a:t>
            </a:r>
          </a:p>
          <a:p>
            <a:r>
              <a:rPr lang="ru-RU" dirty="0"/>
              <a:t>Дерево решений, Логистическая регрессия, встроенные </a:t>
            </a:r>
            <a:r>
              <a:rPr lang="ru-RU" dirty="0" err="1"/>
              <a:t>бустинги</a:t>
            </a:r>
            <a:r>
              <a:rPr lang="ru-RU" dirty="0"/>
              <a:t>, встроенные </a:t>
            </a:r>
            <a:r>
              <a:rPr lang="da-DK" dirty="0"/>
              <a:t>BAGGING, RSM , BAGGING +RSM</a:t>
            </a:r>
            <a:r>
              <a:rPr lang="ru-RU" dirty="0"/>
              <a:t>, реализован </a:t>
            </a:r>
            <a:r>
              <a:rPr lang="ru-RU" dirty="0" err="1"/>
              <a:t>комитетный</a:t>
            </a:r>
            <a:r>
              <a:rPr lang="ru-RU" dirty="0"/>
              <a:t> </a:t>
            </a:r>
            <a:r>
              <a:rPr lang="ru-RU" dirty="0" err="1"/>
              <a:t>бустинг</a:t>
            </a:r>
            <a:r>
              <a:rPr lang="ru-RU" dirty="0"/>
              <a:t>, реализован кастомный </a:t>
            </a:r>
            <a:r>
              <a:rPr lang="en-US" dirty="0"/>
              <a:t>BAGGING + RSM, </a:t>
            </a:r>
            <a:r>
              <a:rPr lang="ru-RU" dirty="0"/>
              <a:t>построена композиция алгоритмов. Среди наиболее успешных моделей оказались встроенные </a:t>
            </a:r>
            <a:r>
              <a:rPr lang="ru-RU" dirty="0" err="1"/>
              <a:t>бустинги</a:t>
            </a:r>
            <a:r>
              <a:rPr lang="ru-RU" dirty="0"/>
              <a:t>, встроенные </a:t>
            </a:r>
            <a:r>
              <a:rPr lang="da-DK" dirty="0"/>
              <a:t>BAGGING, RSM , BAGGING +RSM</a:t>
            </a:r>
            <a:r>
              <a:rPr lang="ru-RU" dirty="0"/>
              <a:t>, обычные встроенные модели. Композиция дала худший результат, чем отдельные алгоритмы, кастомный </a:t>
            </a:r>
            <a:r>
              <a:rPr lang="ru-RU" dirty="0" err="1"/>
              <a:t>бэггинг</a:t>
            </a:r>
            <a:r>
              <a:rPr lang="ru-RU" dirty="0"/>
              <a:t> сравнительно плохие результаты. </a:t>
            </a:r>
            <a:r>
              <a:rPr lang="ru-RU" dirty="0" err="1"/>
              <a:t>Комитетный</a:t>
            </a:r>
            <a:r>
              <a:rPr lang="ru-RU" dirty="0"/>
              <a:t> </a:t>
            </a:r>
            <a:r>
              <a:rPr lang="ru-RU" dirty="0" err="1"/>
              <a:t>бустинг</a:t>
            </a:r>
            <a:r>
              <a:rPr lang="ru-RU" dirty="0"/>
              <a:t> дал хорошую точность и показал стабильную работу. Наилучшие методы и модели по метрикам качества представлены на слайде. </a:t>
            </a:r>
          </a:p>
          <a:p>
            <a:endParaRPr lang="en-00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A00BA9-7824-5607-16F0-0E691DF7F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25BB4-4B8C-473D-9F8A-9C3BCB7D923A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12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FEDC3-A21B-E66A-4903-0C3465348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DF0AFB-18E8-8C32-1D54-D1D3D8C87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9F369D-707F-0B51-4277-E9C84E54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950C94-11C3-2459-6FFB-CB66A032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C50DF7-22A5-4693-FDFD-40A20A3C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04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A9EB5-BDD7-3548-EF9B-473D3A70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A074AE-24AD-9A62-02A1-4C629469E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D3BB38-40B9-08C7-DA8F-D5DC71190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BF5587-2B94-25EA-6191-F8CD40ECE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F2AB13-07CA-75AE-7E09-516F79AD0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24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8F45D-1A03-DC4E-E6B7-5B6E3DF6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0F7ABE-513D-139B-2575-ED6E946B5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216AB4-2027-739D-FA3E-91B3A218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391FD2-A5AD-3D48-6B7A-D4991370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7F5985-D0B5-F127-78A9-4A9B947E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85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10D9C-DAB3-5721-F402-FF2C77C3D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D21B5F-C2AC-0C27-2352-B5FF3CDC8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7171F7-055A-D7D3-BFDD-E229F83D5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9DBA0F-31F3-4EEB-6BB4-F37EF9FD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0BF68F-8009-2B65-1705-E42658E0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6C5C43-4ED5-326B-6E34-04D3D4808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123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4141A-FB89-C9CD-E37F-20F92500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FE6371-48A7-2585-12C3-2BA0F6BC8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2702AA-1674-3BDA-5A9F-F16DDA8D1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91BB37-2B84-562C-F1B9-328082A8AC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886C3FB-7EF9-CED3-2E25-CF898BF77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204476-6916-2533-4486-755F4C579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6378D69-71FA-F1AF-B91F-3C933783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1D861C-834F-8F0C-87FB-F6A509B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862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C38E65-AC68-CBFD-10D9-22701751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A6DD3DC-FA6B-666B-3FA4-A98195BE8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7C7DD4-3E43-5A99-4946-363CF4C3F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431D057-3068-B388-2706-79720493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658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4B33C9C-6A1A-C00F-9C6F-5A57D03B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A27D0E-AE2B-669F-75F3-36415347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2FA285-302A-2685-6E90-D4532DF1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17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A66011-9828-ED57-0EC4-7F6572BD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18B7B-1073-C473-1175-AF1D1083B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9A8F6A-6AA9-F270-A433-40FD1F4BA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00C049-8AC7-8C27-2FCA-B0986D7F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E2B710-6877-C0FD-5788-06781F18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C8A14E-FA45-4624-832D-042014B4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52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44789-7D27-A01F-CE3B-32B99F71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6A398B1-07F6-BDB8-52B0-03149DC37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BD0BAB-1280-57B6-3ADC-A010206E0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729AFE-911B-326A-7C74-AB435F46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AE99B1-A615-61C7-4103-EA7B530D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B9961A-30DE-8350-B21F-6B8CB5CE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9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2181B-DD56-998E-12DC-BFE732A77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752F53-BD46-538F-CA75-8D6B50A04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7ACEF8-D6DF-E726-4DCC-8EFC3221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8610B0-EC59-72B7-6B95-5A38B5F8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BD586D-1354-D661-9665-5B2E5C03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949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0866AE-CC54-D29B-0FEB-E677CD8C0D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EF1C89-4C8E-D5CF-F59F-629F62369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00483A-6A47-8698-0ED7-DB92BFBE5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7C0F7F-190C-0C85-4137-5C88F9AA6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840C6E-68C4-8782-BD79-F892CA76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100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ользовательский макет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Google Shape;14;p9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;p9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488951" y="558800"/>
            <a:ext cx="5607050" cy="15155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9926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ИФЭБ" userDrawn="1">
  <p:cSld name="ИФЭБ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17;p10"/>
          <p:cNvSpPr/>
          <p:nvPr/>
        </p:nvSpPr>
        <p:spPr bwMode="auto">
          <a:xfrm>
            <a:off x="11290040" y="6210106"/>
            <a:ext cx="902100" cy="380700"/>
          </a:xfrm>
          <a:prstGeom prst="rect">
            <a:avLst/>
          </a:prstGeom>
          <a:solidFill>
            <a:srgbClr val="0048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Google Shape;18;p10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8662" y="0"/>
            <a:ext cx="13128168" cy="1352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;p10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158621" y="27778"/>
            <a:ext cx="1159089" cy="12786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0;p10"/>
          <p:cNvSpPr/>
          <p:nvPr/>
        </p:nvSpPr>
        <p:spPr bwMode="auto">
          <a:xfrm>
            <a:off x="12120465" y="-22539"/>
            <a:ext cx="71400" cy="1368000"/>
          </a:xfrm>
          <a:prstGeom prst="rect">
            <a:avLst/>
          </a:prstGeom>
          <a:solidFill>
            <a:srgbClr val="E2000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Google Shape;21;p10"/>
          <p:cNvSpPr/>
          <p:nvPr/>
        </p:nvSpPr>
        <p:spPr bwMode="auto">
          <a:xfrm>
            <a:off x="12132905" y="6210106"/>
            <a:ext cx="71400" cy="381600"/>
          </a:xfrm>
          <a:prstGeom prst="rect">
            <a:avLst/>
          </a:prstGeom>
          <a:solidFill>
            <a:srgbClr val="E2000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258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FEDC3-A21B-E66A-4903-0C3465348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DF0AFB-18E8-8C32-1D54-D1D3D8C87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9F369D-707F-0B51-4277-E9C84E54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950C94-11C3-2459-6FFB-CB66A032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C50DF7-22A5-4693-FDFD-40A20A3C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261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A9EB5-BDD7-3548-EF9B-473D3A70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A074AE-24AD-9A62-02A1-4C629469E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D3BB38-40B9-08C7-DA8F-D5DC71190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BF5587-2B94-25EA-6191-F8CD40ECE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F2AB13-07CA-75AE-7E09-516F79AD0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151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8F45D-1A03-DC4E-E6B7-5B6E3DF6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0F7ABE-513D-139B-2575-ED6E946B5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216AB4-2027-739D-FA3E-91B3A218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391FD2-A5AD-3D48-6B7A-D49913701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7F5985-D0B5-F127-78A9-4A9B947EB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679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10D9C-DAB3-5721-F402-FF2C77C3D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D21B5F-C2AC-0C27-2352-B5FF3CDC8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7171F7-055A-D7D3-BFDD-E229F83D5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9DBA0F-31F3-4EEB-6BB4-F37EF9FD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0BF68F-8009-2B65-1705-E42658E0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6C5C43-4ED5-326B-6E34-04D3D4808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948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4141A-FB89-C9CD-E37F-20F92500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FE6371-48A7-2585-12C3-2BA0F6BC8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2702AA-1674-3BDA-5A9F-F16DDA8D1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91BB37-2B84-562C-F1B9-328082A8AC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886C3FB-7EF9-CED3-2E25-CF898BF77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204476-6916-2533-4486-755F4C579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6378D69-71FA-F1AF-B91F-3C933783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1D861C-834F-8F0C-87FB-F6A509B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89910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C38E65-AC68-CBFD-10D9-22701751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A6DD3DC-FA6B-666B-3FA4-A98195BE8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7C7DD4-3E43-5A99-4946-363CF4C3F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431D057-3068-B388-2706-79720493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0833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4B33C9C-6A1A-C00F-9C6F-5A57D03B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A27D0E-AE2B-669F-75F3-36415347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2FA285-302A-2685-6E90-D4532DF1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11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A66011-9828-ED57-0EC4-7F6572BD9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18B7B-1073-C473-1175-AF1D1083B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9A8F6A-6AA9-F270-A433-40FD1F4BA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00C049-8AC7-8C27-2FCA-B0986D7F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E2B710-6877-C0FD-5788-06781F18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C8A14E-FA45-4624-832D-042014B4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600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44789-7D27-A01F-CE3B-32B99F71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6A398B1-07F6-BDB8-52B0-03149DC37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2BD0BAB-1280-57B6-3ADC-A010206E0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729AFE-911B-326A-7C74-AB435F46E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AE99B1-A615-61C7-4103-EA7B530D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B9961A-30DE-8350-B21F-6B8CB5CE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9717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2181B-DD56-998E-12DC-BFE732A77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752F53-BD46-538F-CA75-8D6B50A04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7ACEF8-D6DF-E726-4DCC-8EFC3221D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8610B0-EC59-72B7-6B95-5A38B5F8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BD586D-1354-D661-9665-5B2E5C03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2773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0866AE-CC54-D29B-0FEB-E677CD8C0D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EF1C89-4C8E-D5CF-F59F-629F62369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00483A-6A47-8698-0ED7-DB92BFBE5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7C0F7F-190C-0C85-4137-5C88F9AA6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840C6E-68C4-8782-BD79-F892CA768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962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ользовательский макет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Google Shape;14;p9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;p9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488951" y="558800"/>
            <a:ext cx="5607050" cy="15155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50438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ИФЭБ" userDrawn="1">
  <p:cSld name="ИФЭБ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17;p10"/>
          <p:cNvSpPr/>
          <p:nvPr/>
        </p:nvSpPr>
        <p:spPr bwMode="auto">
          <a:xfrm>
            <a:off x="11290040" y="6210106"/>
            <a:ext cx="902100" cy="380700"/>
          </a:xfrm>
          <a:prstGeom prst="rect">
            <a:avLst/>
          </a:prstGeom>
          <a:solidFill>
            <a:srgbClr val="0048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" name="Google Shape;18;p10"/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18662" y="0"/>
            <a:ext cx="13128168" cy="1352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;p10"/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158621" y="27778"/>
            <a:ext cx="1159089" cy="127861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0;p10"/>
          <p:cNvSpPr/>
          <p:nvPr/>
        </p:nvSpPr>
        <p:spPr bwMode="auto">
          <a:xfrm>
            <a:off x="12120465" y="-22539"/>
            <a:ext cx="71400" cy="1368000"/>
          </a:xfrm>
          <a:prstGeom prst="rect">
            <a:avLst/>
          </a:prstGeom>
          <a:solidFill>
            <a:srgbClr val="E2000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Google Shape;21;p10"/>
          <p:cNvSpPr/>
          <p:nvPr/>
        </p:nvSpPr>
        <p:spPr bwMode="auto">
          <a:xfrm>
            <a:off x="12132905" y="6210106"/>
            <a:ext cx="71400" cy="381600"/>
          </a:xfrm>
          <a:prstGeom prst="rect">
            <a:avLst/>
          </a:prstGeom>
          <a:solidFill>
            <a:srgbClr val="E2000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6652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0DA40-CE9A-288A-0FFF-B4E1EBAC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3A50B8-BB75-77EB-48E3-C6A5E98E0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96C4F4-D084-6D65-9065-8ED1EA82F0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248E46-5986-4954-A3C1-C02731FB8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F786F7-D2F1-4756-2D19-78BCA7BD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3425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0DA40-CE9A-288A-0FFF-B4E1EBAC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3A50B8-BB75-77EB-48E3-C6A5E98E0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96C4F4-D084-6D65-9065-8ED1EA82F0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8AA93-E78B-4EA1-B75B-46BB652263F3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248E46-5986-4954-A3C1-C02731FB8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F786F7-D2F1-4756-2D19-78BCA7BD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700DA-243A-48CC-8689-E78B7E69AE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67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ealaxi/banksim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7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30.png"/><Relationship Id="rId18" Type="http://schemas.openxmlformats.org/officeDocument/2006/relationships/customXml" Target="../ink/ink8.xml"/><Relationship Id="rId3" Type="http://schemas.openxmlformats.org/officeDocument/2006/relationships/image" Target="../media/image39.png"/><Relationship Id="rId7" Type="http://schemas.openxmlformats.org/officeDocument/2006/relationships/image" Target="../media/image100.png"/><Relationship Id="rId12" Type="http://schemas.openxmlformats.org/officeDocument/2006/relationships/customXml" Target="../ink/ink5.xml"/><Relationship Id="rId17" Type="http://schemas.openxmlformats.org/officeDocument/2006/relationships/image" Target="../media/image150.png"/><Relationship Id="rId2" Type="http://schemas.openxmlformats.org/officeDocument/2006/relationships/notesSlide" Target="../notesSlides/notesSlide13.xm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20.png"/><Relationship Id="rId5" Type="http://schemas.openxmlformats.org/officeDocument/2006/relationships/image" Target="../media/image90.png"/><Relationship Id="rId15" Type="http://schemas.openxmlformats.org/officeDocument/2006/relationships/image" Target="../media/image140.png"/><Relationship Id="rId10" Type="http://schemas.openxmlformats.org/officeDocument/2006/relationships/customXml" Target="../ink/ink4.xml"/><Relationship Id="rId19" Type="http://schemas.openxmlformats.org/officeDocument/2006/relationships/image" Target="../media/image160.png"/><Relationship Id="rId4" Type="http://schemas.openxmlformats.org/officeDocument/2006/relationships/customXml" Target="../ink/ink1.xml"/><Relationship Id="rId9" Type="http://schemas.openxmlformats.org/officeDocument/2006/relationships/image" Target="../media/image110.png"/><Relationship Id="rId14" Type="http://schemas.openxmlformats.org/officeDocument/2006/relationships/customXml" Target="../ink/ink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230.png"/><Relationship Id="rId3" Type="http://schemas.openxmlformats.org/officeDocument/2006/relationships/image" Target="../media/image40.png"/><Relationship Id="rId7" Type="http://schemas.openxmlformats.org/officeDocument/2006/relationships/image" Target="../media/image200.png"/><Relationship Id="rId12" Type="http://schemas.openxmlformats.org/officeDocument/2006/relationships/customXml" Target="../ink/ink13.xml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220.png"/><Relationship Id="rId5" Type="http://schemas.openxmlformats.org/officeDocument/2006/relationships/image" Target="../media/image190.png"/><Relationship Id="rId15" Type="http://schemas.openxmlformats.org/officeDocument/2006/relationships/image" Target="../media/image240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210.png"/><Relationship Id="rId14" Type="http://schemas.openxmlformats.org/officeDocument/2006/relationships/customXml" Target="../ink/ink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360.png"/><Relationship Id="rId3" Type="http://schemas.openxmlformats.org/officeDocument/2006/relationships/image" Target="../media/image49.png"/><Relationship Id="rId7" Type="http://schemas.openxmlformats.org/officeDocument/2006/relationships/image" Target="../media/image330.png"/><Relationship Id="rId12" Type="http://schemas.openxmlformats.org/officeDocument/2006/relationships/customXml" Target="../ink/ink19.xml"/><Relationship Id="rId17" Type="http://schemas.openxmlformats.org/officeDocument/2006/relationships/image" Target="../media/image380.png"/><Relationship Id="rId2" Type="http://schemas.openxmlformats.org/officeDocument/2006/relationships/notesSlide" Target="../notesSlides/notesSlide52.xml"/><Relationship Id="rId16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350.png"/><Relationship Id="rId5" Type="http://schemas.openxmlformats.org/officeDocument/2006/relationships/image" Target="../media/image320.png"/><Relationship Id="rId15" Type="http://schemas.openxmlformats.org/officeDocument/2006/relationships/image" Target="../media/image370.png"/><Relationship Id="rId10" Type="http://schemas.openxmlformats.org/officeDocument/2006/relationships/customXml" Target="../ink/ink18.xml"/><Relationship Id="rId4" Type="http://schemas.openxmlformats.org/officeDocument/2006/relationships/customXml" Target="../ink/ink15.xml"/><Relationship Id="rId9" Type="http://schemas.openxmlformats.org/officeDocument/2006/relationships/image" Target="../media/image340.png"/><Relationship Id="rId14" Type="http://schemas.openxmlformats.org/officeDocument/2006/relationships/customXml" Target="../ink/ink20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13" Type="http://schemas.openxmlformats.org/officeDocument/2006/relationships/image" Target="../media/image450.png"/><Relationship Id="rId18" Type="http://schemas.openxmlformats.org/officeDocument/2006/relationships/image" Target="../media/image480.png"/><Relationship Id="rId3" Type="http://schemas.openxmlformats.org/officeDocument/2006/relationships/image" Target="../media/image50.png"/><Relationship Id="rId21" Type="http://schemas.openxmlformats.org/officeDocument/2006/relationships/image" Target="../media/image51.png"/><Relationship Id="rId7" Type="http://schemas.openxmlformats.org/officeDocument/2006/relationships/image" Target="../media/image420.png"/><Relationship Id="rId12" Type="http://schemas.openxmlformats.org/officeDocument/2006/relationships/customXml" Target="../ink/ink26.xml"/><Relationship Id="rId2" Type="http://schemas.openxmlformats.org/officeDocument/2006/relationships/notesSlide" Target="../notesSlides/notesSlide53.xml"/><Relationship Id="rId16" Type="http://schemas.openxmlformats.org/officeDocument/2006/relationships/customXml" Target="../ink/ink28.xml"/><Relationship Id="rId20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440.png"/><Relationship Id="rId5" Type="http://schemas.openxmlformats.org/officeDocument/2006/relationships/image" Target="../media/image410.png"/><Relationship Id="rId15" Type="http://schemas.openxmlformats.org/officeDocument/2006/relationships/image" Target="../media/image310.png"/><Relationship Id="rId10" Type="http://schemas.openxmlformats.org/officeDocument/2006/relationships/customXml" Target="../ink/ink25.xml"/><Relationship Id="rId19" Type="http://schemas.openxmlformats.org/officeDocument/2006/relationships/customXml" Target="../ink/ink29.xml"/><Relationship Id="rId4" Type="http://schemas.openxmlformats.org/officeDocument/2006/relationships/customXml" Target="../ink/ink22.xml"/><Relationship Id="rId9" Type="http://schemas.openxmlformats.org/officeDocument/2006/relationships/image" Target="../media/image430.png"/><Relationship Id="rId14" Type="http://schemas.openxmlformats.org/officeDocument/2006/relationships/customXml" Target="../ink/ink2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67;p1"/>
          <p:cNvSpPr txBox="1"/>
          <p:nvPr/>
        </p:nvSpPr>
        <p:spPr bwMode="auto">
          <a:xfrm>
            <a:off x="0" y="2391306"/>
            <a:ext cx="10369760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4000"/>
              <a:defRPr/>
            </a:pPr>
            <a:r>
              <a:rPr lang="ru-RU" sz="4000" dirty="0"/>
              <a:t>Тема</a:t>
            </a:r>
            <a:r>
              <a:rPr lang="en-US" sz="4000" dirty="0"/>
              <a:t> </a:t>
            </a:r>
            <a:r>
              <a:rPr lang="ru-RU" sz="4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lang="ru-RU" sz="4000" dirty="0"/>
              <a:t>”</a:t>
            </a:r>
            <a:r>
              <a:rPr lang="ru-RU" sz="4000" dirty="0">
                <a:latin typeface="Calibri"/>
                <a:ea typeface="Calibri"/>
                <a:cs typeface="Calibri"/>
              </a:rPr>
              <a:t>Анализ мошеннических транзакций с применением методов машинного обучения</a:t>
            </a:r>
            <a:r>
              <a:rPr lang="en-US" sz="4000" dirty="0">
                <a:latin typeface="Times New Roman"/>
                <a:cs typeface="Times New Roman"/>
              </a:rPr>
              <a:t>”</a:t>
            </a:r>
            <a:endParaRPr lang="ru-RU" sz="4000" b="0" i="0" u="none" strike="noStrike" cap="none" dirty="0">
              <a:solidFill>
                <a:srgbClr val="000000"/>
              </a:solidFill>
              <a:latin typeface="Times New Roman"/>
              <a:ea typeface="Arial"/>
              <a:cs typeface="Times New Roman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r>
              <a:rPr lang="ru-RU" sz="2400" dirty="0"/>
              <a:t>	                                                </a:t>
            </a:r>
            <a:r>
              <a:rPr lang="en-US" sz="2400" dirty="0"/>
              <a:t>	</a:t>
            </a:r>
            <a:r>
              <a:rPr lang="ru-RU" sz="2400" dirty="0"/>
              <a:t>  </a:t>
            </a:r>
            <a:r>
              <a:rPr lang="en-US" sz="2400" dirty="0"/>
              <a:t>		</a:t>
            </a:r>
            <a:endParaRPr lang="ru-RU" sz="2400" dirty="0"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Google Shape;120;p7">
            <a:extLst>
              <a:ext uri="{FF2B5EF4-FFF2-40B4-BE49-F238E27FC236}">
                <a16:creationId xmlns:a16="http://schemas.microsoft.com/office/drawing/2014/main" id="{6B54E599-CEBB-B05C-BEB5-EF0A33FDEFBF}"/>
              </a:ext>
            </a:extLst>
          </p:cNvPr>
          <p:cNvSpPr txBox="1"/>
          <p:nvPr/>
        </p:nvSpPr>
        <p:spPr bwMode="auto">
          <a:xfrm>
            <a:off x="4798232" y="6334475"/>
            <a:ext cx="19884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r>
              <a:rPr lang="ru-RU" sz="18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Москва</a:t>
            </a:r>
            <a:r>
              <a:rPr lang="en-US" sz="18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-</a:t>
            </a:r>
            <a:r>
              <a:rPr lang="ru-RU" sz="1800" b="0" i="0" u="none" strike="noStrike" cap="none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 202</a:t>
            </a:r>
            <a:r>
              <a:rPr lang="ru-RU" dirty="0">
                <a:solidFill>
                  <a:srgbClr val="0070C0"/>
                </a:solidFill>
                <a:latin typeface="Arial"/>
                <a:ea typeface="Arial"/>
                <a:cs typeface="Arial"/>
              </a:rPr>
              <a:t>5</a:t>
            </a:r>
            <a:endParaRPr sz="1800" b="0" i="0" u="none" strike="noStrike" cap="none" dirty="0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3080120-1F81-9EE4-CE2F-ABC1259D0C23}"/>
              </a:ext>
            </a:extLst>
          </p:cNvPr>
          <p:cNvSpPr/>
          <p:nvPr/>
        </p:nvSpPr>
        <p:spPr>
          <a:xfrm>
            <a:off x="119336" y="188640"/>
            <a:ext cx="6552728" cy="201622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oogle Shape;117;p7">
            <a:extLst>
              <a:ext uri="{FF2B5EF4-FFF2-40B4-BE49-F238E27FC236}">
                <a16:creationId xmlns:a16="http://schemas.microsoft.com/office/drawing/2014/main" id="{99BA807F-8C78-ED4C-90DF-6B525B90666B}"/>
              </a:ext>
            </a:extLst>
          </p:cNvPr>
          <p:cNvPicPr/>
          <p:nvPr/>
        </p:nvPicPr>
        <p:blipFill>
          <a:blip r:embed="rId3">
            <a:alphaModFix/>
          </a:blip>
          <a:stretch/>
        </p:blipFill>
        <p:spPr bwMode="auto">
          <a:xfrm>
            <a:off x="463024" y="494499"/>
            <a:ext cx="5281348" cy="14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4A7D0C-E3F9-D3B4-B40B-07F1942112A4}"/>
              </a:ext>
            </a:extLst>
          </p:cNvPr>
          <p:cNvSpPr txBox="1">
            <a:spLocks/>
          </p:cNvSpPr>
          <p:nvPr/>
        </p:nvSpPr>
        <p:spPr>
          <a:xfrm>
            <a:off x="307595" y="4161001"/>
            <a:ext cx="9144000" cy="1349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rgbClr val="0048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 работу (группы С21-702, С21-703):</a:t>
            </a:r>
          </a:p>
          <a:p>
            <a:pPr marL="0" indent="0">
              <a:buNone/>
            </a:pPr>
            <a:r>
              <a:rPr lang="ru-RU" dirty="0">
                <a:solidFill>
                  <a:srgbClr val="0048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Чубов</a:t>
            </a:r>
          </a:p>
          <a:p>
            <a:pPr marL="0" indent="0">
              <a:buNone/>
            </a:pPr>
            <a:r>
              <a:rPr lang="ru-RU" dirty="0" err="1">
                <a:solidFill>
                  <a:srgbClr val="0048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Магай</a:t>
            </a:r>
            <a:endParaRPr lang="ru-RU" dirty="0">
              <a:solidFill>
                <a:srgbClr val="00489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 err="1">
                <a:solidFill>
                  <a:srgbClr val="0048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Нашивочников</a:t>
            </a:r>
            <a:endParaRPr lang="ru-RU" dirty="0">
              <a:solidFill>
                <a:srgbClr val="00489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48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Никулин</a:t>
            </a:r>
          </a:p>
          <a:p>
            <a:pPr marL="0" indent="0">
              <a:buNone/>
            </a:pPr>
            <a:endParaRPr lang="ru-RU" dirty="0">
              <a:solidFill>
                <a:srgbClr val="00489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4BA3D7-3A1E-4B0C-88F7-A3D0F62FE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3FD32B4E-62AB-4443-BE64-F8163F5F4483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3F6E2-8BBC-E3AF-7B51-3696F12EDC4E}"/>
              </a:ext>
            </a:extLst>
          </p:cNvPr>
          <p:cNvSpPr txBox="1"/>
          <p:nvPr/>
        </p:nvSpPr>
        <p:spPr>
          <a:xfrm>
            <a:off x="1557227" y="1480008"/>
            <a:ext cx="888005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Синтетические данные сгенерированные специализированным алгоритмом. Имитируют банковские операции между клиентами и продавцами за 180 дней.</a:t>
            </a:r>
          </a:p>
          <a:p>
            <a:r>
              <a:rPr lang="ru-RU" dirty="0"/>
              <a:t>Целевой признак </a:t>
            </a:r>
            <a:r>
              <a:rPr lang="en-US" dirty="0"/>
              <a:t>fraud</a:t>
            </a:r>
            <a:r>
              <a:rPr lang="ru-RU" dirty="0"/>
              <a:t> (0 или 1)</a:t>
            </a:r>
            <a:r>
              <a:rPr lang="en-US" dirty="0"/>
              <a:t> </a:t>
            </a:r>
            <a:r>
              <a:rPr lang="ru-RU" dirty="0"/>
              <a:t>– является ли операция мошеннической.</a:t>
            </a:r>
          </a:p>
          <a:p>
            <a:r>
              <a:rPr lang="ru-RU" dirty="0"/>
              <a:t>Содержит всего 594643 записей.</a:t>
            </a:r>
          </a:p>
          <a:p>
            <a:endParaRPr lang="ru-RU" dirty="0"/>
          </a:p>
          <a:p>
            <a:r>
              <a:rPr lang="ru-RU" dirty="0"/>
              <a:t>Ссылка на данные:</a:t>
            </a:r>
          </a:p>
          <a:p>
            <a:r>
              <a:rPr lang="en-US" dirty="0">
                <a:hlinkClick r:id="rId3"/>
              </a:rPr>
              <a:t>Synthetic data from a financial payment system</a:t>
            </a:r>
            <a:endParaRPr lang="ru-RU" dirty="0"/>
          </a:p>
          <a:p>
            <a:endParaRPr lang="ru-RU" dirty="0"/>
          </a:p>
          <a:p>
            <a:r>
              <a:rPr lang="ru-RU" sz="2000" b="1" dirty="0"/>
              <a:t>Первая группа признаков</a:t>
            </a:r>
            <a:r>
              <a:rPr lang="ru-RU" dirty="0"/>
              <a:t>(идентификаторы):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customer</a:t>
            </a:r>
            <a:r>
              <a:rPr lang="en-US" dirty="0"/>
              <a:t> – </a:t>
            </a:r>
            <a:r>
              <a:rPr lang="ru-RU" dirty="0"/>
              <a:t>идентификатор клиента (4112 уникальных)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merchant</a:t>
            </a:r>
            <a:r>
              <a:rPr lang="en-US" dirty="0"/>
              <a:t> – </a:t>
            </a:r>
            <a:r>
              <a:rPr lang="ru-RU" dirty="0"/>
              <a:t>идентификатор продавца (50 уникальных)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step</a:t>
            </a:r>
            <a:r>
              <a:rPr lang="en-US" dirty="0"/>
              <a:t> – </a:t>
            </a:r>
            <a:r>
              <a:rPr lang="ru-RU" dirty="0"/>
              <a:t>день проведения транзакции (число от 1 до 180)</a:t>
            </a:r>
          </a:p>
        </p:txBody>
      </p:sp>
    </p:spTree>
    <p:extLst>
      <p:ext uri="{BB962C8B-B14F-4D97-AF65-F5344CB8AC3E}">
        <p14:creationId xmlns:p14="http://schemas.microsoft.com/office/powerpoint/2010/main" val="314283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C952-BC16-A210-5589-8D6A338D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60EA3-4763-3F5A-A312-1EE14002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67DB0892-6251-2E3D-570B-0079C8AC909B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F6C259-7BE5-8903-C60A-583F92C2D256}"/>
              </a:ext>
            </a:extLst>
          </p:cNvPr>
          <p:cNvSpPr txBox="1"/>
          <p:nvPr/>
        </p:nvSpPr>
        <p:spPr>
          <a:xfrm>
            <a:off x="669695" y="1187778"/>
            <a:ext cx="116794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Идентификаторы нельзя применить в анализе напрямую, но можно создать на их основе новые признаки.</a:t>
            </a:r>
          </a:p>
          <a:p>
            <a:r>
              <a:rPr lang="ru-RU" sz="2000" b="1" dirty="0"/>
              <a:t>Вторая группа признаков</a:t>
            </a:r>
            <a:r>
              <a:rPr lang="ru-RU" dirty="0"/>
              <a:t>(производные от идентификаторов):</a:t>
            </a:r>
          </a:p>
          <a:p>
            <a:pPr marL="285750" indent="-285750">
              <a:buFontTx/>
              <a:buChar char="-"/>
            </a:pP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414E408-0DE5-0FDA-4A84-F455753AF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215149"/>
              </p:ext>
            </p:extLst>
          </p:nvPr>
        </p:nvGraphicFramePr>
        <p:xfrm>
          <a:off x="186085" y="1802372"/>
          <a:ext cx="1181983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6989">
                  <a:extLst>
                    <a:ext uri="{9D8B030D-6E8A-4147-A177-3AD203B41FA5}">
                      <a16:colId xmlns:a16="http://schemas.microsoft.com/office/drawing/2014/main" val="1833047868"/>
                    </a:ext>
                  </a:extLst>
                </a:gridCol>
                <a:gridCol w="7722841">
                  <a:extLst>
                    <a:ext uri="{9D8B030D-6E8A-4147-A177-3AD203B41FA5}">
                      <a16:colId xmlns:a16="http://schemas.microsoft.com/office/drawing/2014/main" val="2409487168"/>
                    </a:ext>
                  </a:extLst>
                </a:gridCol>
              </a:tblGrid>
              <a:tr h="320352">
                <a:tc>
                  <a:txBody>
                    <a:bodyPr/>
                    <a:lstStyle/>
                    <a:p>
                      <a:r>
                        <a:rPr lang="ru-RU" dirty="0"/>
                        <a:t>Название признака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37189"/>
                  </a:ext>
                </a:extLst>
              </a:tr>
              <a:tr h="320352">
                <a:tc>
                  <a:txBody>
                    <a:bodyPr/>
                    <a:lstStyle/>
                    <a:p>
                      <a:r>
                        <a:rPr lang="en-US" b="1" dirty="0" err="1"/>
                        <a:t>cust_total_tx</a:t>
                      </a:r>
                      <a:r>
                        <a:rPr lang="ru-RU" b="1" dirty="0"/>
                        <a:t>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транзакций за всё время для клиента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40693"/>
                  </a:ext>
                </a:extLst>
              </a:tr>
              <a:tr h="320352">
                <a:tc>
                  <a:txBody>
                    <a:bodyPr/>
                    <a:lstStyle/>
                    <a:p>
                      <a:r>
                        <a:rPr lang="en-US" b="1" dirty="0" err="1"/>
                        <a:t>cust_unique_merch_total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уникальных продавцов, с которыми клиент взаимодействовал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815634"/>
                  </a:ext>
                </a:extLst>
              </a:tr>
              <a:tr h="320352">
                <a:tc>
                  <a:txBody>
                    <a:bodyPr/>
                    <a:lstStyle/>
                    <a:p>
                      <a:r>
                        <a:rPr lang="en-US" b="1" dirty="0" err="1"/>
                        <a:t>cust_tx_before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транзакций у клиента до текущего дня (исключая текущую)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258702"/>
                  </a:ext>
                </a:extLst>
              </a:tr>
              <a:tr h="320352">
                <a:tc>
                  <a:txBody>
                    <a:bodyPr/>
                    <a:lstStyle/>
                    <a:p>
                      <a:r>
                        <a:rPr lang="en-US" b="1" dirty="0" err="1"/>
                        <a:t>cust_unique_merch_before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уникальных продавцов у клиента до текущего дня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258852"/>
                  </a:ext>
                </a:extLst>
              </a:tr>
              <a:tr h="320352">
                <a:tc>
                  <a:txBody>
                    <a:bodyPr/>
                    <a:lstStyle/>
                    <a:p>
                      <a:r>
                        <a:rPr lang="en-US" b="1" dirty="0" err="1"/>
                        <a:t>is_first_tx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Бинарный признак: первая ли это транзакция клиента?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735318"/>
                  </a:ext>
                </a:extLst>
              </a:tr>
              <a:tr h="320352">
                <a:tc>
                  <a:txBody>
                    <a:bodyPr/>
                    <a:lstStyle/>
                    <a:p>
                      <a:r>
                        <a:rPr lang="en-US" b="1" dirty="0" err="1"/>
                        <a:t>seen_merchant_before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Бинарный признак: Взаимодействовал ли клиент с этим продавцом раньше?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61174"/>
                  </a:ext>
                </a:extLst>
              </a:tr>
              <a:tr h="320352">
                <a:tc>
                  <a:txBody>
                    <a:bodyPr/>
                    <a:lstStyle/>
                    <a:p>
                      <a:r>
                        <a:rPr lang="en-US" b="1" dirty="0" err="1"/>
                        <a:t>cust_tx_days_ratio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Доля дней с транзакциями среди всех дней для этого клиента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27363"/>
                  </a:ext>
                </a:extLst>
              </a:tr>
              <a:tr h="320352">
                <a:tc>
                  <a:txBody>
                    <a:bodyPr/>
                    <a:lstStyle/>
                    <a:p>
                      <a:r>
                        <a:rPr lang="en-US" b="1" dirty="0" err="1"/>
                        <a:t>cust_max_tx_per_day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Максимальное число транзакций за один день за всё время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391629"/>
                  </a:ext>
                </a:extLst>
              </a:tr>
              <a:tr h="320352">
                <a:tc>
                  <a:txBody>
                    <a:bodyPr/>
                    <a:lstStyle/>
                    <a:p>
                      <a:r>
                        <a:rPr lang="en-US" b="1" dirty="0" err="1"/>
                        <a:t>cust_avg_interval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Средний интервал между транзакциями за всё время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664615"/>
                  </a:ext>
                </a:extLst>
              </a:tr>
              <a:tr h="320352">
                <a:tc>
                  <a:txBody>
                    <a:bodyPr/>
                    <a:lstStyle/>
                    <a:p>
                      <a:r>
                        <a:rPr lang="en-US" b="1" dirty="0" err="1"/>
                        <a:t>cust_avg_tx_per_day_before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Среднее число транзакций в день у клиента до текущего дня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258806"/>
                  </a:ext>
                </a:extLst>
              </a:tr>
              <a:tr h="320352">
                <a:tc>
                  <a:txBody>
                    <a:bodyPr/>
                    <a:lstStyle/>
                    <a:p>
                      <a:r>
                        <a:rPr lang="en-US" b="1" dirty="0"/>
                        <a:t>tx_last_7_days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транзакций за последние 7 дней у клиента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086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460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571C28-6966-BA03-0357-AF3334B3E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63CEC7-3C8D-130F-3503-255541A9F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911D5621-2C50-98BB-C02F-87384AB3CC07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E6E5B-3226-0172-802B-5AA3527FF1AD}"/>
              </a:ext>
            </a:extLst>
          </p:cNvPr>
          <p:cNvSpPr txBox="1"/>
          <p:nvPr/>
        </p:nvSpPr>
        <p:spPr>
          <a:xfrm>
            <a:off x="669697" y="1480008"/>
            <a:ext cx="5306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cust_total_tx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Количество транзакций за всё время для клиента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6A8B3-3A0C-61EF-EA8B-D94D9C5E4F9E}"/>
              </a:ext>
            </a:extLst>
          </p:cNvPr>
          <p:cNvSpPr txBox="1"/>
          <p:nvPr/>
        </p:nvSpPr>
        <p:spPr>
          <a:xfrm>
            <a:off x="6268825" y="1480008"/>
            <a:ext cx="5288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cust_unique_merch_total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Количество уникальных продавцов, с которыми клиент взаимодействовал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F26B30-F0AB-472B-798B-0EA4552A6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15" y="2403338"/>
            <a:ext cx="2086266" cy="281026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01DCB0D-CC5D-3465-8B24-295FB1268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877" y="2403338"/>
            <a:ext cx="1752845" cy="268642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B60AA8D-2A24-3B85-0362-D9C891FBA9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289" y="5268439"/>
            <a:ext cx="3286584" cy="21910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440DC21-BFC3-0224-8C42-B328B35C9D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2712" y="2412863"/>
            <a:ext cx="1752845" cy="280074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D2CD7BE-A6C7-4C88-38AF-083D80D294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825" y="2412863"/>
            <a:ext cx="1981477" cy="281026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8CACB70-A222-5A9C-EE2B-4FC423C3DB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746" y="5313149"/>
            <a:ext cx="3286584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22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741D4-3CB2-43CC-ADA2-99EBF68C4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F31F50-7D05-AE64-B2C9-1FD22633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BA34B08C-EB81-42FE-2B28-EA1AC75F16E4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500F9-04CC-D218-9BBB-CE044C2CB370}"/>
              </a:ext>
            </a:extLst>
          </p:cNvPr>
          <p:cNvSpPr txBox="1"/>
          <p:nvPr/>
        </p:nvSpPr>
        <p:spPr>
          <a:xfrm>
            <a:off x="669697" y="1480008"/>
            <a:ext cx="5306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cust_tx_before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Количество транзакций у клиента до текущего дня (исключая текущую)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187D3-D0B6-DD2C-1DB1-EC043CA9BAB8}"/>
              </a:ext>
            </a:extLst>
          </p:cNvPr>
          <p:cNvSpPr txBox="1"/>
          <p:nvPr/>
        </p:nvSpPr>
        <p:spPr>
          <a:xfrm>
            <a:off x="6268825" y="1480008"/>
            <a:ext cx="5288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cust_unique_merch_before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Количество уникальных продавцов у клиента до текущего дня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16B473E-E7D3-4676-5C0E-61F12A5DE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289" y="5268439"/>
            <a:ext cx="3286584" cy="2191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B42951-61D3-3C21-C829-5CE771E2E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" y="2258913"/>
            <a:ext cx="2038635" cy="287695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66062C6-6334-1FC8-9626-2D6873418F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8686" y="2335123"/>
            <a:ext cx="1762371" cy="280074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C69504D-F57A-0075-F4F2-C10BBC8E8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7194" y="2277965"/>
            <a:ext cx="1705213" cy="283884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7F9435E-E61F-FCE1-D8B1-89B9BE6C67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8785" y="2335123"/>
            <a:ext cx="1924319" cy="278168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2A6D1FA-42F7-148E-5289-AB4D09B87A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507" y="5216042"/>
            <a:ext cx="3286584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38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D3F176-E624-BA99-AAC9-099802513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05EE07-4201-EA53-B296-CF09B2C03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8132E1E5-A87E-D8DF-207F-DDBDF52AEEFF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D48F6-362A-B703-7559-D6E4ADCC5C42}"/>
              </a:ext>
            </a:extLst>
          </p:cNvPr>
          <p:cNvSpPr txBox="1"/>
          <p:nvPr/>
        </p:nvSpPr>
        <p:spPr>
          <a:xfrm>
            <a:off x="669697" y="1480008"/>
            <a:ext cx="5306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is_first_tx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Бинарный признак: первая ли это транзакция клиента?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AFF39-B1E2-05EC-B1DE-2E97B1E107B0}"/>
              </a:ext>
            </a:extLst>
          </p:cNvPr>
          <p:cNvSpPr txBox="1"/>
          <p:nvPr/>
        </p:nvSpPr>
        <p:spPr>
          <a:xfrm>
            <a:off x="6268825" y="1480008"/>
            <a:ext cx="52884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seen_merchant_before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Бинарный признак: Взаимодействовал ли клиент с этим продавцом раньше?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DD32A2F-8247-E47A-619C-076CACA05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744" y="5158886"/>
            <a:ext cx="3286584" cy="2191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A1EF64-F720-F7AF-E1B4-78CA562835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807" y="2349247"/>
            <a:ext cx="2700793" cy="257339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1C8EA99-B640-37F4-557F-2D9FED1A20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421250"/>
            <a:ext cx="2576182" cy="265346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019A5AE-629D-5666-A869-485C4BCCB3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4874" y="2326886"/>
            <a:ext cx="3361678" cy="276574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46B08A4-2640-1FFB-FA46-B60D496549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708" y="2403338"/>
            <a:ext cx="3257532" cy="289048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AE3A02D-64DC-11F5-1D61-29482D495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890" y="5158885"/>
            <a:ext cx="3286584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4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6A973-6322-4716-F480-A0EB29A7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C45551-EE5C-A162-ECD9-891EFD2C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C5429C50-4794-C62D-515E-050D5962FE8F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8EB79-14B7-AC46-76C5-B2B3CD3AB089}"/>
              </a:ext>
            </a:extLst>
          </p:cNvPr>
          <p:cNvSpPr txBox="1"/>
          <p:nvPr/>
        </p:nvSpPr>
        <p:spPr>
          <a:xfrm>
            <a:off x="669697" y="1480008"/>
            <a:ext cx="5306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cust_tx_days_ratio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Доля дней с транзакциями среди всех дней для этого клиента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4072F-8B27-4D8A-04F4-0DA176F895B4}"/>
              </a:ext>
            </a:extLst>
          </p:cNvPr>
          <p:cNvSpPr txBox="1"/>
          <p:nvPr/>
        </p:nvSpPr>
        <p:spPr>
          <a:xfrm>
            <a:off x="6268825" y="1480008"/>
            <a:ext cx="5288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cust_max_tx_per_day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Максимальное число транзакций за один день за всё время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26024ED-7613-512B-AD32-3E6806EE7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105" y="5217515"/>
            <a:ext cx="3286584" cy="2191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94EF43E-E98D-7D0D-5B12-D3B0ACB16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5361" y="2209636"/>
            <a:ext cx="1781424" cy="287695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8DE89B7-8E57-FD2E-9249-DD57A49A03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0213" y="2382671"/>
            <a:ext cx="3404326" cy="270391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27A5AA8-6FBF-C75F-9D77-94F4B95EDB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020" y="2257267"/>
            <a:ext cx="2114845" cy="278168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F2A66BC-0E29-F253-468D-3A26E301DF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0905" y="2349247"/>
            <a:ext cx="2877717" cy="273734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FDBFFBC-B5F9-FB3B-E06C-59CF63315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493" y="5163968"/>
            <a:ext cx="3286584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00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CD6B8-690D-D87B-D87A-B0C6BCF3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18EE5-0F98-F1A6-C4B5-AE3F6E4D9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FA7E2899-25D0-14CB-A2D2-A8B52D5323D8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47F4D-668B-CB00-87A7-486108F23008}"/>
              </a:ext>
            </a:extLst>
          </p:cNvPr>
          <p:cNvSpPr txBox="1"/>
          <p:nvPr/>
        </p:nvSpPr>
        <p:spPr>
          <a:xfrm>
            <a:off x="669697" y="1480008"/>
            <a:ext cx="5306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cust_avg_interval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Средний интервал между транзакциями за всё время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26EAE-3D5A-1565-84D7-7448712AE0AF}"/>
              </a:ext>
            </a:extLst>
          </p:cNvPr>
          <p:cNvSpPr txBox="1"/>
          <p:nvPr/>
        </p:nvSpPr>
        <p:spPr>
          <a:xfrm>
            <a:off x="6268825" y="1480008"/>
            <a:ext cx="5288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cust_avg_tx_per_day_before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Среднее число транзакций в день у клиента до текущего дня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4C3A4BE-0D11-0855-566A-C80A88E54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277" y="5268439"/>
            <a:ext cx="3286584" cy="21910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D4CA28-3683-4DE8-A9D4-17072E6FD3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41" y="2308191"/>
            <a:ext cx="2114845" cy="273405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084B831-A6A3-FFC2-0631-42248BF517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7497" y="2297018"/>
            <a:ext cx="2105319" cy="280074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76F269F-AEFC-9FFA-914C-49C7BC71B8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6569" y="2297018"/>
            <a:ext cx="1838582" cy="287695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880CB23-8B06-29EB-D7D8-7BD6F369CB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508" y="2297018"/>
            <a:ext cx="1933845" cy="284837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E8F9F02-448B-F585-5E07-34B686398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068" y="5298361"/>
            <a:ext cx="3286584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96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E8D7B-313D-9544-09E4-EACB26C0C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B45F7-553D-E327-0EBA-D97F65BFF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E1C99B7C-6857-394A-813C-40488B59EC25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29353-9EAA-690A-2925-87B86F24D863}"/>
              </a:ext>
            </a:extLst>
          </p:cNvPr>
          <p:cNvSpPr txBox="1"/>
          <p:nvPr/>
        </p:nvSpPr>
        <p:spPr>
          <a:xfrm>
            <a:off x="669697" y="1480008"/>
            <a:ext cx="5306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tx_last_7_days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Количество транзакций за последние 7 дней у клиента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2BA789C-D98B-D023-ADE2-4335628A6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398" y="5230333"/>
            <a:ext cx="3286584" cy="2191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B0CC4F8-D226-9918-8381-103C9BA73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466" y="2325597"/>
            <a:ext cx="1714739" cy="274358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5E0A4FE-F0C4-A719-6618-63297BBDF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789" y="2254150"/>
            <a:ext cx="2095792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5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685D-8202-469A-891C-D1788F3E7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D42FB-96A7-58CB-D892-FE8CA60FC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506AF051-9788-B620-1F10-BE150E990DF4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A76380-DCFF-174D-70F8-1872DBE6CD97}"/>
              </a:ext>
            </a:extLst>
          </p:cNvPr>
          <p:cNvSpPr txBox="1"/>
          <p:nvPr/>
        </p:nvSpPr>
        <p:spPr>
          <a:xfrm>
            <a:off x="669695" y="1187778"/>
            <a:ext cx="1167941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000" b="1" dirty="0"/>
          </a:p>
          <a:p>
            <a:r>
              <a:rPr lang="ru-RU" sz="2000" b="1" dirty="0"/>
              <a:t>Третья группа признаков</a:t>
            </a:r>
            <a:r>
              <a:rPr lang="ru-RU" dirty="0"/>
              <a:t>(изначальные):</a:t>
            </a:r>
          </a:p>
          <a:p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A27A135-5AED-29FE-CB5A-77AD360F4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627225"/>
              </p:ext>
            </p:extLst>
          </p:nvPr>
        </p:nvGraphicFramePr>
        <p:xfrm>
          <a:off x="669695" y="2063813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709509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849858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24212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044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amount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Сумма транзакции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Непрерывный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493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Возраст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 категорий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712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 категории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626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Категорий покупки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13 категорий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9675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F5C1FAA-4B06-620F-7A70-8015676FE782}"/>
              </a:ext>
            </a:extLst>
          </p:cNvPr>
          <p:cNvSpPr txBox="1"/>
          <p:nvPr/>
        </p:nvSpPr>
        <p:spPr>
          <a:xfrm>
            <a:off x="669695" y="4193883"/>
            <a:ext cx="88677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Подготовка данных:</a:t>
            </a:r>
          </a:p>
          <a:p>
            <a:r>
              <a:rPr lang="ru-RU" dirty="0"/>
              <a:t>Удаляются идентификаторы, целевой признак.</a:t>
            </a:r>
          </a:p>
          <a:p>
            <a:r>
              <a:rPr lang="en-US" dirty="0"/>
              <a:t>category </a:t>
            </a:r>
            <a:r>
              <a:rPr lang="ru-RU" dirty="0"/>
              <a:t>и</a:t>
            </a:r>
            <a:r>
              <a:rPr lang="en-US" dirty="0"/>
              <a:t> gender </a:t>
            </a:r>
            <a:r>
              <a:rPr lang="ru-RU" dirty="0"/>
              <a:t>разбиваются на 13 и 4 бинарных признаков соответственно.</a:t>
            </a:r>
          </a:p>
          <a:p>
            <a:r>
              <a:rPr lang="ru-RU" dirty="0"/>
              <a:t>Остальные признаки стандартизируются.</a:t>
            </a:r>
          </a:p>
        </p:txBody>
      </p:sp>
    </p:spTree>
    <p:extLst>
      <p:ext uri="{BB962C8B-B14F-4D97-AF65-F5344CB8AC3E}">
        <p14:creationId xmlns:p14="http://schemas.microsoft.com/office/powerpoint/2010/main" val="2541021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D9188-6DB7-211C-A670-0D4175558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D6364-5086-3E64-9F96-4D07449F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6707B052-16A2-B235-1CE2-3D4A1BF60A08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F405B-943F-D9F5-6931-7C23D8DD4B58}"/>
              </a:ext>
            </a:extLst>
          </p:cNvPr>
          <p:cNvSpPr txBox="1"/>
          <p:nvPr/>
        </p:nvSpPr>
        <p:spPr>
          <a:xfrm>
            <a:off x="3365762" y="1178350"/>
            <a:ext cx="86251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Третья группа признаков(изначальные):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F88AB-B1A2-0992-47C2-9BD040CE6D03}"/>
              </a:ext>
            </a:extLst>
          </p:cNvPr>
          <p:cNvSpPr txBox="1"/>
          <p:nvPr/>
        </p:nvSpPr>
        <p:spPr>
          <a:xfrm>
            <a:off x="669697" y="1781666"/>
            <a:ext cx="3845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amount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сумма транзакции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D55F39-E133-7545-6458-FA552DE9C380}"/>
              </a:ext>
            </a:extLst>
          </p:cNvPr>
          <p:cNvSpPr txBox="1"/>
          <p:nvPr/>
        </p:nvSpPr>
        <p:spPr>
          <a:xfrm>
            <a:off x="6938128" y="1797930"/>
            <a:ext cx="398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возраст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2EFA11-50DE-1678-5BFE-8AEEC9986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63" y="2310430"/>
            <a:ext cx="2114845" cy="279121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6AB35C9-2B73-1CC3-934D-7A1A99568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8762" y="2345420"/>
            <a:ext cx="2613471" cy="262634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C608C9D-3F06-7C43-04A4-6D43BE4DF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092" y="2382393"/>
            <a:ext cx="2795044" cy="230834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988B1F4-8FE3-09CB-2195-2C74658BFE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0267" y="2382393"/>
            <a:ext cx="1771897" cy="2762636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95DC92A-2CE1-6B21-61D0-1EAF99FF7B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276" y="5151524"/>
            <a:ext cx="3286584" cy="21910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2E5B8BC-06E1-8DEC-03DF-CF0CCC5A7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8128" y="4971765"/>
            <a:ext cx="3286584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453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F41F4-838F-AF79-7E01-2F35A011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4CC0C9-1785-4B3B-1243-B7D70F2E6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FB85B2D5-D199-861C-B6A9-2EA9B18A9F7B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88990-930D-C522-9E5C-FD15808E93B3}"/>
              </a:ext>
            </a:extLst>
          </p:cNvPr>
          <p:cNvSpPr txBox="1"/>
          <p:nvPr/>
        </p:nvSpPr>
        <p:spPr>
          <a:xfrm>
            <a:off x="3365762" y="1178350"/>
            <a:ext cx="86251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Третья группа признаков(изначальные):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7E119-CDEE-B325-D366-4E7E49977A01}"/>
              </a:ext>
            </a:extLst>
          </p:cNvPr>
          <p:cNvSpPr txBox="1"/>
          <p:nvPr/>
        </p:nvSpPr>
        <p:spPr>
          <a:xfrm>
            <a:off x="669697" y="1781666"/>
            <a:ext cx="3845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gender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пол(4)</a:t>
            </a:r>
            <a:endParaRPr kumimoji="0" lang="ru-R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9AC33-50DC-2E72-45E5-48D8AADE69F1}"/>
              </a:ext>
            </a:extLst>
          </p:cNvPr>
          <p:cNvSpPr txBox="1"/>
          <p:nvPr/>
        </p:nvSpPr>
        <p:spPr>
          <a:xfrm>
            <a:off x="6938128" y="1797930"/>
            <a:ext cx="398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категория покупки(13) 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CA84F33-4458-6C4F-B370-915C513F0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76" y="4991527"/>
            <a:ext cx="3286584" cy="21910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54DD1F7-5FAA-FF19-26FD-7625C4CBA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627" y="5006065"/>
            <a:ext cx="3286584" cy="2191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EE8D134-69BA-AD2F-136B-97BC24C3E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568" y="2355207"/>
            <a:ext cx="3072309" cy="25777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308F1E9-2372-5C35-1BC1-AC643614A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2919" y="2355207"/>
            <a:ext cx="3656957" cy="250060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8843D84-112C-85CF-0435-59721B7DB2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557" y="2523338"/>
            <a:ext cx="2501541" cy="224148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7532D90-0684-0282-F99F-80EF782B4E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19043" y="2427066"/>
            <a:ext cx="3044779" cy="250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367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05D66-646F-22BF-3293-56F5F3C93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9BFFDC-685A-C7FC-C931-886F67CE8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206" y="-30756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</a:t>
            </a:r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ЛОКОТЬ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E7D799C0-A3BE-0215-E418-189FB54A36D7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13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0A23704-E48B-5B28-E48E-CC5BF3EDF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026" y="1329000"/>
            <a:ext cx="6685714" cy="4200000"/>
          </a:xfrm>
          <a:prstGeom prst="rect">
            <a:avLst/>
          </a:prstGeom>
        </p:spPr>
      </p:pic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0D51D159-8F52-41DD-6E46-1F5F2CAEC1ED}"/>
              </a:ext>
            </a:extLst>
          </p:cNvPr>
          <p:cNvGrpSpPr/>
          <p:nvPr/>
        </p:nvGrpSpPr>
        <p:grpSpPr>
          <a:xfrm>
            <a:off x="4105941" y="1611205"/>
            <a:ext cx="4957920" cy="2567160"/>
            <a:chOff x="4105941" y="1611205"/>
            <a:chExt cx="4957920" cy="256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Рукописный ввод 14">
                  <a:extLst>
                    <a:ext uri="{FF2B5EF4-FFF2-40B4-BE49-F238E27FC236}">
                      <a16:creationId xmlns:a16="http://schemas.microsoft.com/office/drawing/2014/main" id="{CB8EED34-EB8D-98B6-CE90-4A3D3E33C596}"/>
                    </a:ext>
                  </a:extLst>
                </p14:cNvPr>
                <p14:cNvContentPartPr/>
                <p14:nvPr/>
              </p14:nvContentPartPr>
              <p14:xfrm>
                <a:off x="4112421" y="3415525"/>
                <a:ext cx="12240" cy="653760"/>
              </p14:xfrm>
            </p:contentPart>
          </mc:Choice>
          <mc:Fallback xmlns="">
            <p:pic>
              <p:nvPicPr>
                <p:cNvPr id="15" name="Рукописный ввод 14">
                  <a:extLst>
                    <a:ext uri="{FF2B5EF4-FFF2-40B4-BE49-F238E27FC236}">
                      <a16:creationId xmlns:a16="http://schemas.microsoft.com/office/drawing/2014/main" id="{CB8EED34-EB8D-98B6-CE90-4A3D3E33C59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03781" y="3406525"/>
                  <a:ext cx="29880" cy="67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Рукописный ввод 15">
                  <a:extLst>
                    <a:ext uri="{FF2B5EF4-FFF2-40B4-BE49-F238E27FC236}">
                      <a16:creationId xmlns:a16="http://schemas.microsoft.com/office/drawing/2014/main" id="{3B882B60-0053-59CB-CA3F-B28FC34C0DD9}"/>
                    </a:ext>
                  </a:extLst>
                </p14:cNvPr>
                <p14:cNvContentPartPr/>
                <p14:nvPr/>
              </p14:nvContentPartPr>
              <p14:xfrm>
                <a:off x="4105941" y="3405805"/>
                <a:ext cx="646920" cy="772560"/>
              </p14:xfrm>
            </p:contentPart>
          </mc:Choice>
          <mc:Fallback xmlns="">
            <p:pic>
              <p:nvPicPr>
                <p:cNvPr id="16" name="Рукописный ввод 15">
                  <a:extLst>
                    <a:ext uri="{FF2B5EF4-FFF2-40B4-BE49-F238E27FC236}">
                      <a16:creationId xmlns:a16="http://schemas.microsoft.com/office/drawing/2014/main" id="{3B882B60-0053-59CB-CA3F-B28FC34C0D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96941" y="3397165"/>
                  <a:ext cx="66456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Рукописный ввод 17">
                  <a:extLst>
                    <a:ext uri="{FF2B5EF4-FFF2-40B4-BE49-F238E27FC236}">
                      <a16:creationId xmlns:a16="http://schemas.microsoft.com/office/drawing/2014/main" id="{01F21A7A-AA6B-596A-A06A-BD929B45324B}"/>
                    </a:ext>
                  </a:extLst>
                </p14:cNvPr>
                <p14:cNvContentPartPr/>
                <p14:nvPr/>
              </p14:nvContentPartPr>
              <p14:xfrm>
                <a:off x="4867341" y="2620285"/>
                <a:ext cx="1138320" cy="550080"/>
              </p14:xfrm>
            </p:contentPart>
          </mc:Choice>
          <mc:Fallback xmlns="">
            <p:pic>
              <p:nvPicPr>
                <p:cNvPr id="18" name="Рукописный ввод 17">
                  <a:extLst>
                    <a:ext uri="{FF2B5EF4-FFF2-40B4-BE49-F238E27FC236}">
                      <a16:creationId xmlns:a16="http://schemas.microsoft.com/office/drawing/2014/main" id="{01F21A7A-AA6B-596A-A06A-BD929B4532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58701" y="2611645"/>
                  <a:ext cx="115596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Рукописный ввод 18">
                  <a:extLst>
                    <a:ext uri="{FF2B5EF4-FFF2-40B4-BE49-F238E27FC236}">
                      <a16:creationId xmlns:a16="http://schemas.microsoft.com/office/drawing/2014/main" id="{2664370E-7BDE-496D-D344-9306D7FFADA6}"/>
                    </a:ext>
                  </a:extLst>
                </p14:cNvPr>
                <p14:cNvContentPartPr/>
                <p14:nvPr/>
              </p14:nvContentPartPr>
              <p14:xfrm>
                <a:off x="5163621" y="2647645"/>
                <a:ext cx="1076040" cy="552960"/>
              </p14:xfrm>
            </p:contentPart>
          </mc:Choice>
          <mc:Fallback xmlns="">
            <p:pic>
              <p:nvPicPr>
                <p:cNvPr id="19" name="Рукописный ввод 18">
                  <a:extLst>
                    <a:ext uri="{FF2B5EF4-FFF2-40B4-BE49-F238E27FC236}">
                      <a16:creationId xmlns:a16="http://schemas.microsoft.com/office/drawing/2014/main" id="{2664370E-7BDE-496D-D344-9306D7FFADA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54621" y="2639005"/>
                  <a:ext cx="109368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Рукописный ввод 19">
                  <a:extLst>
                    <a:ext uri="{FF2B5EF4-FFF2-40B4-BE49-F238E27FC236}">
                      <a16:creationId xmlns:a16="http://schemas.microsoft.com/office/drawing/2014/main" id="{58E36AEB-87E1-6F5A-963C-447E6AA70AD2}"/>
                    </a:ext>
                  </a:extLst>
                </p14:cNvPr>
                <p14:cNvContentPartPr/>
                <p14:nvPr/>
              </p14:nvContentPartPr>
              <p14:xfrm>
                <a:off x="5611821" y="2473765"/>
                <a:ext cx="1273680" cy="582480"/>
              </p14:xfrm>
            </p:contentPart>
          </mc:Choice>
          <mc:Fallback xmlns="">
            <p:pic>
              <p:nvPicPr>
                <p:cNvPr id="20" name="Рукописный ввод 19">
                  <a:extLst>
                    <a:ext uri="{FF2B5EF4-FFF2-40B4-BE49-F238E27FC236}">
                      <a16:creationId xmlns:a16="http://schemas.microsoft.com/office/drawing/2014/main" id="{58E36AEB-87E1-6F5A-963C-447E6AA70AD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03181" y="2464765"/>
                  <a:ext cx="129132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Рукописный ввод 20">
                  <a:extLst>
                    <a:ext uri="{FF2B5EF4-FFF2-40B4-BE49-F238E27FC236}">
                      <a16:creationId xmlns:a16="http://schemas.microsoft.com/office/drawing/2014/main" id="{D71AADF3-8F9D-CF42-1779-379CF9565621}"/>
                    </a:ext>
                  </a:extLst>
                </p14:cNvPr>
                <p14:cNvContentPartPr/>
                <p14:nvPr/>
              </p14:nvContentPartPr>
              <p14:xfrm>
                <a:off x="7395621" y="1926925"/>
                <a:ext cx="726480" cy="646560"/>
              </p14:xfrm>
            </p:contentPart>
          </mc:Choice>
          <mc:Fallback xmlns="">
            <p:pic>
              <p:nvPicPr>
                <p:cNvPr id="21" name="Рукописный ввод 20">
                  <a:extLst>
                    <a:ext uri="{FF2B5EF4-FFF2-40B4-BE49-F238E27FC236}">
                      <a16:creationId xmlns:a16="http://schemas.microsoft.com/office/drawing/2014/main" id="{D71AADF3-8F9D-CF42-1779-379CF956562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86981" y="1918285"/>
                  <a:ext cx="74412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Рукописный ввод 21">
                  <a:extLst>
                    <a:ext uri="{FF2B5EF4-FFF2-40B4-BE49-F238E27FC236}">
                      <a16:creationId xmlns:a16="http://schemas.microsoft.com/office/drawing/2014/main" id="{30985045-C874-B0C4-D628-ADFC1AA59E69}"/>
                    </a:ext>
                  </a:extLst>
                </p14:cNvPr>
                <p14:cNvContentPartPr/>
                <p14:nvPr/>
              </p14:nvContentPartPr>
              <p14:xfrm>
                <a:off x="7019061" y="1694005"/>
                <a:ext cx="117360" cy="860040"/>
              </p14:xfrm>
            </p:contentPart>
          </mc:Choice>
          <mc:Fallback xmlns="">
            <p:pic>
              <p:nvPicPr>
                <p:cNvPr id="22" name="Рукописный ввод 21">
                  <a:extLst>
                    <a:ext uri="{FF2B5EF4-FFF2-40B4-BE49-F238E27FC236}">
                      <a16:creationId xmlns:a16="http://schemas.microsoft.com/office/drawing/2014/main" id="{30985045-C874-B0C4-D628-ADFC1AA59E6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10061" y="1685365"/>
                  <a:ext cx="135000" cy="87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Рукописный ввод 22">
                  <a:extLst>
                    <a:ext uri="{FF2B5EF4-FFF2-40B4-BE49-F238E27FC236}">
                      <a16:creationId xmlns:a16="http://schemas.microsoft.com/office/drawing/2014/main" id="{B57AB006-3562-AF2C-6387-9312A94E927A}"/>
                    </a:ext>
                  </a:extLst>
                </p14:cNvPr>
                <p14:cNvContentPartPr/>
                <p14:nvPr/>
              </p14:nvContentPartPr>
              <p14:xfrm>
                <a:off x="7002501" y="1611205"/>
                <a:ext cx="2061360" cy="1168200"/>
              </p14:xfrm>
            </p:contentPart>
          </mc:Choice>
          <mc:Fallback xmlns="">
            <p:pic>
              <p:nvPicPr>
                <p:cNvPr id="23" name="Рукописный ввод 22">
                  <a:extLst>
                    <a:ext uri="{FF2B5EF4-FFF2-40B4-BE49-F238E27FC236}">
                      <a16:creationId xmlns:a16="http://schemas.microsoft.com/office/drawing/2014/main" id="{B57AB006-3562-AF2C-6387-9312A94E92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93861" y="1602565"/>
                  <a:ext cx="2079000" cy="118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78041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A146-16B7-9684-7A02-0A1A03C36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C8594A-F20C-A916-46A3-5CBA08DB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206" y="-30756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1828B94B-0A6F-4C6E-94CF-EE727149560E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A6135C-C8DC-F0E1-CA39-2B9ABFE58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8491"/>
            <a:ext cx="6803236" cy="2267746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249FCA44-9ADF-554B-6290-0681FCFB82BA}"/>
              </a:ext>
            </a:extLst>
          </p:cNvPr>
          <p:cNvGrpSpPr/>
          <p:nvPr/>
        </p:nvGrpSpPr>
        <p:grpSpPr>
          <a:xfrm>
            <a:off x="134061" y="1882645"/>
            <a:ext cx="450720" cy="303840"/>
            <a:chOff x="134061" y="1882645"/>
            <a:chExt cx="45072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Рукописный ввод 6">
                  <a:extLst>
                    <a:ext uri="{FF2B5EF4-FFF2-40B4-BE49-F238E27FC236}">
                      <a16:creationId xmlns:a16="http://schemas.microsoft.com/office/drawing/2014/main" id="{7E6A707B-6FB3-1469-7B24-03FEFD746BF9}"/>
                    </a:ext>
                  </a:extLst>
                </p14:cNvPr>
                <p14:cNvContentPartPr/>
                <p14:nvPr/>
              </p14:nvContentPartPr>
              <p14:xfrm>
                <a:off x="161061" y="2150845"/>
                <a:ext cx="340200" cy="9720"/>
              </p14:xfrm>
            </p:contentPart>
          </mc:Choice>
          <mc:Fallback xmlns="">
            <p:pic>
              <p:nvPicPr>
                <p:cNvPr id="7" name="Рукописный ввод 6">
                  <a:extLst>
                    <a:ext uri="{FF2B5EF4-FFF2-40B4-BE49-F238E27FC236}">
                      <a16:creationId xmlns:a16="http://schemas.microsoft.com/office/drawing/2014/main" id="{7E6A707B-6FB3-1469-7B24-03FEFD746BF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2421" y="2142205"/>
                  <a:ext cx="357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Рукописный ввод 7">
                  <a:extLst>
                    <a:ext uri="{FF2B5EF4-FFF2-40B4-BE49-F238E27FC236}">
                      <a16:creationId xmlns:a16="http://schemas.microsoft.com/office/drawing/2014/main" id="{9A5879AB-EC30-E36A-3A65-462CA694EA3D}"/>
                    </a:ext>
                  </a:extLst>
                </p14:cNvPr>
                <p14:cNvContentPartPr/>
                <p14:nvPr/>
              </p14:nvContentPartPr>
              <p14:xfrm>
                <a:off x="134061" y="1953925"/>
                <a:ext cx="27720" cy="232560"/>
              </p14:xfrm>
            </p:contentPart>
          </mc:Choice>
          <mc:Fallback xmlns="">
            <p:pic>
              <p:nvPicPr>
                <p:cNvPr id="8" name="Рукописный ввод 7">
                  <a:extLst>
                    <a:ext uri="{FF2B5EF4-FFF2-40B4-BE49-F238E27FC236}">
                      <a16:creationId xmlns:a16="http://schemas.microsoft.com/office/drawing/2014/main" id="{9A5879AB-EC30-E36A-3A65-462CA694EA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5061" y="1945285"/>
                  <a:ext cx="453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698949D2-41D9-57A4-5751-3B5094FA225A}"/>
                    </a:ext>
                  </a:extLst>
                </p14:cNvPr>
                <p14:cNvContentPartPr/>
                <p14:nvPr/>
              </p14:nvContentPartPr>
              <p14:xfrm>
                <a:off x="161061" y="1900285"/>
                <a:ext cx="423720" cy="235080"/>
              </p14:xfrm>
            </p:contentPart>
          </mc:Choice>
          <mc:Fallback xmlns=""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698949D2-41D9-57A4-5751-3B5094FA22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2421" y="1891285"/>
                  <a:ext cx="441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Рукописный ввод 14">
                  <a:extLst>
                    <a:ext uri="{FF2B5EF4-FFF2-40B4-BE49-F238E27FC236}">
                      <a16:creationId xmlns:a16="http://schemas.microsoft.com/office/drawing/2014/main" id="{0B70F49F-24CD-8217-D73C-46B64FB4352F}"/>
                    </a:ext>
                  </a:extLst>
                </p14:cNvPr>
                <p14:cNvContentPartPr/>
                <p14:nvPr/>
              </p14:nvContentPartPr>
              <p14:xfrm>
                <a:off x="134421" y="1882645"/>
                <a:ext cx="9720" cy="88920"/>
              </p14:xfrm>
            </p:contentPart>
          </mc:Choice>
          <mc:Fallback xmlns="">
            <p:pic>
              <p:nvPicPr>
                <p:cNvPr id="15" name="Рукописный ввод 14">
                  <a:extLst>
                    <a:ext uri="{FF2B5EF4-FFF2-40B4-BE49-F238E27FC236}">
                      <a16:creationId xmlns:a16="http://schemas.microsoft.com/office/drawing/2014/main" id="{0B70F49F-24CD-8217-D73C-46B64FB4352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5421" y="1873645"/>
                  <a:ext cx="2736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A6ACE356-D7D0-5774-D1C5-48F43F897C22}"/>
              </a:ext>
            </a:extLst>
          </p:cNvPr>
          <p:cNvGrpSpPr/>
          <p:nvPr/>
        </p:nvGrpSpPr>
        <p:grpSpPr>
          <a:xfrm>
            <a:off x="3729021" y="1898125"/>
            <a:ext cx="927000" cy="312120"/>
            <a:chOff x="3729021" y="1898125"/>
            <a:chExt cx="927000" cy="31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Рукописный ввод 19">
                  <a:extLst>
                    <a:ext uri="{FF2B5EF4-FFF2-40B4-BE49-F238E27FC236}">
                      <a16:creationId xmlns:a16="http://schemas.microsoft.com/office/drawing/2014/main" id="{BFED4645-5221-A69A-3BE1-CA0032E971B8}"/>
                    </a:ext>
                  </a:extLst>
                </p14:cNvPr>
                <p14:cNvContentPartPr/>
                <p14:nvPr/>
              </p14:nvContentPartPr>
              <p14:xfrm>
                <a:off x="3738021" y="1918285"/>
                <a:ext cx="10080" cy="291960"/>
              </p14:xfrm>
            </p:contentPart>
          </mc:Choice>
          <mc:Fallback xmlns="">
            <p:pic>
              <p:nvPicPr>
                <p:cNvPr id="20" name="Рукописный ввод 19">
                  <a:extLst>
                    <a:ext uri="{FF2B5EF4-FFF2-40B4-BE49-F238E27FC236}">
                      <a16:creationId xmlns:a16="http://schemas.microsoft.com/office/drawing/2014/main" id="{BFED4645-5221-A69A-3BE1-CA0032E971B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29381" y="1909285"/>
                  <a:ext cx="2772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Рукописный ввод 20">
                  <a:extLst>
                    <a:ext uri="{FF2B5EF4-FFF2-40B4-BE49-F238E27FC236}">
                      <a16:creationId xmlns:a16="http://schemas.microsoft.com/office/drawing/2014/main" id="{6D3FDB1B-9E7C-4077-474F-CD083BDAD1A8}"/>
                    </a:ext>
                  </a:extLst>
                </p14:cNvPr>
                <p14:cNvContentPartPr/>
                <p14:nvPr/>
              </p14:nvContentPartPr>
              <p14:xfrm>
                <a:off x="3729021" y="1898125"/>
                <a:ext cx="927000" cy="302760"/>
              </p14:xfrm>
            </p:contentPart>
          </mc:Choice>
          <mc:Fallback xmlns="">
            <p:pic>
              <p:nvPicPr>
                <p:cNvPr id="21" name="Рукописный ввод 20">
                  <a:extLst>
                    <a:ext uri="{FF2B5EF4-FFF2-40B4-BE49-F238E27FC236}">
                      <a16:creationId xmlns:a16="http://schemas.microsoft.com/office/drawing/2014/main" id="{6D3FDB1B-9E7C-4077-474F-CD083BDAD1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20021" y="1889125"/>
                  <a:ext cx="944640" cy="320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59ACC52-5E15-5243-330D-E7B7E1AD4B6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30236" y="1498491"/>
            <a:ext cx="5006921" cy="22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5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4C9FC-9A64-9120-A1F9-1A6747529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C5B118-B784-6230-A92C-74611A69C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206" y="-30756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FRAUD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8F148579-EC39-3567-ECDE-9F84D590BF73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5D400B-106A-4B48-493C-8727D022B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0536"/>
            <a:ext cx="12192000" cy="435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992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A0D6B-D334-1BCF-2262-D0328894A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BCBBF8-82BA-E9C4-CB83-CAFAF1148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206" y="-30756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 СРЕДНИХ РАСШИРЕННЫЙ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717E9DE0-2DCD-80DB-9171-39892D91A759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2ADA68-C171-A8F9-AFF2-900E7917B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3421"/>
            <a:ext cx="12192000" cy="479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98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A0D6B-D334-1BCF-2262-D0328894A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BCBBF8-82BA-E9C4-CB83-CAFAF1148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206" y="-30756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 СРЕДНИХ РАСШИРЕННЫЙ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717E9DE0-2DCD-80DB-9171-39892D91A759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6C3D0DA-5DDB-DD60-453B-74BB2C02A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7756"/>
            <a:ext cx="12192000" cy="372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90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BCA7-2C59-E589-BD89-62AAC178F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288FB-1012-1D51-3ECD-2E4409D1C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206" y="-30756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ИНТЕРПРЕТАЦИЯ 6 КЛАСТЕРА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E9CDE92D-C26D-81FA-02A2-3FFCBA1E7433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65132-FCAC-4BD0-02F0-D46BC0CF79E5}"/>
              </a:ext>
            </a:extLst>
          </p:cNvPr>
          <p:cNvSpPr txBox="1"/>
          <p:nvPr/>
        </p:nvSpPr>
        <p:spPr>
          <a:xfrm>
            <a:off x="1649505" y="1140672"/>
            <a:ext cx="690477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1. Высокие суммы транзакций</a:t>
            </a:r>
          </a:p>
          <a:p>
            <a:r>
              <a:rPr lang="ru-RU" b="1" dirty="0" err="1"/>
              <a:t>Amount</a:t>
            </a:r>
            <a:r>
              <a:rPr lang="ru-RU" b="1" dirty="0"/>
              <a:t> </a:t>
            </a:r>
            <a:r>
              <a:rPr lang="ru-RU" dirty="0"/>
              <a:t>- </a:t>
            </a:r>
            <a:r>
              <a:rPr lang="ru-RU" b="1" dirty="0"/>
              <a:t>самый высокий</a:t>
            </a:r>
            <a:r>
              <a:rPr lang="ru-RU" dirty="0"/>
              <a:t> среди всех кластеров</a:t>
            </a:r>
            <a:endParaRPr lang="en-US" dirty="0"/>
          </a:p>
          <a:p>
            <a:r>
              <a:rPr lang="ru-RU" b="1" dirty="0"/>
              <a:t>Вывод:</a:t>
            </a:r>
            <a:r>
              <a:rPr lang="ru-RU" dirty="0"/>
              <a:t> В этом кластере происходят крупные финансовые операции</a:t>
            </a:r>
          </a:p>
          <a:p>
            <a:endParaRPr lang="ru-RU" dirty="0"/>
          </a:p>
          <a:p>
            <a:r>
              <a:rPr lang="ru-RU" b="1" dirty="0"/>
              <a:t>2. Низкая транзакционная активность</a:t>
            </a:r>
          </a:p>
          <a:p>
            <a:r>
              <a:rPr lang="ru-RU" b="1" dirty="0" err="1"/>
              <a:t>cust_total_tx</a:t>
            </a:r>
            <a:r>
              <a:rPr lang="ru-RU" b="1" dirty="0"/>
              <a:t> </a:t>
            </a:r>
            <a:r>
              <a:rPr lang="ru-RU" dirty="0"/>
              <a:t>- очень мало транзакций за всё время</a:t>
            </a:r>
          </a:p>
          <a:p>
            <a:r>
              <a:rPr lang="ru-RU" b="1" dirty="0" err="1"/>
              <a:t>cust_tx_before</a:t>
            </a:r>
            <a:r>
              <a:rPr lang="ru-RU" b="1" dirty="0"/>
              <a:t> </a:t>
            </a:r>
            <a:r>
              <a:rPr lang="ru-RU" dirty="0"/>
              <a:t>- мало транзакций до текущей</a:t>
            </a:r>
          </a:p>
          <a:p>
            <a:r>
              <a:rPr lang="ru-RU" b="1" dirty="0"/>
              <a:t>Вывод:</a:t>
            </a:r>
            <a:r>
              <a:rPr lang="ru-RU" dirty="0"/>
              <a:t> Клиенты совершают редкие, но крупные операции</a:t>
            </a:r>
          </a:p>
          <a:p>
            <a:endParaRPr lang="ru-RU" dirty="0"/>
          </a:p>
          <a:p>
            <a:r>
              <a:rPr lang="ru-RU" b="1" dirty="0"/>
              <a:t>3. Признак мошенничества</a:t>
            </a:r>
          </a:p>
          <a:p>
            <a:r>
              <a:rPr lang="en-US" b="1" dirty="0" err="1"/>
              <a:t>seen_merchant_before</a:t>
            </a:r>
            <a:r>
              <a:rPr lang="ru-RU" b="1" dirty="0"/>
              <a:t> </a:t>
            </a:r>
            <a:r>
              <a:rPr lang="ru-RU" dirty="0"/>
              <a:t>- высокий показатель</a:t>
            </a:r>
          </a:p>
          <a:p>
            <a:r>
              <a:rPr lang="ru-RU" b="1" dirty="0"/>
              <a:t>Вывод:</a:t>
            </a:r>
            <a:r>
              <a:rPr lang="ru-RU" dirty="0"/>
              <a:t> Клиенты взаимодействуют с уже знакомыми </a:t>
            </a:r>
            <a:r>
              <a:rPr lang="ru-RU" dirty="0" err="1"/>
              <a:t>мерчантами</a:t>
            </a:r>
            <a:endParaRPr lang="ru-RU" dirty="0"/>
          </a:p>
          <a:p>
            <a:endParaRPr lang="ru-RU" dirty="0"/>
          </a:p>
          <a:p>
            <a:r>
              <a:rPr lang="ru-RU" b="1" dirty="0"/>
              <a:t>4. Низкая регулярность</a:t>
            </a:r>
          </a:p>
          <a:p>
            <a:r>
              <a:rPr lang="en-US" b="1" dirty="0" err="1"/>
              <a:t>cust_tx_days_ratio</a:t>
            </a:r>
            <a:r>
              <a:rPr lang="ru-RU" b="1" dirty="0"/>
              <a:t> </a:t>
            </a:r>
            <a:r>
              <a:rPr lang="ru-RU" dirty="0"/>
              <a:t>- очень низкая регулярность транзакций</a:t>
            </a:r>
          </a:p>
          <a:p>
            <a:r>
              <a:rPr lang="ru-RU" b="1" dirty="0"/>
              <a:t>Вывод:</a:t>
            </a:r>
            <a:r>
              <a:rPr lang="ru-RU" dirty="0"/>
              <a:t> Непостоянное, спорадическое поведение</a:t>
            </a:r>
          </a:p>
        </p:txBody>
      </p:sp>
    </p:spTree>
    <p:extLst>
      <p:ext uri="{BB962C8B-B14F-4D97-AF65-F5344CB8AC3E}">
        <p14:creationId xmlns:p14="http://schemas.microsoft.com/office/powerpoint/2010/main" val="2411461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C567C-4302-B1D7-D08B-1139F7C4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4B5ED-0325-8F2B-9E57-65818A7D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522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признаков - 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ADD-DEL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9886E805-901C-2FDF-8337-71BC14C4B437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79679-5FFC-70E0-0DF1-AB0A56FC38DF}"/>
              </a:ext>
            </a:extLst>
          </p:cNvPr>
          <p:cNvSpPr txBox="1"/>
          <p:nvPr/>
        </p:nvSpPr>
        <p:spPr>
          <a:xfrm>
            <a:off x="299025" y="1257100"/>
            <a:ext cx="112569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  <a:p>
            <a:r>
              <a:rPr lang="ru-RU" dirty="0"/>
              <a:t>В качестве функционала качества для всех алгоритмов отбора признаков была выбрана метрика </a:t>
            </a:r>
            <a:r>
              <a:rPr lang="en-US" b="1" dirty="0"/>
              <a:t>F1-score</a:t>
            </a:r>
            <a:r>
              <a:rPr lang="ru-RU" dirty="0"/>
              <a:t>, которая вычислялась по результатам кросс-валидации алгоритма </a:t>
            </a:r>
            <a:r>
              <a:rPr lang="en-US" b="1" dirty="0"/>
              <a:t>SVM</a:t>
            </a:r>
            <a:r>
              <a:rPr lang="en-US" dirty="0"/>
              <a:t> </a:t>
            </a:r>
            <a:r>
              <a:rPr lang="ru-RU" dirty="0"/>
              <a:t> с линейным ядром и сбалансированными весами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r>
              <a:rPr lang="ru-RU" dirty="0"/>
              <a:t>Алгоритм </a:t>
            </a:r>
            <a:r>
              <a:rPr lang="ru-RU" b="1" dirty="0" err="1"/>
              <a:t>Add-Del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На каждой итерации:</a:t>
            </a:r>
          </a:p>
          <a:p>
            <a:pPr lvl="2"/>
            <a:r>
              <a:rPr lang="ru-RU" b="1" dirty="0"/>
              <a:t>ADD-фаза</a:t>
            </a:r>
            <a:r>
              <a:rPr lang="ru-RU" dirty="0"/>
              <a:t>: на каждой итерации: для всех неиспользуемых признаков — временно добавляет каждый, оценивает качество, выбирает тот, что максимизирует </a:t>
            </a:r>
            <a:r>
              <a:rPr lang="ru-RU" b="1" dirty="0"/>
              <a:t>F1</a:t>
            </a:r>
            <a:r>
              <a:rPr lang="ru-RU" dirty="0"/>
              <a:t>, добавляет в набор если есть улучшение.</a:t>
            </a:r>
          </a:p>
          <a:p>
            <a:pPr lvl="2"/>
            <a:r>
              <a:rPr lang="ru-RU" dirty="0"/>
              <a:t>Критерий останова: если в течение d итераций не было улучшения.</a:t>
            </a:r>
          </a:p>
          <a:p>
            <a:pPr lvl="2"/>
            <a:r>
              <a:rPr lang="ru-RU" b="1" dirty="0"/>
              <a:t>DEL-фаза</a:t>
            </a:r>
            <a:r>
              <a:rPr lang="ru-RU" dirty="0"/>
              <a:t>: на каждой итерации: для всех текущих признаков — временно удаляет каждый, выбирает тот, чьё удаление наиболее улучшает </a:t>
            </a:r>
            <a:r>
              <a:rPr lang="ru-RU" b="1" dirty="0"/>
              <a:t>F1</a:t>
            </a:r>
            <a:r>
              <a:rPr lang="ru-RU" dirty="0"/>
              <a:t>, удаляет из набора если есть улучшение.</a:t>
            </a:r>
          </a:p>
          <a:p>
            <a:pPr lvl="2"/>
            <a:r>
              <a:rPr lang="ru-RU" dirty="0"/>
              <a:t>Критерий останова: если в течение d итераций не было улучшения.</a:t>
            </a:r>
          </a:p>
          <a:p>
            <a:pPr lvl="1"/>
            <a:r>
              <a:rPr lang="ru-RU" dirty="0"/>
              <a:t>Критерий останова: не было улучшения в обеих фазах.</a:t>
            </a:r>
          </a:p>
        </p:txBody>
      </p:sp>
    </p:spTree>
    <p:extLst>
      <p:ext uri="{BB962C8B-B14F-4D97-AF65-F5344CB8AC3E}">
        <p14:creationId xmlns:p14="http://schemas.microsoft.com/office/powerpoint/2010/main" val="644111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30E02-6010-BA05-78DF-60440587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2050D-FE09-3C53-CB75-14BA8EAE5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ADD-DEL(python)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641F3B97-B740-CE9C-D13E-6DD12426FB5A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B73AD-1051-EEF7-25EF-C382FCFAAE2B}"/>
              </a:ext>
            </a:extLst>
          </p:cNvPr>
          <p:cNvSpPr txBox="1"/>
          <p:nvPr/>
        </p:nvSpPr>
        <p:spPr>
          <a:xfrm>
            <a:off x="354843" y="1257100"/>
            <a:ext cx="714889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add_del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(X, y, d=2, cv=3,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=123, metric='f1'):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print(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(X), 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’) """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Алгоритм поочередного добавления и удаления признаков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Add-Del)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Parameters: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X : array-like, shape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n_samples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Матрица признаков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 : array-like, shape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n_samples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Вектор целевой переменной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 : int, default=2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Количество итераций без улучшения для остановки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cv : int, default=3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Количество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фолдов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для кросс-валидации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int, default=42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Seed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для воспроизводимости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 : str, default='f1'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45E9B-9273-C0D8-F686-0AF6A13569E5}"/>
              </a:ext>
            </a:extLst>
          </p:cNvPr>
          <p:cNvSpPr txBox="1"/>
          <p:nvPr/>
        </p:nvSpPr>
        <p:spPr>
          <a:xfrm>
            <a:off x="7880808" y="1159497"/>
            <a:ext cx="395634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Параметры/вывод алгоритма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list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Лучший набор признаков (индексы)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history 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dict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История изменений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 количества признаков """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3425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FA611-CCC9-8D1B-3A62-50389E6D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6D76A-577F-E8D8-EB3B-A998A0E6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ADD-DEL(python)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C9555166-911F-659E-5C35-AE280D114DE9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BF4089-3572-C14B-E34D-96F286284A4D}"/>
              </a:ext>
            </a:extLst>
          </p:cNvPr>
          <p:cNvSpPr txBox="1"/>
          <p:nvPr/>
        </p:nvSpPr>
        <p:spPr>
          <a:xfrm>
            <a:off x="7129806" y="1184096"/>
            <a:ext cx="470735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Объявление переменных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n_samples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X.shape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set() 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Текущий набор признаков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set() 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Лучший набор признаков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float('inf') 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Лучшее значение критерия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 = 0 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Счетчик итераций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0 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Итерация с лучшим результатом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История для графика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history = {'Q': [], 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': [], 'iteration': [], 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': []}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Игнорируем предупреждения о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warnings.filterwarnings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("ignore", category=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UndefinedMetricWarning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Запуск цикла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while True: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6D64C-93B3-E911-6BD5-BCEFE9E83309}"/>
              </a:ext>
            </a:extLst>
          </p:cNvPr>
          <p:cNvSpPr txBox="1"/>
          <p:nvPr/>
        </p:nvSpPr>
        <p:spPr>
          <a:xfrm>
            <a:off x="354843" y="1257100"/>
            <a:ext cx="664298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Вычисление критерия качества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 помощью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SVM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calculate_Q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== 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return float('inf'),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feature_indices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list(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X_subset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X[:,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feature_indices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svm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SVC(kernel='linear',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class_weight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='balanced')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Оценка качества с помощью кросс-валидации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scores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cross_val_score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svm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X_subset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y, cv=cv, scoring=metric)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np.mean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(scores)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return 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Минимизируем -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 минусом, потому что задача на минимум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#, а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f1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чем больше, тем лучше)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304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941EF-D4FB-1C21-DC29-34D17F797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CA6EE2-66FE-3BF0-156E-F8845D4A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ADD-DEL(python)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98CF5A88-892C-4979-6F5B-FCF8CCEED166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9D6DC4-68A7-6D70-38E1-E26062621AF8}"/>
              </a:ext>
            </a:extLst>
          </p:cNvPr>
          <p:cNvSpPr txBox="1"/>
          <p:nvPr/>
        </p:nvSpPr>
        <p:spPr>
          <a:xfrm>
            <a:off x="354843" y="1257100"/>
            <a:ext cx="640417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Фаза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ADD: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добавляем признаки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add_improved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False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while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t +=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J_t.copy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Находим лучший признак для добавления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best_feature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None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float('inf')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0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available_features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set(range(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)) 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current_features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print(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f"ADD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фаза: проверка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available_features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)}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признаков для добавления...")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feature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available_features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| {feature}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Q,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calculate_Q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if Q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Q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best_feature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feature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Добавляем лучший признак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J_t.add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best_feature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F105C-85CB-305C-8CAC-46538C52E0EA}"/>
              </a:ext>
            </a:extLst>
          </p:cNvPr>
          <p:cNvSpPr txBox="1"/>
          <p:nvPr/>
        </p:nvSpPr>
        <p:spPr>
          <a:xfrm>
            <a:off x="5638095" y="1191112"/>
            <a:ext cx="664298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Обновляем историю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history['Q'].append(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history['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'].append(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history['iteration'].append(t)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history['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'].append(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Проверяем улучшение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J_t.copy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add_improved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print(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f"Iteration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{t}: Q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улучшен до 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Q_best:.4f}, {metric}={best_metric_val:.4f},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признаков: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)}")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else: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print(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f"Iteration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{t}: Q={best_Q:.4f}, {metric}={best_metric_val:.4f},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признаков: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)}")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Проверка условия остановки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t 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&gt;= 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Остановка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ADD: {d}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итераций без улучшения")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2710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9EDAD-AE6E-20D8-DB7C-3FCAD0061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C8B0D-2285-8F5E-42BB-83F48278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ADD-DEL(python)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9C288019-CE1C-91DA-DD56-0A7D8B2F68C8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DD7D7-9C0B-AC8A-CD65-ABEA6924576D}"/>
              </a:ext>
            </a:extLst>
          </p:cNvPr>
          <p:cNvSpPr txBox="1"/>
          <p:nvPr/>
        </p:nvSpPr>
        <p:spPr>
          <a:xfrm>
            <a:off x="354843" y="1257100"/>
            <a:ext cx="640417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Фаза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DEL: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удаляем признаки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del_improved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False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while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&gt; 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t +=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J_t.copy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Находим худший признак для удаления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bad_feature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None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float('inf')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print(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f"DEL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фаза: проверка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)}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признаков для удаления...")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feature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{feature}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calculate_Q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Q_val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bad_feature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feature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Удаляем худший признак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J_t.remove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bad_feature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FCDBA7-6A51-0861-465F-CD92FA5DB018}"/>
              </a:ext>
            </a:extLst>
          </p:cNvPr>
          <p:cNvSpPr txBox="1"/>
          <p:nvPr/>
        </p:nvSpPr>
        <p:spPr>
          <a:xfrm>
            <a:off x="5638095" y="1191112"/>
            <a:ext cx="664298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Обновляем историю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history['Q'].append(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history['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'].append(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history['iteration'].append(t)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history['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'].append(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Проверяем улучшение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J_t.copy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del_improved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True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print(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f"Iteration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{t}: Q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улучшен до 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Q_best:.4f}, {metric}={best_metric_val:.4f},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признаков: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)}")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else: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print(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f"Iteration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{t}: Q={best_Q:.4f}, {metric}={best_metric_val:.4f},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признаков: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)}")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Проверка условия остановки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t 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&gt;= 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Остановка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DEL: {d}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итераций без улучшения")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648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58E1-BF4D-CE2C-D72A-A825AAEE7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952B3-0FF7-4B15-57CF-3BAE67D09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ADD-DEL(python)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805FABED-E8B5-F76B-8057-F1246F779D6F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588D5-CC45-9012-6C3B-9013697FAB01}"/>
              </a:ext>
            </a:extLst>
          </p:cNvPr>
          <p:cNvSpPr txBox="1"/>
          <p:nvPr/>
        </p:nvSpPr>
        <p:spPr>
          <a:xfrm>
            <a:off x="1033574" y="1407929"/>
            <a:ext cx="640417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Завершение работы алгоритма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Проверяем, нужно ли выходить после фазы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if t 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&gt;= 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break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Если не было улучшений в обеих фазах, выходим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not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add_improved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not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del_improved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print("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Остановка: нет улучшений в обеих фазах")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print(f"\n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Алгоритм завершен.")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Лучший набор: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)}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признаков,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 = {Q_best:.4f}")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return list(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), history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F74547-DEF7-1189-8D60-8B8AA7B34866}"/>
              </a:ext>
            </a:extLst>
          </p:cNvPr>
          <p:cNvSpPr txBox="1"/>
          <p:nvPr/>
        </p:nvSpPr>
        <p:spPr>
          <a:xfrm>
            <a:off x="5638095" y="1191112"/>
            <a:ext cx="66429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011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C567C-4302-B1D7-D08B-1139F7C4C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4B5ED-0325-8F2B-9E57-65818A7D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ADD-DEL(python)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9886E805-901C-2FDF-8337-71BC14C4B437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79679-5FFC-70E0-0DF1-AB0A56FC38DF}"/>
              </a:ext>
            </a:extLst>
          </p:cNvPr>
          <p:cNvSpPr txBox="1"/>
          <p:nvPr/>
        </p:nvSpPr>
        <p:spPr>
          <a:xfrm>
            <a:off x="299025" y="1257100"/>
            <a:ext cx="112569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Вывод алгоритма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Iteration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1: Q улучшен до -0.5195, f1=0.5195, признаков: 1 ADD фаза: проверка 31 признаков для добавления...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Iteration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2: Q улучшен до -0.5383, f1=0.5383, признаков: 2 ADD фаза: проверка 30 признаков для добавления...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Iteration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3: Q улучшен до -0.5526, f1=0.5526, признаков: 3 ADD фаза: проверка 29 признаков для добавления...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Iteration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4: Q улучшен до -0.5641, f1=0.5641, признаков: 4 ADD фаза: проверка 28 признаков для добавления...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Iteration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5: Q улучшен до -0.5744, f1=0.5744, признаков: 5 ADD фаза: проверка 27 признаков для добавления...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Iteration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6: Q улучшен до -0.5807, f1=0.5807, признаков: 6 ADD фаза: проверка 26 признаков для добавления...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Iteration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7: Q улучшен до -0.5852, f1=0.5852, признаков: 7 ADD фаза: проверка 25 признаков для добавления...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Iteration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8: Q=-0.5852, f1=0.5852, признаков: 8 ADD фаза: проверка 24 признаков для добавления...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Iteration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9: Q=-0.5852, f1=0.5852, признаков: 9 Остановка ADD: 2 итераций без улучшения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 фаза: проверка 9 признаков для удаления...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Iteration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10: Q=-0.5852, f1=0.5852, признаков: 8 Остановка DEL: 2 итераций без улучшения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Алгоритм завершен. Лучший набор: 7 признаков, Q = -0.5852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A39D2-79A7-7C68-EEA0-BC64FF0F7391}"/>
              </a:ext>
            </a:extLst>
          </p:cNvPr>
          <p:cNvSpPr txBox="1"/>
          <p:nvPr/>
        </p:nvSpPr>
        <p:spPr>
          <a:xfrm>
            <a:off x="5638095" y="1191112"/>
            <a:ext cx="66429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79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56E75-4C9F-FF28-35B9-569837FCB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49AF5-CE65-9977-A177-B6280C299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ADD-DEL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AAD14A3B-B372-DCB6-6380-66E8A21C1DB6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26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1738F-AB47-E1DE-4C59-20B00D6F8A06}"/>
              </a:ext>
            </a:extLst>
          </p:cNvPr>
          <p:cNvSpPr txBox="1"/>
          <p:nvPr/>
        </p:nvSpPr>
        <p:spPr>
          <a:xfrm>
            <a:off x="1033574" y="1430404"/>
            <a:ext cx="640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График </a:t>
            </a:r>
            <a:r>
              <a:rPr lang="en-US" b="1" dirty="0"/>
              <a:t>Q/</a:t>
            </a:r>
            <a:r>
              <a:rPr lang="ru-RU" b="1" dirty="0"/>
              <a:t>количество признаков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2A3D012-CEBA-C6FF-CDAC-3F4721DCC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77" y="1822440"/>
            <a:ext cx="5115639" cy="42773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64EC58-F987-E250-BEC4-F062B410AA2C}"/>
              </a:ext>
            </a:extLst>
          </p:cNvPr>
          <p:cNvSpPr txBox="1"/>
          <p:nvPr/>
        </p:nvSpPr>
        <p:spPr>
          <a:xfrm>
            <a:off x="6273038" y="1502925"/>
            <a:ext cx="59189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Названия отобранных признаков:</a:t>
            </a:r>
            <a:r>
              <a:rPr lang="ru-RU" dirty="0"/>
              <a:t> </a:t>
            </a:r>
          </a:p>
          <a:p>
            <a:r>
              <a:rPr lang="ru-RU" dirty="0"/>
              <a:t>1. </a:t>
            </a:r>
            <a:r>
              <a:rPr lang="en-US" dirty="0"/>
              <a:t>amount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Сумма транзакции</a:t>
            </a:r>
            <a:endParaRPr lang="ru-RU" dirty="0"/>
          </a:p>
          <a:p>
            <a:r>
              <a:rPr lang="en-US" dirty="0"/>
              <a:t>2. </a:t>
            </a:r>
            <a:r>
              <a:rPr lang="en-US" dirty="0" err="1"/>
              <a:t>cust_unique_merch_total</a:t>
            </a:r>
            <a:r>
              <a:rPr lang="en-US" dirty="0"/>
              <a:t>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Количество уникальных </a:t>
            </a:r>
            <a:r>
              <a:rPr lang="ru-RU" dirty="0" err="1">
                <a:solidFill>
                  <a:srgbClr val="008000"/>
                </a:solidFill>
                <a:ea typeface="+mn-lt"/>
                <a:cs typeface="+mn-lt"/>
              </a:rPr>
              <a:t>мерчантов</a:t>
            </a:r>
            <a:endParaRPr lang="ru-RU" dirty="0"/>
          </a:p>
          <a:p>
            <a:r>
              <a:rPr lang="en-US" dirty="0"/>
              <a:t>3. category_'</a:t>
            </a:r>
            <a:r>
              <a:rPr lang="en-US" dirty="0" err="1"/>
              <a:t>es_fashion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Мода</a:t>
            </a:r>
            <a:endParaRPr lang="ru-RU" dirty="0"/>
          </a:p>
          <a:p>
            <a:r>
              <a:rPr lang="en-US" dirty="0"/>
              <a:t>4. </a:t>
            </a:r>
            <a:r>
              <a:rPr lang="en-US" dirty="0" err="1"/>
              <a:t>cust_max_tx_per_day</a:t>
            </a:r>
            <a:r>
              <a:rPr lang="en-US" dirty="0"/>
              <a:t>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Максимальное количество транзакций в день</a:t>
            </a:r>
            <a:endParaRPr lang="ru-RU" dirty="0"/>
          </a:p>
          <a:p>
            <a:r>
              <a:rPr lang="en-US" dirty="0"/>
              <a:t>5. category_'</a:t>
            </a:r>
            <a:r>
              <a:rPr lang="en-US" dirty="0" err="1"/>
              <a:t>es_hotelservices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Гостиничные услуги</a:t>
            </a:r>
            <a:endParaRPr lang="ru-RU" dirty="0"/>
          </a:p>
          <a:p>
            <a:r>
              <a:rPr lang="en-US" dirty="0"/>
              <a:t>6. </a:t>
            </a:r>
            <a:r>
              <a:rPr lang="en-US" dirty="0" err="1"/>
              <a:t>is_first_tx</a:t>
            </a:r>
            <a:r>
              <a:rPr lang="en-US" dirty="0"/>
              <a:t>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Первая ли это транзакция клиента</a:t>
            </a:r>
            <a:endParaRPr lang="ru-RU" dirty="0"/>
          </a:p>
          <a:p>
            <a:r>
              <a:rPr lang="en-US" dirty="0"/>
              <a:t>7. category_'</a:t>
            </a:r>
            <a:r>
              <a:rPr lang="en-US" dirty="0" err="1"/>
              <a:t>es_tech</a:t>
            </a:r>
            <a:r>
              <a:rPr lang="en-US" dirty="0"/>
              <a:t>’</a:t>
            </a:r>
            <a:r>
              <a:rPr lang="ru-RU" dirty="0"/>
              <a:t> 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Техника и электроника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    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987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3E258-EF05-1D5A-A83D-E1B9E1F5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43C92-C5CC-F59F-A36E-AB063D571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BFS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DFD4CEF3-25D2-57BF-00E1-6B580902A87F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27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7ED2B-215C-5FE5-2D42-8A1CBC968E65}"/>
              </a:ext>
            </a:extLst>
          </p:cNvPr>
          <p:cNvSpPr txBox="1"/>
          <p:nvPr/>
        </p:nvSpPr>
        <p:spPr>
          <a:xfrm>
            <a:off x="1243060" y="1470533"/>
            <a:ext cx="90277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Генерируется Ряд </a:t>
            </a:r>
            <a:r>
              <a:rPr lang="ru-RU" b="1" dirty="0"/>
              <a:t>R₁</a:t>
            </a:r>
            <a:r>
              <a:rPr lang="ru-RU" dirty="0"/>
              <a:t> — все наборы из 1 признака.</a:t>
            </a:r>
          </a:p>
          <a:p>
            <a:r>
              <a:rPr lang="ru-RU" dirty="0"/>
              <a:t>Обработка каждого ряда </a:t>
            </a:r>
            <a:r>
              <a:rPr lang="ru-RU" b="1" dirty="0" err="1"/>
              <a:t>R_j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Наборы сортируются по возрастанию </a:t>
            </a:r>
            <a:r>
              <a:rPr lang="ru-RU" b="1" dirty="0"/>
              <a:t>Q</a:t>
            </a:r>
            <a:r>
              <a:rPr lang="ru-RU" dirty="0"/>
              <a:t>, удаляются дубликаты с одинаковым </a:t>
            </a:r>
            <a:r>
              <a:rPr lang="ru-RU" b="1" dirty="0"/>
              <a:t>Q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Оставляются только </a:t>
            </a:r>
            <a:r>
              <a:rPr lang="ru-RU" b="1" dirty="0"/>
              <a:t>B</a:t>
            </a:r>
            <a:r>
              <a:rPr lang="ru-RU" dirty="0"/>
              <a:t> лучших наборов.</a:t>
            </a:r>
          </a:p>
          <a:p>
            <a:pPr lvl="1"/>
            <a:r>
              <a:rPr lang="ru-RU" dirty="0"/>
              <a:t>Если лучший набор в текущем ряду улучшает глобальный рекорд, он сохраняется.</a:t>
            </a:r>
          </a:p>
          <a:p>
            <a:pPr lvl="1"/>
            <a:r>
              <a:rPr lang="ru-RU" dirty="0"/>
              <a:t>Запоминается, на каком уровне сложности (</a:t>
            </a:r>
            <a:r>
              <a:rPr lang="ru-RU" b="1" dirty="0" err="1"/>
              <a:t>j_best</a:t>
            </a:r>
            <a:r>
              <a:rPr lang="ru-RU" dirty="0"/>
              <a:t>) достигнуто улучшение.</a:t>
            </a:r>
          </a:p>
          <a:p>
            <a:pPr lvl="1"/>
            <a:r>
              <a:rPr lang="ru-RU" dirty="0"/>
              <a:t>Из B лучших наборов текущего ряда (</a:t>
            </a:r>
            <a:r>
              <a:rPr lang="ru-RU" b="1" dirty="0" err="1"/>
              <a:t>R_j</a:t>
            </a:r>
            <a:r>
              <a:rPr lang="ru-RU" dirty="0"/>
              <a:t>) генерируются все возможные расширения на один новый признак → формируется </a:t>
            </a:r>
            <a:r>
              <a:rPr lang="ru-RU" b="1" dirty="0"/>
              <a:t>R_{j+1}</a:t>
            </a:r>
            <a:r>
              <a:rPr lang="ru-RU" dirty="0"/>
              <a:t>.</a:t>
            </a:r>
          </a:p>
          <a:p>
            <a:r>
              <a:rPr lang="ru-RU" dirty="0"/>
              <a:t>Критерий останова: В течение </a:t>
            </a:r>
            <a:r>
              <a:rPr lang="ru-RU" b="1" dirty="0"/>
              <a:t>d</a:t>
            </a:r>
            <a:r>
              <a:rPr lang="ru-RU" dirty="0"/>
              <a:t> последовательных рядов (d уровней сложности) не было улучшения качества.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165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F04E5-41E7-F53B-0A8F-69E57133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B11C3-7772-9CCA-E2B5-6E3824D8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BFS(</a:t>
            </a:r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поиск в ширину)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19C2B97F-99E9-1DE7-CB98-7431AB5D5F90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09FFB-3674-4874-841F-8A6CB1D4C216}"/>
              </a:ext>
            </a:extLst>
          </p:cNvPr>
          <p:cNvSpPr txBox="1"/>
          <p:nvPr/>
        </p:nvSpPr>
        <p:spPr>
          <a:xfrm>
            <a:off x="354843" y="1257100"/>
            <a:ext cx="714889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bfs_search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(X, y, d=2, B=10, cv=3,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=123, metric='f1'):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"""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Алгоритм поиска в ширину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BFS)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для выбора признаков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Parameters: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X : array-like, shape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n_samples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Матрица признаков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 : array-like, shape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n_samples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Вектор целевой переменной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 : int, default=2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Количество итераций без улучшения для остановки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 : int, default=10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Максимальное количество наборов в ряду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cv : int, default=3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Количество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фолдов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для кросс-валидации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int, default=123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Seed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для воспроизводимости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 : str, default='f1'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Метрика для оценки качества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9F956-F053-E8A3-C291-A284A0B165F5}"/>
              </a:ext>
            </a:extLst>
          </p:cNvPr>
          <p:cNvSpPr txBox="1"/>
          <p:nvPr/>
        </p:nvSpPr>
        <p:spPr>
          <a:xfrm>
            <a:off x="7880808" y="1159497"/>
            <a:ext cx="3956349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Параметры/вывод алгоритма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Returns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best_features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Лучший набор признаков (индексы)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history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dict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История изменений Q и количества признаков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"""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8487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EE095-AE68-116A-BE22-E574B61E0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DCE28-2205-A835-A658-A9E72C50F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BFS(python)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3A0CA720-76BA-459C-1AE4-B258681778C7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AF7C7-A5A1-D594-9684-486DE488A231}"/>
              </a:ext>
            </a:extLst>
          </p:cNvPr>
          <p:cNvSpPr txBox="1"/>
          <p:nvPr/>
        </p:nvSpPr>
        <p:spPr>
          <a:xfrm>
            <a:off x="860981" y="1363206"/>
            <a:ext cx="470735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Объявление переменных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n_samples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X.shape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F = set(range(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)) 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Множество всех признаков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Лучший набор и значение критерия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set()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float('inf')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0 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Сложность лучшего набора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История для графика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history = {'Q': [], 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': [], 'iteration': [], 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': [], 'j': []}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Игнорируем предупреждения о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precision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warnings.filterwarnings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("ignore", category=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UndefinedMetricWarning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EE2C17-B4DC-1DEF-00F9-48662F5DFB87}"/>
              </a:ext>
            </a:extLst>
          </p:cNvPr>
          <p:cNvSpPr txBox="1"/>
          <p:nvPr/>
        </p:nvSpPr>
        <p:spPr>
          <a:xfrm>
            <a:off x="354843" y="1257100"/>
            <a:ext cx="66429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F0A1D-6FAF-B760-D84C-3125E9A7726B}"/>
              </a:ext>
            </a:extLst>
          </p:cNvPr>
          <p:cNvSpPr txBox="1"/>
          <p:nvPr/>
        </p:nvSpPr>
        <p:spPr>
          <a:xfrm>
            <a:off x="6523348" y="1363206"/>
            <a:ext cx="436461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Перед циклом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Первый ряд - все наборы длины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R_j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frozenset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([f]) for f in F]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calculate_Q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(set())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set()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Начальное значение: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Q={Q_best:.4f}, {metric}={best_metric_val:.4f},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признаков: 0")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 = 1 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Текущая сложность (длина наборов)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iteration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8211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D0412-2402-7359-6A2C-82E77E3BA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1C4FE-3162-D517-2779-A04EF78E3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BFS(python)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78BABC17-78C7-8365-9A39-D8091ECA3048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A524F-242F-FDCE-22CA-4C2297C5AA6E}"/>
              </a:ext>
            </a:extLst>
          </p:cNvPr>
          <p:cNvSpPr txBox="1"/>
          <p:nvPr/>
        </p:nvSpPr>
        <p:spPr>
          <a:xfrm>
            <a:off x="1006703" y="1146390"/>
            <a:ext cx="902773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while j &lt;=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iteration +=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print(f"\n---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Ряд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R_{j},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количество наборов: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R_j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)} ---")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Сортировка наборов текущего ряда по критерию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sets_with_Q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[]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for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R_j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calculate_Q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sets_with_Q.append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Сортировка по возрастанию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 (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минимизируем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sets_with_Q.sort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(key=lambda x: x[1])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Проверка на совпадение соседних наборов с равными значениями критерия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Удаляем дубликаты по значению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unique_sets_with_Q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[]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None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for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sets_with_Q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unique_sets_with_Q.append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Q_val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030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FB956-8905-45CB-04B3-612D1602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58A11-3135-2543-1479-705EE0128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BFS(python)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D515046A-3521-F69B-3ACE-94AAFCD1516D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A695B7-795D-C45A-B2FF-A74620148147}"/>
              </a:ext>
            </a:extLst>
          </p:cNvPr>
          <p:cNvSpPr txBox="1"/>
          <p:nvPr/>
        </p:nvSpPr>
        <p:spPr>
          <a:xfrm>
            <a:off x="1006703" y="1146390"/>
            <a:ext cx="902773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Оставляем только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лучших наборов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unique_sets_with_Q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&gt;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R_j_sorted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[item[0]  for item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unique_sets_with_Q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[:B]]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Ограничение ряда: оставлено 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B}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лучших наборов из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unique_sets_with_Q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)}")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else: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R_j_sorted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[item[0] for item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unique_sets_with_Q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Обновление лучшего набора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best_in_row_set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R_j_sorted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[0]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best_in_row_Q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sets_with_Q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[0][1]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best_in_row_metric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sets_with_Q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[0][2]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best_in_row_Q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best_in_row_Q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set(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best_in_row_set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j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Новый лучший набор: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Q={Q_best:.4f}, {metric}={best_in_row_metric:.4f},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признаков: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)}")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9172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ABFA6-9070-4EF9-3FF2-B4FAF8FC7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C45C1-0600-1A97-44F4-36DA7B2B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BFS(python)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E17B5CC7-9B7F-59D5-1CC7-3173ECF10145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27099-BE88-8A8A-5C7F-02243CC08EBB}"/>
              </a:ext>
            </a:extLst>
          </p:cNvPr>
          <p:cNvSpPr txBox="1"/>
          <p:nvPr/>
        </p:nvSpPr>
        <p:spPr>
          <a:xfrm>
            <a:off x="987849" y="1419767"/>
            <a:ext cx="902773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Запись в историю для лучшего набора в ряду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history['Q'].append(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best_in_row_Q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history['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'].append(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best_in_row_set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history['iteration'].append(iteration)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history['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metric_value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'].append(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best_in_row_metric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history['j'].append(j)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Проверка условия остановки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j 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&gt;= 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Остановка: 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d}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рядов без улучшения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j={j},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j_best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})")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break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746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915E9-9641-CCF1-67E0-C6DE9061E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E861DE-05D8-D3A7-9565-076A67D1C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BFS(python)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372DB322-C5CE-C008-2053-18933B68F1EE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6774C-28DD-1C10-DB66-4BD44083C213}"/>
              </a:ext>
            </a:extLst>
          </p:cNvPr>
          <p:cNvSpPr txBox="1"/>
          <p:nvPr/>
        </p:nvSpPr>
        <p:spPr>
          <a:xfrm>
            <a:off x="1166958" y="1174670"/>
            <a:ext cx="902773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Генерация следующего ряда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j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R_next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set()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for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R_j_sorted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set(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Добавляем по одному признаку из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 \ J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for f in F 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| {f}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R_next.add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frozenset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R_j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list(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R_next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Сгенерирован ряд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R_{j+1}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R_j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)}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наборами")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R_j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== 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print("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Остановка: невозможно сгенерировать следующий ряд")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else: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print("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Достигнута максимальная сложность наборов")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j +=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return list(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best_set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), history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0421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3E258-EF05-1D5A-A83D-E1B9E1F5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43C92-C5CC-F59F-A36E-AB063D571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BFS(python)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DFD4CEF3-25D2-57BF-00E1-6B580902A87F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7ED2B-215C-5FE5-2D42-8A1CBC968E65}"/>
              </a:ext>
            </a:extLst>
          </p:cNvPr>
          <p:cNvSpPr txBox="1"/>
          <p:nvPr/>
        </p:nvSpPr>
        <p:spPr>
          <a:xfrm>
            <a:off x="1166958" y="1146389"/>
            <a:ext cx="9027737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Вывод алгоритма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--- Ряд R_1, количество наборов: 32 ---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Ограничение ряда: оставлено 10 лучших наборов из 32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Новый лучший набор: Q=-0.5195, f1=0.5195, признаков: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Сгенерирован ряд R_2 с 265 наборами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--- Ряд R_2, количество наборов: 265 ---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Ограничение ряда: оставлено 10 лучших наборов из 210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Новый лучший набор: Q=-0.5383, f1=0.5383, признаков: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Сгенерирован ряд R_3 с 255 наборами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--- Ряд R_3, количество наборов: 255 ---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Ограничение ряда: оставлено 10 лучших наборов из 167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Новый лучший набор: Q=-0.5526, f1=0.5526, признаков: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Сгенерирован ряд R_4 с 253 наборами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……..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--- Ряд R_11, количество наборов: 207 ---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Ограничение ряда: оставлено 10 лучших наборов из 143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Остановка: 2 рядов без улучшения (j=11,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j_best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=9)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Алгоритм завершен.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Лучший набор: 9 признаков, Q = -0.6241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Лучшие признаки: [1, 3, 6, 10, 19, 23, 25, 27, 28]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1690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2DF3A-CBB8-2541-9E3E-99B74DB13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2F56F-1F09-A8A7-ADF7-945C064FE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BFS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05AAAA6A-6440-4147-5C42-AC7E4AA19E38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35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51C973-859F-B28F-306B-995492721065}"/>
              </a:ext>
            </a:extLst>
          </p:cNvPr>
          <p:cNvSpPr txBox="1"/>
          <p:nvPr/>
        </p:nvSpPr>
        <p:spPr>
          <a:xfrm>
            <a:off x="1033574" y="1430404"/>
            <a:ext cx="640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График </a:t>
            </a:r>
            <a:r>
              <a:rPr lang="en-US" b="1" dirty="0"/>
              <a:t>Q/</a:t>
            </a:r>
            <a:r>
              <a:rPr lang="ru-RU" b="1" dirty="0"/>
              <a:t>количество признаков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47EF38-B244-BA62-F949-14C55F0AC01E}"/>
              </a:ext>
            </a:extLst>
          </p:cNvPr>
          <p:cNvSpPr txBox="1"/>
          <p:nvPr/>
        </p:nvSpPr>
        <p:spPr>
          <a:xfrm>
            <a:off x="5638095" y="1191112"/>
            <a:ext cx="66429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 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D04C0F-B825-A72B-0407-9046891A0DBA}"/>
              </a:ext>
            </a:extLst>
          </p:cNvPr>
          <p:cNvSpPr txBox="1"/>
          <p:nvPr/>
        </p:nvSpPr>
        <p:spPr>
          <a:xfrm>
            <a:off x="6406533" y="1652777"/>
            <a:ext cx="51061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Названия отобранных признаков:</a:t>
            </a:r>
            <a:r>
              <a:rPr lang="ru-RU" dirty="0"/>
              <a:t> </a:t>
            </a:r>
          </a:p>
          <a:p>
            <a:r>
              <a:rPr lang="en-US" dirty="0"/>
              <a:t>1. amount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Сумма транзакции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cust_unique_merch_total</a:t>
            </a:r>
            <a:r>
              <a:rPr lang="en-US" dirty="0"/>
              <a:t>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Количество уникальных </a:t>
            </a:r>
            <a:r>
              <a:rPr lang="ru-RU" dirty="0" err="1">
                <a:solidFill>
                  <a:srgbClr val="008000"/>
                </a:solidFill>
                <a:ea typeface="+mn-lt"/>
                <a:cs typeface="+mn-lt"/>
              </a:rPr>
              <a:t>мерчантов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cust_max_tx_per_day</a:t>
            </a:r>
            <a:r>
              <a:rPr lang="en-US" dirty="0"/>
              <a:t>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Максимальное количество транзакций в день</a:t>
            </a:r>
            <a:endParaRPr lang="en-US" dirty="0"/>
          </a:p>
          <a:p>
            <a:r>
              <a:rPr lang="en-US" dirty="0"/>
              <a:t>4. </a:t>
            </a:r>
            <a:r>
              <a:rPr lang="en-US" dirty="0" err="1"/>
              <a:t>is_first_tx</a:t>
            </a:r>
            <a:r>
              <a:rPr lang="en-US" dirty="0"/>
              <a:t>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Первая ли это транзакция клиента</a:t>
            </a:r>
            <a:endParaRPr lang="en-US" dirty="0"/>
          </a:p>
          <a:p>
            <a:r>
              <a:rPr lang="en-US" dirty="0"/>
              <a:t>5. category_'</a:t>
            </a:r>
            <a:r>
              <a:rPr lang="en-US" dirty="0" err="1"/>
              <a:t>es_fashion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Мода</a:t>
            </a:r>
            <a:endParaRPr lang="en-US" dirty="0"/>
          </a:p>
          <a:p>
            <a:r>
              <a:rPr lang="en-US" dirty="0"/>
              <a:t>6. category_'</a:t>
            </a:r>
            <a:r>
              <a:rPr lang="en-US" dirty="0" err="1"/>
              <a:t>es_hotelservices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Гостиничные услуги</a:t>
            </a:r>
            <a:endParaRPr lang="en-US" dirty="0"/>
          </a:p>
          <a:p>
            <a:r>
              <a:rPr lang="en-US" dirty="0"/>
              <a:t>7. category_'</a:t>
            </a:r>
            <a:r>
              <a:rPr lang="en-US" dirty="0" err="1"/>
              <a:t>es_leisure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Досуг и развлечения</a:t>
            </a:r>
            <a:endParaRPr lang="en-US" dirty="0"/>
          </a:p>
          <a:p>
            <a:r>
              <a:rPr lang="en-US" dirty="0"/>
              <a:t>8. category_'</a:t>
            </a:r>
            <a:r>
              <a:rPr lang="en-US" dirty="0" err="1"/>
              <a:t>es_sportsandtoys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Спорт и игрушки</a:t>
            </a:r>
            <a:endParaRPr lang="en-US" dirty="0"/>
          </a:p>
          <a:p>
            <a:r>
              <a:rPr lang="en-US" dirty="0"/>
              <a:t>9. category_'</a:t>
            </a:r>
            <a:r>
              <a:rPr lang="en-US" dirty="0" err="1"/>
              <a:t>es_tech</a:t>
            </a:r>
            <a:r>
              <a:rPr lang="en-US" dirty="0"/>
              <a:t>’</a:t>
            </a:r>
            <a:r>
              <a:rPr lang="ru-RU" dirty="0"/>
              <a:t> -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Техника и электроника</a:t>
            </a:r>
            <a:endParaRPr lang="ru-RU" dirty="0">
              <a:ea typeface="Calibri"/>
              <a:cs typeface="Calibri"/>
            </a:endParaRPr>
          </a:p>
          <a:p>
            <a:endParaRPr lang="ru-RU" dirty="0"/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F54AE22-6141-A0C2-C805-133C026D1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82" y="1803387"/>
            <a:ext cx="5106113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9164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A468B-A020-621A-8FC1-63F9DD83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35597-7D35-0784-2B3B-AFEBD6412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57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1EFC8D3A-B6D7-2D96-F1BA-3B5C5A1D2AEA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36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98AEE4-35FB-8A28-4E57-BD89A6E8C678}"/>
              </a:ext>
            </a:extLst>
          </p:cNvPr>
          <p:cNvSpPr txBox="1"/>
          <p:nvPr/>
        </p:nvSpPr>
        <p:spPr>
          <a:xfrm>
            <a:off x="1321557" y="1443951"/>
            <a:ext cx="97284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Создаётся </a:t>
            </a:r>
            <a:r>
              <a:rPr lang="ru-RU" b="1" dirty="0" err="1"/>
              <a:t>population_size</a:t>
            </a:r>
            <a:r>
              <a:rPr lang="ru-RU" dirty="0"/>
              <a:t> = 100 случайных хромосом (бинарных векторов длины </a:t>
            </a:r>
            <a:r>
              <a:rPr lang="ru-RU" b="1" dirty="0" err="1"/>
              <a:t>num_features</a:t>
            </a:r>
            <a:r>
              <a:rPr lang="ru-RU" dirty="0"/>
              <a:t>).</a:t>
            </a:r>
          </a:p>
          <a:p>
            <a:r>
              <a:rPr lang="ru-RU" dirty="0"/>
              <a:t>Основной цикл по поколениям (</a:t>
            </a:r>
            <a:r>
              <a:rPr lang="ru-RU" b="1" dirty="0" err="1"/>
              <a:t>num_generations</a:t>
            </a:r>
            <a:r>
              <a:rPr lang="ru-RU" b="1" dirty="0"/>
              <a:t> </a:t>
            </a:r>
            <a:r>
              <a:rPr lang="ru-RU" dirty="0"/>
              <a:t>= 50):</a:t>
            </a:r>
          </a:p>
          <a:p>
            <a:pPr lvl="1"/>
            <a:r>
              <a:rPr lang="ru-RU" dirty="0"/>
              <a:t>Для каждой хромосомы вычисляется </a:t>
            </a:r>
            <a:r>
              <a:rPr lang="ru-RU" b="1" dirty="0"/>
              <a:t>F1-score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Сохраняется глобально лучшая хромосома и её </a:t>
            </a:r>
            <a:r>
              <a:rPr lang="ru-RU" b="1" dirty="0"/>
              <a:t>F1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Формирование нового поколения:</a:t>
            </a:r>
          </a:p>
          <a:p>
            <a:pPr lvl="2"/>
            <a:r>
              <a:rPr lang="ru-RU" dirty="0" err="1"/>
              <a:t>Элитизм</a:t>
            </a:r>
            <a:r>
              <a:rPr lang="ru-RU" dirty="0"/>
              <a:t>: лучшая хромосома автоматически переходит в следующее поколение.</a:t>
            </a:r>
          </a:p>
          <a:p>
            <a:pPr lvl="2"/>
            <a:r>
              <a:rPr lang="ru-RU" dirty="0"/>
              <a:t>Отбор: турнирный отбор (</a:t>
            </a:r>
            <a:r>
              <a:rPr lang="ru-RU" b="1" dirty="0" err="1"/>
              <a:t>tournament_size</a:t>
            </a:r>
            <a:r>
              <a:rPr lang="ru-RU" b="1" dirty="0"/>
              <a:t> </a:t>
            </a:r>
            <a:r>
              <a:rPr lang="ru-RU" dirty="0"/>
              <a:t>= 5) для выбора родителей.</a:t>
            </a:r>
          </a:p>
          <a:p>
            <a:pPr lvl="2"/>
            <a:r>
              <a:rPr lang="ru-RU" dirty="0"/>
              <a:t>Кроссовер: с вероятностью </a:t>
            </a:r>
            <a:r>
              <a:rPr lang="ru-RU" b="1" dirty="0" err="1"/>
              <a:t>crossover_rate</a:t>
            </a:r>
            <a:r>
              <a:rPr lang="ru-RU" b="1" dirty="0"/>
              <a:t> </a:t>
            </a:r>
            <a:r>
              <a:rPr lang="ru-RU" dirty="0"/>
              <a:t>= 0.8 — одноточечный обмен частями хромосом.</a:t>
            </a:r>
          </a:p>
          <a:p>
            <a:pPr lvl="2"/>
            <a:r>
              <a:rPr lang="ru-RU" dirty="0"/>
              <a:t>Мутация: каждый бит мутирует с вероятностью </a:t>
            </a:r>
            <a:r>
              <a:rPr lang="ru-RU" b="1" dirty="0" err="1"/>
              <a:t>mutation_rate</a:t>
            </a:r>
            <a:r>
              <a:rPr lang="ru-RU" b="1" dirty="0"/>
              <a:t> </a:t>
            </a:r>
            <a:r>
              <a:rPr lang="ru-RU" dirty="0"/>
              <a:t>= 0.05 (инверсия 0 ↔ 1).</a:t>
            </a:r>
          </a:p>
          <a:p>
            <a:pPr lvl="2"/>
            <a:r>
              <a:rPr lang="ru-RU" dirty="0"/>
              <a:t>Потомки добавляются в новую популяцию, пока не наберётся </a:t>
            </a:r>
            <a:r>
              <a:rPr lang="ru-RU" b="1" dirty="0" err="1"/>
              <a:t>population_size</a:t>
            </a:r>
            <a:r>
              <a:rPr lang="ru-RU" dirty="0"/>
              <a:t>.</a:t>
            </a:r>
          </a:p>
          <a:p>
            <a:r>
              <a:rPr lang="ru-RU" dirty="0"/>
              <a:t>Критерий останова: 10 поколений подряд нет улучшения.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517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95152-89A9-6347-0DC0-655243A63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0CE2A2-0DDB-6835-D82D-8E6E3EEF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алгоритм(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22684D17-DE15-F18F-9EFC-5F2EF16037A4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9365F8-B612-E776-8D85-B578C66822A4}"/>
              </a:ext>
            </a:extLst>
          </p:cNvPr>
          <p:cNvSpPr txBox="1"/>
          <p:nvPr/>
        </p:nvSpPr>
        <p:spPr>
          <a:xfrm>
            <a:off x="533953" y="1430404"/>
            <a:ext cx="64041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Генерация особей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1. Определяем количество признаков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X_smart.shape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[1]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2.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Определяем размер начальной популяции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population_size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100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3.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Создаем пустой список для хранения популяции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 = []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4.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Генерируем каждый хромосому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_ in range(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population_size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a.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Создаем бинарный список/массив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Случайным образом присваиваем 0 или 1 каждому элементу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chromosome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np.random.randint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(0, 2,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num_features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c.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Добавляем сгенерированную хромосому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(chromosome)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FBFCF-9DD0-6B5F-AECE-F0C1EBE463B3}"/>
              </a:ext>
            </a:extLst>
          </p:cNvPr>
          <p:cNvSpPr txBox="1"/>
          <p:nvPr/>
        </p:nvSpPr>
        <p:spPr>
          <a:xfrm>
            <a:off x="5967168" y="1430404"/>
            <a:ext cx="569088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Пример(первые 5 хромосом(32 признака))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[1 0 1 0 0 1 0 0 0 0 0 1 0 0 0 1 0 1 1 1 1 1 0 1 0 1 1 1 1 1 1 1] [1 1 1 1 0 0 0 0 0 0 1 1 1 1 0 0 1 1 0 0 1 0 1 1 1 0 1 1 0 0 0 0] [1 1 1 0 0 0 1 1 1 1 0 1 0 0 1 1 1 1 1 0 0 0 0 1 0 1 1 0 0 0 0 1] [0 1 1 1 1 0 1 0 1 1 0 0 1 1 1 1 0 1 1 0 0 0 1 0 1 1 1 1 0 1 0 0] [0 1 0 0 0 0 0 1 1 0 1 1 0 1 0 0 0 1 1 1 1 0 0 0 0 0 0 0 0 1 1 0]</a:t>
            </a:r>
            <a:endParaRPr kumimoji="0" lang="ru-R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98571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5534D-F0FC-18C3-1079-B29D91F40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04F6BC-3D39-A118-8F04-4B215151B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алгоритм(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EEFD255A-581C-89DA-7761-74DBA87BE39A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83AC80-0560-E0F6-2106-59A473D1C9A5}"/>
              </a:ext>
            </a:extLst>
          </p:cNvPr>
          <p:cNvSpPr txBox="1"/>
          <p:nvPr/>
        </p:nvSpPr>
        <p:spPr>
          <a:xfrm>
            <a:off x="1263192" y="1257100"/>
            <a:ext cx="806934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Функция отбора родителей(турнир)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tournament_selection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(population,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fitness_scores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tournament_size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"""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Выполняет турнирный отбор для выбора родителя.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Parameters: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population : list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Список хромосом (подмножеств признаков).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fitness_scores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list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-Список оценок приспособленности, соответствующий популяции.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tournament_size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int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-Количество особей, участвующих в каждом турнире.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int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Индекс победившей особи (родителя) в популяции.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"""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Выбираем случайные особи для турнира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tournament_indices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random.sample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(range(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(population)),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tournament_size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Находим лучшую особь в турнире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best_index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tournament_indices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[0]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for index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tournament_indices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fitness_scores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[index] &gt;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fitness_scores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best_index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best_index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index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best_index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84275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C1AE5-9DCA-6ECF-45B6-9EAE9A7B6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D8BCBE-2752-C450-041A-F943D7173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алгоритм(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355BE880-4BDC-BBBE-1E81-F19C26D7DB01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46CC46-B4D2-AF63-F04F-150676E2719D}"/>
              </a:ext>
            </a:extLst>
          </p:cNvPr>
          <p:cNvSpPr txBox="1"/>
          <p:nvPr/>
        </p:nvSpPr>
        <p:spPr>
          <a:xfrm>
            <a:off x="1263192" y="1257100"/>
            <a:ext cx="8069344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Функция одноточечного кроссовера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one_point_crossover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(parent1, parent2):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"""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Выполняет одноточечный кроссовер над двумя родительскими хромосомами.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Parameters: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parent1 : array-like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Первая родительская хромосома.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parent2 : array-like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Вторая родительская хромосома.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tuple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Кортеж, содержащий две дочерние хромосомы.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"""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24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BD6E9-29AA-4350-C6F4-ECAA8E5F2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9CE885-C278-60EB-C047-8D4B43047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алгоритм(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F2F05860-A169-4890-FF5F-1078239FB395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B2C90-1A6E-BE2C-DDDA-87E5949D950F}"/>
              </a:ext>
            </a:extLst>
          </p:cNvPr>
          <p:cNvSpPr txBox="1"/>
          <p:nvPr/>
        </p:nvSpPr>
        <p:spPr>
          <a:xfrm>
            <a:off x="1263192" y="1257100"/>
            <a:ext cx="8069344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Функция одноточечного кроссовера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chromosome_length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(parent1)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Убеждаемся, что родители имеют одинаковую длину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chromosome_length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!=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(parent2):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raise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ValueError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Родительские хромосомы должны иметь одинаковую длину")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Случайным образом выбираем точку кроссовера (исключая концы)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chromosome_length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 2: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Кроссовер невозможен при длине менее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 parent1.copy(), parent2.copy()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crossover_point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random.randint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(1,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chromosome_length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Создаем дочерние особи путем обмена генетическим материалом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offspring1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np.concatenate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((parent1[: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crossover_point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], parent2[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crossover_point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:]))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offspring2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np.concatenate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((parent2[: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crossover_point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], parent1[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crossover_point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:]))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return offspring1, offspring2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51591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2AB5-2FF8-6EDE-4B6A-9172256E4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13C810-A0CF-53DB-54CC-4BBF71C67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алгоритм(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4B63319A-313E-C032-D216-A6998C8E7BD3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121FA-5AE3-AE54-5A23-F8D5C6673661}"/>
              </a:ext>
            </a:extLst>
          </p:cNvPr>
          <p:cNvSpPr txBox="1"/>
          <p:nvPr/>
        </p:nvSpPr>
        <p:spPr>
          <a:xfrm>
            <a:off x="1282046" y="1172647"/>
            <a:ext cx="8069344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Функция мутации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 mutate(chromosome,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mutation_rate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"""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Мутирует хромосому, инвертируя биты с заданной вероятностью.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Parameters: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chromosome : array-like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Хромосома для мутации.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mutation_rate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float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Вероятность инвертирования каждого бита.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array-like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Мяутировавшая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хромосома.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"""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mutated_chromosome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chromosome.copy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for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range(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mutated_chromosome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random.random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mutation_rate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#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Инвертируем бит (0 в 1, 1 в 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mutated_chromosome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= 1 -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mutated_chromosome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mutated_chromosome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56858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EF55E-B6EB-1E96-568D-BFBCA7A3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E0229-42A1-D476-BE0B-FA53050B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алгоритм(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4F72BA28-7031-3C1D-830B-54A9B73B7E85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3F0FE-2B0B-9E2C-B583-B01D7770D936}"/>
              </a:ext>
            </a:extLst>
          </p:cNvPr>
          <p:cNvSpPr txBox="1"/>
          <p:nvPr/>
        </p:nvSpPr>
        <p:spPr>
          <a:xfrm>
            <a:off x="1282046" y="1172647"/>
            <a:ext cx="806934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Алгоритм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1. Определяем параметры генетического алгоритма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num_generations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50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population_size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уже определен на предыдущем шаге (100)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tournament_size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crossover_rate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0.8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mutation_rate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0.05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2.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Инициализируем пустой список для хранения лучшей оценки приспособленности, найденной в каждой генерации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best_fitness_history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[]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best_chromosome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None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overall_best_fitness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-1.0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31375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68E0-FD68-19E0-31E5-10F7238F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B89E9-ECC5-064D-9293-69842D165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алгоритм(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D5E05B39-0093-7AB9-C85A-DA4AE02C9C21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92C62-EAA6-F9EB-F612-0609ADE373E6}"/>
              </a:ext>
            </a:extLst>
          </p:cNvPr>
          <p:cNvSpPr txBox="1"/>
          <p:nvPr/>
        </p:nvSpPr>
        <p:spPr>
          <a:xfrm>
            <a:off x="1282046" y="1172647"/>
            <a:ext cx="806934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Алгоритм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3. Запускаем цикл, который выполняется заданное количество генераций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generation in range(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num_generations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Поколение 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generation + 1}/{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num_generations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4.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Оцениваем приспособленность каждой особи в текущей популяции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fitness_scores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fitness_function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(chromosome,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X_smart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y_smart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for chromosome in population]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5.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Сохраняем лучшую оценку приспособленности текущей генерации и соответствующую хромосому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current_best_fitness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max(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fitness_scores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current_best_index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fitness_scores.index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current_best_fitness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current_best_chromosome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population[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current_best_index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88902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50C30-0234-C318-8238-14ED94D6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42936-6DCD-7573-8199-9AFB9DA37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алгоритм(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DD1232E8-8B60-5E2A-4B75-9819EA14404B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964E2-41E4-9916-F0D8-40D23698F274}"/>
              </a:ext>
            </a:extLst>
          </p:cNvPr>
          <p:cNvSpPr txBox="1"/>
          <p:nvPr/>
        </p:nvSpPr>
        <p:spPr>
          <a:xfrm>
            <a:off x="1282046" y="1172647"/>
            <a:ext cx="8069344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Алгоритм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Обновляем общий лучший результат, если необходимо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current_best_fitness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&gt;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overall_best_fitness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best_fitness_history.append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current_best_fitness,np.count_nonzero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current_best_chromosome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overall_best_fitness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current_best_fitness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best_chromosome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current_best_chromosome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Новая общая лучшая приспособленность: 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overall_best_fitness:.4f}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 поколении 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generation + 1}")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else: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=cnt+1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==10: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break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6.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Создаем популяцию следующего поколения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next_population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[]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Элитизм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сохраняем лучшую особь из текущей генерации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next_population.append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current_best_chromosome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89537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B44D2-7DC3-8C43-6B02-F45C39FAC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4F2A5-035E-C192-ECD1-9E546E21E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алгоритм(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5CC2E9E7-D6E7-DA75-8449-E7BB47E1EECA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AC6F8-E74A-5BC8-59C9-D8844064C3BD}"/>
              </a:ext>
            </a:extLst>
          </p:cNvPr>
          <p:cNvSpPr txBox="1"/>
          <p:nvPr/>
        </p:nvSpPr>
        <p:spPr>
          <a:xfrm>
            <a:off x="1282045" y="1172647"/>
            <a:ext cx="9728462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Алгоритм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7. Внутри этого внутреннего цикла выбираем две родительские хромосомы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while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next_population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population_size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parent1_index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tournament_selection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(population,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fitness_scores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tournament_size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parent2_index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tournament_selection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(population,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fitness_scores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tournament_size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parent1 = population[parent1_index]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parent2 = population[parent2_index]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8.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Выполняем кроссовер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random.random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crossover_rate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offspring1, offspring2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one_point_crossover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(parent1, parent2)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else: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offspring1, offspring2 = parent1.copy(), parent2.copy()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9.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Мутируем потомков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offspring1 = mutate(offspring1,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mutation_rate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offspring2 = mutate(offspring2,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mutation_rate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10.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Добавляем потомков в следующее поколение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next_population.append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(offspring1)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next_population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population_size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#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Убеждаемся, что размер популяции не превышен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next_population.append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(offspring2)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11135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53B8B-42B0-A3B0-10D3-7A1DDE54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4636DB-4D9F-4B6E-618C-3A7F20031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алгоритм(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BAED6884-1EC2-66CE-0FD2-99E965C3FDBD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2AE83E-FAC6-9F4B-A609-64F267BCA88F}"/>
              </a:ext>
            </a:extLst>
          </p:cNvPr>
          <p:cNvSpPr txBox="1"/>
          <p:nvPr/>
        </p:nvSpPr>
        <p:spPr>
          <a:xfrm>
            <a:off x="1282045" y="1172647"/>
            <a:ext cx="972846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Алгоритм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11. Устанавливаем текущую популяцию как следующее поколение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next_population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 12.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После завершения основного цикла алгоритм закончен.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print("\n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Генетический алгоритм завершен.")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Общая лучшая приспособленность найдена: 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overall_best_fitness:.4f}")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Лучшая хромосома (подмножество признаков):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best_chromosome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67547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10ECF-9CDC-6A7B-9EC2-4720EB221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6C91EA-A25E-1064-D9F5-0BB1D406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алгоритм(</a:t>
            </a:r>
            <a:r>
              <a:rPr lang="en-US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python)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97C049B0-9841-01B5-7806-D6A9D3541BFE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1EDB0-61D7-7EF7-87E0-707A91C9C396}"/>
              </a:ext>
            </a:extLst>
          </p:cNvPr>
          <p:cNvSpPr txBox="1"/>
          <p:nvPr/>
        </p:nvSpPr>
        <p:spPr>
          <a:xfrm>
            <a:off x="1282045" y="1172647"/>
            <a:ext cx="971903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Вывод алгоритма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Поколение 1/50 Новая общая лучшая приспособленность: 0.4242 в поколении 1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Поколение 2/50 Новая общая лучшая приспособленность: 0.5161 в поколении 2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Поколение 3/50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Поколение 4/50 Новая общая лучшая приспособленность: 0.5333 в поколении 4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Поколение 5/50 Новая общая лучшая приспособленность: 0.5600 в поколении 5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Поколение 6/50 Новая общая лучшая приспособленность: 0.5833 в поколении 6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Поколение 7/50 Поколение 8/50 Поколение 9/50 Поколение 10/50 Поколение 11/50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Поколение 12/50 Новая общая лучшая приспособленность: 0.6087 в поколении 12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Поколение 13/50 Поколение 14/50 Поколение 15/50 Поколение 16/50 Поколение 17/50 Поколение 18/50 Поколение 19/50 Поколение 20/50 Поколение 21/50 Поколение 22/50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Генетический алгоритм завершен.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Общая лучшая приспособленность найдена: 0.6087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Лучшая хромосома (подмножество признаков):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[0 1 0 1 0 0 0 1 0 0 1 0 0 0 0 0 0 1 1 1 1 0 0 0 0 1 0 1 1 0 1 0]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2508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58CA4-4EB0-F547-6BC0-F2D8DD078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CC3FD-8BE1-E499-1F78-2F933831D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Генетический алгоритм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C17B692B-2C49-E0FD-5CA8-D5D0C904A014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48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0CEC7-35E2-3F01-37D6-9D164E0C49A6}"/>
              </a:ext>
            </a:extLst>
          </p:cNvPr>
          <p:cNvSpPr txBox="1"/>
          <p:nvPr/>
        </p:nvSpPr>
        <p:spPr>
          <a:xfrm>
            <a:off x="1168924" y="1323476"/>
            <a:ext cx="47585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График </a:t>
            </a:r>
            <a:r>
              <a:rPr lang="en-US" sz="2000" b="1" dirty="0"/>
              <a:t>Q/</a:t>
            </a:r>
            <a:r>
              <a:rPr lang="ru-RU" sz="2000" b="1" dirty="0"/>
              <a:t>количество признаков</a:t>
            </a:r>
          </a:p>
          <a:p>
            <a:endParaRPr lang="ru-RU" sz="2000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35B516-1C21-05AE-F918-9251B8678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32" y="1808713"/>
            <a:ext cx="5125165" cy="4296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EAB936-166F-D2DB-4AFB-3CCD95C9CA86}"/>
              </a:ext>
            </a:extLst>
          </p:cNvPr>
          <p:cNvSpPr txBox="1"/>
          <p:nvPr/>
        </p:nvSpPr>
        <p:spPr>
          <a:xfrm>
            <a:off x="6324588" y="1580773"/>
            <a:ext cx="553873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Названия отобранных признаков: </a:t>
            </a:r>
            <a:endParaRPr lang="en-US" b="1" dirty="0"/>
          </a:p>
          <a:p>
            <a:r>
              <a:rPr lang="ru-RU" dirty="0"/>
              <a:t>1. </a:t>
            </a:r>
            <a:r>
              <a:rPr lang="en-US" dirty="0"/>
              <a:t>amount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Сумма транзакции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cust_unique_merch_total</a:t>
            </a:r>
            <a:r>
              <a:rPr lang="en-US" dirty="0"/>
              <a:t>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Количество уникальных </a:t>
            </a:r>
            <a:r>
              <a:rPr lang="ru-RU" dirty="0" err="1">
                <a:solidFill>
                  <a:srgbClr val="008000"/>
                </a:solidFill>
                <a:ea typeface="+mn-lt"/>
                <a:cs typeface="+mn-lt"/>
              </a:rPr>
              <a:t>мерчантов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cust_avg_interval</a:t>
            </a:r>
            <a:r>
              <a:rPr lang="en-US" dirty="0"/>
              <a:t> </a:t>
            </a:r>
            <a:r>
              <a:rPr lang="ru-RU" dirty="0"/>
              <a:t>–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Средний интервал между транзакциями</a:t>
            </a:r>
          </a:p>
          <a:p>
            <a:r>
              <a:rPr lang="en-US" dirty="0"/>
              <a:t>4. </a:t>
            </a:r>
            <a:r>
              <a:rPr lang="en-US" dirty="0" err="1"/>
              <a:t>is_first_tx</a:t>
            </a:r>
            <a:r>
              <a:rPr lang="en-US" dirty="0"/>
              <a:t>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Первая ли это транзакция клиента</a:t>
            </a:r>
            <a:endParaRPr lang="en-US" dirty="0"/>
          </a:p>
          <a:p>
            <a:r>
              <a:rPr lang="en-US" dirty="0"/>
              <a:t>5. category_'</a:t>
            </a:r>
            <a:r>
              <a:rPr lang="en-US" dirty="0" err="1"/>
              <a:t>es_barsandrestaurants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Бары и рестораны</a:t>
            </a:r>
            <a:endParaRPr lang="en-US" dirty="0"/>
          </a:p>
          <a:p>
            <a:r>
              <a:rPr lang="en-US" dirty="0"/>
              <a:t>6. category_'</a:t>
            </a:r>
            <a:r>
              <a:rPr lang="en-US" dirty="0" err="1"/>
              <a:t>es_contents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Контент</a:t>
            </a:r>
            <a:endParaRPr lang="en-US" dirty="0"/>
          </a:p>
          <a:p>
            <a:r>
              <a:rPr lang="en-US" dirty="0"/>
              <a:t>7. category_'</a:t>
            </a:r>
            <a:r>
              <a:rPr lang="en-US" dirty="0" err="1"/>
              <a:t>es_fashion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Мода</a:t>
            </a:r>
            <a:endParaRPr lang="en-US" dirty="0"/>
          </a:p>
          <a:p>
            <a:r>
              <a:rPr lang="en-US" dirty="0"/>
              <a:t>8. category_'</a:t>
            </a:r>
            <a:r>
              <a:rPr lang="en-US" dirty="0" err="1"/>
              <a:t>es_food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Еда</a:t>
            </a:r>
            <a:endParaRPr lang="en-US" dirty="0"/>
          </a:p>
          <a:p>
            <a:r>
              <a:rPr lang="en-US" dirty="0"/>
              <a:t>9. category_'</a:t>
            </a:r>
            <a:r>
              <a:rPr lang="en-US" dirty="0" err="1"/>
              <a:t>es_leisure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Досуг и развлечения</a:t>
            </a:r>
            <a:endParaRPr lang="en-US" dirty="0"/>
          </a:p>
          <a:p>
            <a:r>
              <a:rPr lang="en-US" dirty="0"/>
              <a:t>10. category_'</a:t>
            </a:r>
            <a:r>
              <a:rPr lang="en-US" dirty="0" err="1"/>
              <a:t>es_sportsandtoys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Спорт и игрушки</a:t>
            </a:r>
            <a:endParaRPr lang="en-US" dirty="0"/>
          </a:p>
          <a:p>
            <a:r>
              <a:rPr lang="en-US" dirty="0"/>
              <a:t>11. category_'</a:t>
            </a:r>
            <a:r>
              <a:rPr lang="en-US" dirty="0" err="1"/>
              <a:t>es_tech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Техника и электроника</a:t>
            </a:r>
            <a:endParaRPr lang="en-US" dirty="0"/>
          </a:p>
          <a:p>
            <a:r>
              <a:rPr lang="en-US" dirty="0"/>
              <a:t>12. category_'</a:t>
            </a:r>
            <a:r>
              <a:rPr lang="en-US" dirty="0" err="1"/>
              <a:t>es_travel</a:t>
            </a:r>
            <a:r>
              <a:rPr lang="en-US" dirty="0"/>
              <a:t>’</a:t>
            </a:r>
            <a:r>
              <a:rPr lang="ru-RU" dirty="0"/>
              <a:t> 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Путешествия</a:t>
            </a:r>
            <a:endParaRPr lang="ru-RU" dirty="0">
              <a:ea typeface="Calibri"/>
              <a:cs typeface="Calibri"/>
            </a:endParaRPr>
          </a:p>
          <a:p>
            <a:r>
              <a:rPr lang="ru-RU" dirty="0">
                <a:solidFill>
                  <a:srgbClr val="000000"/>
                </a:solidFill>
                <a:ea typeface="+mn-lt"/>
                <a:cs typeface="+mn-lt"/>
              </a:rPr>
              <a:t>   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27CDE57-35EC-C463-419C-88D02B20C4DB}"/>
              </a:ext>
            </a:extLst>
          </p:cNvPr>
          <p:cNvSpPr/>
          <p:nvPr/>
        </p:nvSpPr>
        <p:spPr>
          <a:xfrm>
            <a:off x="2196445" y="1808713"/>
            <a:ext cx="3016578" cy="2226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565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A49A-0560-04B5-C6FD-3D0E983EE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C858F2-EFC9-055A-2461-2FCDFE8A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97" y="-684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Нахождение весов признаков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AD5C483A-6C80-9F60-F1EE-4115A239685B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49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C2C25C-1BC6-1C03-AD74-D7AC9F8BBD25}"/>
              </a:ext>
            </a:extLst>
          </p:cNvPr>
          <p:cNvSpPr txBox="1"/>
          <p:nvPr/>
        </p:nvSpPr>
        <p:spPr>
          <a:xfrm>
            <a:off x="95250" y="1551185"/>
            <a:ext cx="49615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Воспользуемся </a:t>
            </a:r>
            <a:r>
              <a:rPr lang="en-US" dirty="0"/>
              <a:t>SVM </a:t>
            </a:r>
            <a:r>
              <a:rPr lang="ru-RU" dirty="0"/>
              <a:t>с </a:t>
            </a:r>
            <a:r>
              <a:rPr lang="ru-RU" b="1" dirty="0"/>
              <a:t>линейным</a:t>
            </a:r>
            <a:r>
              <a:rPr lang="ru-RU" dirty="0"/>
              <a:t> ядром и получим веса признаков, отберем с весами </a:t>
            </a:r>
            <a:r>
              <a:rPr lang="en-US" dirty="0"/>
              <a:t>&gt;0,5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Названия отобранных признаков: </a:t>
            </a:r>
            <a:endParaRPr lang="en-US" dirty="0"/>
          </a:p>
          <a:p>
            <a:r>
              <a:rPr lang="ru-RU" dirty="0"/>
              <a:t>1. </a:t>
            </a:r>
            <a:r>
              <a:rPr lang="en-US" dirty="0"/>
              <a:t>amount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Сумма транзакции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is_first_tx</a:t>
            </a:r>
            <a:r>
              <a:rPr lang="en-US" dirty="0"/>
              <a:t>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Первая ли это транзакция клиента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seen_merchant_before</a:t>
            </a:r>
            <a:r>
              <a:rPr lang="en-US" dirty="0"/>
              <a:t> </a:t>
            </a:r>
            <a:r>
              <a:rPr lang="ru-RU" dirty="0"/>
              <a:t> 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Видел ли </a:t>
            </a:r>
            <a:r>
              <a:rPr lang="ru-RU" dirty="0" err="1">
                <a:solidFill>
                  <a:srgbClr val="008000"/>
                </a:solidFill>
                <a:ea typeface="+mn-lt"/>
                <a:cs typeface="+mn-lt"/>
              </a:rPr>
              <a:t>мерчанта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 раньше</a:t>
            </a:r>
            <a:endParaRPr lang="en-US" dirty="0"/>
          </a:p>
          <a:p>
            <a:r>
              <a:rPr lang="en-US" dirty="0"/>
              <a:t>4. category_'</a:t>
            </a:r>
            <a:r>
              <a:rPr lang="en-US" dirty="0" err="1"/>
              <a:t>es_barsandrestaurants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Бары и рестораны</a:t>
            </a:r>
            <a:endParaRPr lang="en-US" dirty="0"/>
          </a:p>
          <a:p>
            <a:r>
              <a:rPr lang="en-US" dirty="0"/>
              <a:t>5. category_'</a:t>
            </a:r>
            <a:r>
              <a:rPr lang="en-US" dirty="0" err="1"/>
              <a:t>es_health</a:t>
            </a:r>
            <a:r>
              <a:rPr lang="en-US" dirty="0"/>
              <a:t>’ </a:t>
            </a:r>
            <a:r>
              <a:rPr lang="ru-RU" dirty="0"/>
              <a:t> 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Здоровье</a:t>
            </a:r>
            <a:endParaRPr lang="en-US" dirty="0"/>
          </a:p>
          <a:p>
            <a:r>
              <a:rPr lang="en-US" dirty="0"/>
              <a:t>6. category_'</a:t>
            </a:r>
            <a:r>
              <a:rPr lang="en-US" dirty="0" err="1"/>
              <a:t>es_hyper</a:t>
            </a:r>
            <a:r>
              <a:rPr lang="en-US" dirty="0"/>
              <a:t>’ 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Гипер</a:t>
            </a:r>
            <a:endParaRPr lang="en-US" dirty="0"/>
          </a:p>
          <a:p>
            <a:r>
              <a:rPr lang="en-US" dirty="0"/>
              <a:t>7. category_'</a:t>
            </a:r>
            <a:r>
              <a:rPr lang="en-US" dirty="0" err="1"/>
              <a:t>es_leisure</a:t>
            </a:r>
            <a:r>
              <a:rPr lang="en-US" dirty="0"/>
              <a:t>’ </a:t>
            </a:r>
            <a:r>
              <a:rPr lang="ru-RU" dirty="0"/>
              <a:t>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Досуг и развлечения</a:t>
            </a:r>
            <a:endParaRPr lang="en-US" dirty="0"/>
          </a:p>
          <a:p>
            <a:r>
              <a:rPr lang="en-US" dirty="0"/>
              <a:t>8. category_'</a:t>
            </a:r>
            <a:r>
              <a:rPr lang="en-US" dirty="0" err="1"/>
              <a:t>es_wellnessandbeauty</a:t>
            </a:r>
            <a:r>
              <a:rPr lang="en-US" dirty="0"/>
              <a:t>’</a:t>
            </a:r>
            <a:r>
              <a:rPr lang="ru-RU" dirty="0"/>
              <a:t> - </a:t>
            </a:r>
            <a:r>
              <a:rPr lang="ru-RU" dirty="0">
                <a:solidFill>
                  <a:srgbClr val="008000"/>
                </a:solidFill>
                <a:ea typeface="+mn-lt"/>
                <a:cs typeface="+mn-lt"/>
              </a:rPr>
              <a:t>Красота</a:t>
            </a:r>
            <a:endParaRPr lang="ru-RU" dirty="0"/>
          </a:p>
          <a:p>
            <a:r>
              <a:rPr lang="ru-RU" dirty="0">
                <a:ea typeface="+mn-lt"/>
                <a:cs typeface="+mn-lt"/>
              </a:rPr>
              <a:t>   </a:t>
            </a:r>
            <a:endParaRPr lang="en-US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FC041C-E1C8-F69B-2218-4B5EA5F40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779" y="933250"/>
            <a:ext cx="7135221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9488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B01EA-3CE5-DB15-24C0-55B18473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711EB7-F71F-47F9-FA0D-1AA193CD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30" y="154352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</a:t>
            </a:r>
            <a:b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методов </a:t>
            </a:r>
            <a:b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отбора </a:t>
            </a:r>
            <a:b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solidFill>
                  <a:srgbClr val="E2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признаков</a:t>
            </a:r>
            <a:endParaRPr lang="ru-RU" dirty="0"/>
          </a:p>
        </p:txBody>
      </p:sp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A8E26DE0-E78B-8427-4352-C63E26C15B52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50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C0A4381-61EB-D9D3-BB8D-76E90AD70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875085"/>
              </p:ext>
            </p:extLst>
          </p:nvPr>
        </p:nvGraphicFramePr>
        <p:xfrm>
          <a:off x="2912880" y="211137"/>
          <a:ext cx="9218789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3634">
                  <a:extLst>
                    <a:ext uri="{9D8B030D-6E8A-4147-A177-3AD203B41FA5}">
                      <a16:colId xmlns:a16="http://schemas.microsoft.com/office/drawing/2014/main" val="3515456159"/>
                    </a:ext>
                  </a:extLst>
                </a:gridCol>
                <a:gridCol w="1515031">
                  <a:extLst>
                    <a:ext uri="{9D8B030D-6E8A-4147-A177-3AD203B41FA5}">
                      <a16:colId xmlns:a16="http://schemas.microsoft.com/office/drawing/2014/main" val="1660605807"/>
                    </a:ext>
                  </a:extLst>
                </a:gridCol>
                <a:gridCol w="1515031">
                  <a:extLst>
                    <a:ext uri="{9D8B030D-6E8A-4147-A177-3AD203B41FA5}">
                      <a16:colId xmlns:a16="http://schemas.microsoft.com/office/drawing/2014/main" val="595695888"/>
                    </a:ext>
                  </a:extLst>
                </a:gridCol>
                <a:gridCol w="1582332">
                  <a:extLst>
                    <a:ext uri="{9D8B030D-6E8A-4147-A177-3AD203B41FA5}">
                      <a16:colId xmlns:a16="http://schemas.microsoft.com/office/drawing/2014/main" val="3898474971"/>
                    </a:ext>
                  </a:extLst>
                </a:gridCol>
                <a:gridCol w="1447730">
                  <a:extLst>
                    <a:ext uri="{9D8B030D-6E8A-4147-A177-3AD203B41FA5}">
                      <a16:colId xmlns:a16="http://schemas.microsoft.com/office/drawing/2014/main" val="1927158517"/>
                    </a:ext>
                  </a:extLst>
                </a:gridCol>
                <a:gridCol w="1515031">
                  <a:extLst>
                    <a:ext uri="{9D8B030D-6E8A-4147-A177-3AD203B41FA5}">
                      <a16:colId xmlns:a16="http://schemas.microsoft.com/office/drawing/2014/main" val="3783934118"/>
                    </a:ext>
                  </a:extLst>
                </a:gridCol>
              </a:tblGrid>
              <a:tr h="341267">
                <a:tc>
                  <a:txBody>
                    <a:bodyPr/>
                    <a:lstStyle/>
                    <a:p>
                      <a:r>
                        <a:rPr lang="ru-RU" dirty="0"/>
                        <a:t>Имя признака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ADD-DEL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BFS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Генетический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SVM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ИТОГ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92806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age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10226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amount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3349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cust_total_tx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37131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cust_unique_merch_total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93458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cust_tx_before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8123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cust_unique_merch_before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17534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cust_max_tx_per_day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1481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cust_avg_interval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47054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cust_avg_tx_per_day_before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8003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tx_last_7_days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36929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is_first_tx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24632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seen_merchant_before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05401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cust_tx_days_ratio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8114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gender_'E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0089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gender_'F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14968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gender_'M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229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 err="1"/>
                        <a:t>gender_'U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7853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es_barsandrestaurants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50723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es_contents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10256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es_fashion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7007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es_food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52454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es_health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00596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es_home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66567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es_hotelservices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lnB w="12700" cmpd="sng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14164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es_hyper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77726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es_leisure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2076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es_otherservices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57538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es_sportsandtoys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15835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es_tech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21736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es_transportation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74881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es_travel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49709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en-US" sz="600" dirty="0"/>
                        <a:t>category_'</a:t>
                      </a:r>
                      <a:r>
                        <a:rPr lang="en-US" sz="600" dirty="0" err="1"/>
                        <a:t>es_wellnessandbeauty</a:t>
                      </a:r>
                      <a:r>
                        <a:rPr lang="en-US" sz="600" dirty="0"/>
                        <a:t>'</a:t>
                      </a:r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48728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B123865-A6B0-1C96-FC52-D6075BCD49DB}"/>
              </a:ext>
            </a:extLst>
          </p:cNvPr>
          <p:cNvSpPr txBox="1"/>
          <p:nvPr/>
        </p:nvSpPr>
        <p:spPr>
          <a:xfrm>
            <a:off x="424206" y="3799002"/>
            <a:ext cx="21116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Принцип отбора:</a:t>
            </a:r>
          </a:p>
          <a:p>
            <a:r>
              <a:rPr lang="ru-RU" sz="2400" b="1" dirty="0"/>
              <a:t>2 и более повторений</a:t>
            </a:r>
          </a:p>
        </p:txBody>
      </p:sp>
    </p:spTree>
    <p:extLst>
      <p:ext uri="{BB962C8B-B14F-4D97-AF65-F5344CB8AC3E}">
        <p14:creationId xmlns:p14="http://schemas.microsoft.com/office/powerpoint/2010/main" val="37218296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B05E2-E188-6A81-9C7E-0E1A6FB7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EABDE3BE-B3FC-B632-0BCD-BC8FDA9BB9C6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51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30090-74D6-4CF3-6DFF-27E1DF27B3F1}"/>
              </a:ext>
            </a:extLst>
          </p:cNvPr>
          <p:cNvSpPr txBox="1"/>
          <p:nvPr/>
        </p:nvSpPr>
        <p:spPr>
          <a:xfrm>
            <a:off x="2376248" y="211137"/>
            <a:ext cx="743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</a:rPr>
              <a:t>ОТОБРАННЫЕ ПРИЗНАКИ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E4B48-1558-4E92-289A-831528BA20C9}"/>
              </a:ext>
            </a:extLst>
          </p:cNvPr>
          <p:cNvSpPr txBox="1"/>
          <p:nvPr/>
        </p:nvSpPr>
        <p:spPr>
          <a:xfrm>
            <a:off x="591042" y="1402475"/>
            <a:ext cx="592099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ФИНАНСОВЫЕ ПОКАЗАТЕЛИ</a:t>
            </a:r>
            <a:r>
              <a:rPr lang="ru-RU" dirty="0"/>
              <a:t>:</a:t>
            </a:r>
          </a:p>
          <a:p>
            <a:endParaRPr lang="ru-RU" dirty="0"/>
          </a:p>
          <a:p>
            <a:r>
              <a:rPr lang="ru-RU" b="1" dirty="0" err="1"/>
              <a:t>amount</a:t>
            </a:r>
            <a:r>
              <a:rPr lang="ru-RU" dirty="0"/>
              <a:t> - Сумма транзакции</a:t>
            </a:r>
          </a:p>
          <a:p>
            <a:r>
              <a:rPr lang="ru-RU" b="1" dirty="0" err="1"/>
              <a:t>cust_max_tx_per_day</a:t>
            </a:r>
            <a:r>
              <a:rPr lang="ru-RU" dirty="0"/>
              <a:t> - Максимальное количество транзакций в день</a:t>
            </a:r>
          </a:p>
          <a:p>
            <a:endParaRPr lang="ru-RU" dirty="0"/>
          </a:p>
          <a:p>
            <a:r>
              <a:rPr lang="ru-RU" b="1" dirty="0"/>
              <a:t>ПОВЕДЕНЧЕСКИЕ ХАРАКТЕРИСТИКИ</a:t>
            </a:r>
            <a:r>
              <a:rPr lang="ru-RU" dirty="0"/>
              <a:t>:</a:t>
            </a:r>
          </a:p>
          <a:p>
            <a:endParaRPr lang="ru-RU" dirty="0"/>
          </a:p>
          <a:p>
            <a:r>
              <a:rPr lang="ru-RU" b="1" dirty="0" err="1"/>
              <a:t>cust_unique_merch_total</a:t>
            </a:r>
            <a:r>
              <a:rPr lang="ru-RU" dirty="0"/>
              <a:t> - Количество уникальных </a:t>
            </a:r>
            <a:r>
              <a:rPr lang="ru-RU" dirty="0" err="1"/>
              <a:t>мерчантов</a:t>
            </a:r>
            <a:r>
              <a:rPr lang="ru-RU" dirty="0"/>
              <a:t> (продавцов)</a:t>
            </a:r>
          </a:p>
          <a:p>
            <a:r>
              <a:rPr lang="ru-RU" b="1" dirty="0" err="1"/>
              <a:t>is_first_tx</a:t>
            </a:r>
            <a:r>
              <a:rPr lang="ru-RU" dirty="0"/>
              <a:t> - Первая ли это транзакция клиента</a:t>
            </a:r>
          </a:p>
          <a:p>
            <a:endParaRPr lang="ru-RU" dirty="0"/>
          </a:p>
          <a:p>
            <a:endParaRPr lang="ru-RU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2F7090-38C2-C0D1-443A-C3BF1DE25487}"/>
              </a:ext>
            </a:extLst>
          </p:cNvPr>
          <p:cNvSpPr txBox="1"/>
          <p:nvPr/>
        </p:nvSpPr>
        <p:spPr>
          <a:xfrm>
            <a:off x="6463763" y="1402475"/>
            <a:ext cx="537339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КАТЕГОРИИ МЕРЧАНТОВ:</a:t>
            </a:r>
          </a:p>
          <a:p>
            <a:endParaRPr lang="ru-RU" b="1" dirty="0"/>
          </a:p>
          <a:p>
            <a:r>
              <a:rPr lang="en-US" b="1" dirty="0"/>
              <a:t>category_'</a:t>
            </a:r>
            <a:r>
              <a:rPr lang="en-US" b="1" dirty="0" err="1"/>
              <a:t>es_barsandrestaurants</a:t>
            </a:r>
            <a:r>
              <a:rPr lang="en-US" b="1" dirty="0"/>
              <a:t>'</a:t>
            </a:r>
            <a:r>
              <a:rPr lang="en-US" dirty="0"/>
              <a:t> - </a:t>
            </a:r>
            <a:r>
              <a:rPr lang="ru-RU" dirty="0"/>
              <a:t>Бары и рестораны</a:t>
            </a:r>
          </a:p>
          <a:p>
            <a:r>
              <a:rPr lang="en-US" b="1" dirty="0"/>
              <a:t>category_'</a:t>
            </a:r>
            <a:r>
              <a:rPr lang="en-US" b="1" dirty="0" err="1"/>
              <a:t>es_fashion</a:t>
            </a:r>
            <a:r>
              <a:rPr lang="en-US" b="1" dirty="0"/>
              <a:t>'</a:t>
            </a:r>
            <a:r>
              <a:rPr lang="en-US" dirty="0"/>
              <a:t> - </a:t>
            </a:r>
            <a:r>
              <a:rPr lang="ru-RU" dirty="0"/>
              <a:t>Мода (одежда, аксессуары)</a:t>
            </a:r>
          </a:p>
          <a:p>
            <a:r>
              <a:rPr lang="en-US" b="1" dirty="0"/>
              <a:t>category_'</a:t>
            </a:r>
            <a:r>
              <a:rPr lang="en-US" b="1" dirty="0" err="1"/>
              <a:t>es_hotelservices</a:t>
            </a:r>
            <a:r>
              <a:rPr lang="en-US" b="1" dirty="0"/>
              <a:t>'</a:t>
            </a:r>
            <a:r>
              <a:rPr lang="en-US" dirty="0"/>
              <a:t> - </a:t>
            </a:r>
            <a:r>
              <a:rPr lang="ru-RU" dirty="0"/>
              <a:t>Гостиничные услуги</a:t>
            </a:r>
          </a:p>
          <a:p>
            <a:r>
              <a:rPr lang="en-US" b="1" dirty="0"/>
              <a:t>category_'</a:t>
            </a:r>
            <a:r>
              <a:rPr lang="en-US" b="1" dirty="0" err="1"/>
              <a:t>es_leisure</a:t>
            </a:r>
            <a:r>
              <a:rPr lang="en-US" b="1" dirty="0"/>
              <a:t>'</a:t>
            </a:r>
            <a:r>
              <a:rPr lang="en-US" dirty="0"/>
              <a:t> - </a:t>
            </a:r>
            <a:r>
              <a:rPr lang="ru-RU" dirty="0"/>
              <a:t>Досуг и развлечения</a:t>
            </a:r>
          </a:p>
          <a:p>
            <a:r>
              <a:rPr lang="en-US" b="1" dirty="0"/>
              <a:t>category_'</a:t>
            </a:r>
            <a:r>
              <a:rPr lang="en-US" b="1" dirty="0" err="1"/>
              <a:t>es_sportsandtoys</a:t>
            </a:r>
            <a:r>
              <a:rPr lang="en-US" b="1" dirty="0"/>
              <a:t>'</a:t>
            </a:r>
            <a:r>
              <a:rPr lang="en-US" dirty="0"/>
              <a:t> - </a:t>
            </a:r>
            <a:r>
              <a:rPr lang="ru-RU" dirty="0"/>
              <a:t>Спорт и игрушки</a:t>
            </a:r>
          </a:p>
          <a:p>
            <a:r>
              <a:rPr lang="en-US" b="1" dirty="0"/>
              <a:t>category_'</a:t>
            </a:r>
            <a:r>
              <a:rPr lang="en-US" b="1" dirty="0" err="1"/>
              <a:t>es_tech</a:t>
            </a:r>
            <a:r>
              <a:rPr lang="en-US" b="1" dirty="0"/>
              <a:t>'</a:t>
            </a:r>
            <a:r>
              <a:rPr lang="en-US" dirty="0"/>
              <a:t> - </a:t>
            </a:r>
            <a:r>
              <a:rPr lang="ru-RU" dirty="0"/>
              <a:t>Техника и электроника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43368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60C22-0027-62B4-21A5-AB8B6455C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844937-9090-73AE-7ECC-C8CD869F9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733" y="1109722"/>
            <a:ext cx="7439504" cy="4665606"/>
          </a:xfrm>
          <a:prstGeom prst="rect">
            <a:avLst/>
          </a:prstGeom>
        </p:spPr>
      </p:pic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9B9D220C-576F-2DE4-94C1-141927F18E70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52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DDA02F-67CA-D5FF-78DA-1D7DBDD3A77B}"/>
              </a:ext>
            </a:extLst>
          </p:cNvPr>
          <p:cNvSpPr txBox="1"/>
          <p:nvPr/>
        </p:nvSpPr>
        <p:spPr>
          <a:xfrm>
            <a:off x="2376248" y="211137"/>
            <a:ext cx="743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</a:rPr>
              <a:t>ЛОКОТЬ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5E00095E-BC71-B68E-201A-6883B229E91B}"/>
              </a:ext>
            </a:extLst>
          </p:cNvPr>
          <p:cNvGrpSpPr/>
          <p:nvPr/>
        </p:nvGrpSpPr>
        <p:grpSpPr>
          <a:xfrm>
            <a:off x="4536861" y="1944925"/>
            <a:ext cx="3478320" cy="2638080"/>
            <a:chOff x="4536861" y="1944925"/>
            <a:chExt cx="3478320" cy="263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Рукописный ввод 4">
                  <a:extLst>
                    <a:ext uri="{FF2B5EF4-FFF2-40B4-BE49-F238E27FC236}">
                      <a16:creationId xmlns:a16="http://schemas.microsoft.com/office/drawing/2014/main" id="{84115042-4393-122B-0171-E7D0833043B9}"/>
                    </a:ext>
                  </a:extLst>
                </p14:cNvPr>
                <p14:cNvContentPartPr/>
                <p14:nvPr/>
              </p14:nvContentPartPr>
              <p14:xfrm>
                <a:off x="4768701" y="3684445"/>
                <a:ext cx="10080" cy="829440"/>
              </p14:xfrm>
            </p:contentPart>
          </mc:Choice>
          <mc:Fallback xmlns="">
            <p:pic>
              <p:nvPicPr>
                <p:cNvPr id="5" name="Рукописный ввод 4">
                  <a:extLst>
                    <a:ext uri="{FF2B5EF4-FFF2-40B4-BE49-F238E27FC236}">
                      <a16:creationId xmlns:a16="http://schemas.microsoft.com/office/drawing/2014/main" id="{84115042-4393-122B-0171-E7D0833043B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59701" y="3675445"/>
                  <a:ext cx="27720" cy="84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Рукописный ввод 5">
                  <a:extLst>
                    <a:ext uri="{FF2B5EF4-FFF2-40B4-BE49-F238E27FC236}">
                      <a16:creationId xmlns:a16="http://schemas.microsoft.com/office/drawing/2014/main" id="{8E82ED78-AE2A-11FF-B7BC-DCD5A687922B}"/>
                    </a:ext>
                  </a:extLst>
                </p14:cNvPr>
                <p14:cNvContentPartPr/>
                <p14:nvPr/>
              </p14:nvContentPartPr>
              <p14:xfrm>
                <a:off x="4536861" y="3568885"/>
                <a:ext cx="1362600" cy="1014120"/>
              </p14:xfrm>
            </p:contentPart>
          </mc:Choice>
          <mc:Fallback xmlns="">
            <p:pic>
              <p:nvPicPr>
                <p:cNvPr id="6" name="Рукописный ввод 5">
                  <a:extLst>
                    <a:ext uri="{FF2B5EF4-FFF2-40B4-BE49-F238E27FC236}">
                      <a16:creationId xmlns:a16="http://schemas.microsoft.com/office/drawing/2014/main" id="{8E82ED78-AE2A-11FF-B7BC-DCD5A687922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28221" y="3559885"/>
                  <a:ext cx="1380240" cy="10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6C896CEF-B416-0B74-76A5-90EED6C89BBB}"/>
                    </a:ext>
                  </a:extLst>
                </p14:cNvPr>
                <p14:cNvContentPartPr/>
                <p14:nvPr/>
              </p14:nvContentPartPr>
              <p14:xfrm>
                <a:off x="5405541" y="2941045"/>
                <a:ext cx="505440" cy="501480"/>
              </p14:xfrm>
            </p:contentPart>
          </mc:Choice>
          <mc:Fallback xmlns=""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6C896CEF-B416-0B74-76A5-90EED6C89B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96541" y="2932405"/>
                  <a:ext cx="52308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Рукописный ввод 11">
                  <a:extLst>
                    <a:ext uri="{FF2B5EF4-FFF2-40B4-BE49-F238E27FC236}">
                      <a16:creationId xmlns:a16="http://schemas.microsoft.com/office/drawing/2014/main" id="{CE8C1DD0-9FA6-F1FD-653F-8CBA9C3DD72A}"/>
                    </a:ext>
                  </a:extLst>
                </p14:cNvPr>
                <p14:cNvContentPartPr/>
                <p14:nvPr/>
              </p14:nvContentPartPr>
              <p14:xfrm>
                <a:off x="5629821" y="3099805"/>
                <a:ext cx="181800" cy="154800"/>
              </p14:xfrm>
            </p:contentPart>
          </mc:Choice>
          <mc:Fallback xmlns="">
            <p:pic>
              <p:nvPicPr>
                <p:cNvPr id="12" name="Рукописный ввод 11">
                  <a:extLst>
                    <a:ext uri="{FF2B5EF4-FFF2-40B4-BE49-F238E27FC236}">
                      <a16:creationId xmlns:a16="http://schemas.microsoft.com/office/drawing/2014/main" id="{CE8C1DD0-9FA6-F1FD-653F-8CBA9C3DD72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20821" y="3091165"/>
                  <a:ext cx="199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F07151A1-35A5-869D-6174-A7DF8DF8EC81}"/>
                    </a:ext>
                  </a:extLst>
                </p14:cNvPr>
                <p14:cNvContentPartPr/>
                <p14:nvPr/>
              </p14:nvContentPartPr>
              <p14:xfrm>
                <a:off x="5611821" y="2787325"/>
                <a:ext cx="807120" cy="553680"/>
              </p14:xfrm>
            </p:contentPart>
          </mc:Choice>
          <mc:Fallback xmlns=""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F07151A1-35A5-869D-6174-A7DF8DF8EC8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03181" y="2778325"/>
                  <a:ext cx="82476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Рукописный ввод 13">
                  <a:extLst>
                    <a:ext uri="{FF2B5EF4-FFF2-40B4-BE49-F238E27FC236}">
                      <a16:creationId xmlns:a16="http://schemas.microsoft.com/office/drawing/2014/main" id="{6904E995-127A-FD27-12C1-845ADB83F160}"/>
                    </a:ext>
                  </a:extLst>
                </p14:cNvPr>
                <p14:cNvContentPartPr/>
                <p14:nvPr/>
              </p14:nvContentPartPr>
              <p14:xfrm>
                <a:off x="7036341" y="2187205"/>
                <a:ext cx="279360" cy="546480"/>
              </p14:xfrm>
            </p:contentPart>
          </mc:Choice>
          <mc:Fallback xmlns="">
            <p:pic>
              <p:nvPicPr>
                <p:cNvPr id="14" name="Рукописный ввод 13">
                  <a:extLst>
                    <a:ext uri="{FF2B5EF4-FFF2-40B4-BE49-F238E27FC236}">
                      <a16:creationId xmlns:a16="http://schemas.microsoft.com/office/drawing/2014/main" id="{6904E995-127A-FD27-12C1-845ADB83F16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27341" y="2178205"/>
                  <a:ext cx="29700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Рукописный ввод 14">
                  <a:extLst>
                    <a:ext uri="{FF2B5EF4-FFF2-40B4-BE49-F238E27FC236}">
                      <a16:creationId xmlns:a16="http://schemas.microsoft.com/office/drawing/2014/main" id="{2F1D2520-1F0A-E622-EBD9-D81FDF4BF6A5}"/>
                    </a:ext>
                  </a:extLst>
                </p14:cNvPr>
                <p14:cNvContentPartPr/>
                <p14:nvPr/>
              </p14:nvContentPartPr>
              <p14:xfrm>
                <a:off x="6659781" y="1944925"/>
                <a:ext cx="1355400" cy="906840"/>
              </p14:xfrm>
            </p:contentPart>
          </mc:Choice>
          <mc:Fallback xmlns="">
            <p:pic>
              <p:nvPicPr>
                <p:cNvPr id="15" name="Рукописный ввод 14">
                  <a:extLst>
                    <a:ext uri="{FF2B5EF4-FFF2-40B4-BE49-F238E27FC236}">
                      <a16:creationId xmlns:a16="http://schemas.microsoft.com/office/drawing/2014/main" id="{2F1D2520-1F0A-E622-EBD9-D81FDF4BF6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51141" y="1935925"/>
                  <a:ext cx="1373040" cy="924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894088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2792-7D99-95D2-E0BB-E4CBE1E64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C214C68-5933-C85D-6C1A-CB6502973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025" y="1414284"/>
            <a:ext cx="7583468" cy="1892691"/>
          </a:xfrm>
          <a:prstGeom prst="rect">
            <a:avLst/>
          </a:prstGeom>
        </p:spPr>
      </p:pic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A5AA826E-4C2E-5448-787D-6D236D3D6D86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53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894D8A-5F5C-4619-3452-BA06CE31C209}"/>
              </a:ext>
            </a:extLst>
          </p:cNvPr>
          <p:cNvSpPr txBox="1"/>
          <p:nvPr/>
        </p:nvSpPr>
        <p:spPr>
          <a:xfrm>
            <a:off x="2376248" y="211137"/>
            <a:ext cx="743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</a:rPr>
              <a:t>АНАЛИЗ </a:t>
            </a:r>
            <a:r>
              <a:rPr lang="en-US" sz="3600" b="1" dirty="0">
                <a:solidFill>
                  <a:srgbClr val="FF0000"/>
                </a:solidFill>
              </a:rPr>
              <a:t>FRAUD</a:t>
            </a:r>
            <a:r>
              <a:rPr lang="ru-RU" sz="3600" b="1" dirty="0">
                <a:solidFill>
                  <a:srgbClr val="FF0000"/>
                </a:solidFill>
              </a:rPr>
              <a:t> 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88C3FCA4-1E0C-7670-CCD9-FDDE336F7B8D}"/>
              </a:ext>
            </a:extLst>
          </p:cNvPr>
          <p:cNvGrpSpPr/>
          <p:nvPr/>
        </p:nvGrpSpPr>
        <p:grpSpPr>
          <a:xfrm>
            <a:off x="1966208" y="1969225"/>
            <a:ext cx="388440" cy="236160"/>
            <a:chOff x="17061" y="1980565"/>
            <a:chExt cx="38844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Рукописный ввод 4">
                  <a:extLst>
                    <a:ext uri="{FF2B5EF4-FFF2-40B4-BE49-F238E27FC236}">
                      <a16:creationId xmlns:a16="http://schemas.microsoft.com/office/drawing/2014/main" id="{E61FA063-ED85-A34E-15E0-F1DBB834475C}"/>
                    </a:ext>
                  </a:extLst>
                </p14:cNvPr>
                <p14:cNvContentPartPr/>
                <p14:nvPr/>
              </p14:nvContentPartPr>
              <p14:xfrm>
                <a:off x="71421" y="2007925"/>
                <a:ext cx="18720" cy="187560"/>
              </p14:xfrm>
            </p:contentPart>
          </mc:Choice>
          <mc:Fallback xmlns="">
            <p:pic>
              <p:nvPicPr>
                <p:cNvPr id="5" name="Рукописный ввод 4">
                  <a:extLst>
                    <a:ext uri="{FF2B5EF4-FFF2-40B4-BE49-F238E27FC236}">
                      <a16:creationId xmlns:a16="http://schemas.microsoft.com/office/drawing/2014/main" id="{E61FA063-ED85-A34E-15E0-F1DBB834475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421" y="1999285"/>
                  <a:ext cx="363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Рукописный ввод 5">
                  <a:extLst>
                    <a:ext uri="{FF2B5EF4-FFF2-40B4-BE49-F238E27FC236}">
                      <a16:creationId xmlns:a16="http://schemas.microsoft.com/office/drawing/2014/main" id="{3BC846BF-2046-F764-0BF0-07FBBC399DF3}"/>
                    </a:ext>
                  </a:extLst>
                </p14:cNvPr>
                <p14:cNvContentPartPr/>
                <p14:nvPr/>
              </p14:nvContentPartPr>
              <p14:xfrm>
                <a:off x="17061" y="1980565"/>
                <a:ext cx="388440" cy="236160"/>
              </p14:xfrm>
            </p:contentPart>
          </mc:Choice>
          <mc:Fallback xmlns="">
            <p:pic>
              <p:nvPicPr>
                <p:cNvPr id="6" name="Рукописный ввод 5">
                  <a:extLst>
                    <a:ext uri="{FF2B5EF4-FFF2-40B4-BE49-F238E27FC236}">
                      <a16:creationId xmlns:a16="http://schemas.microsoft.com/office/drawing/2014/main" id="{3BC846BF-2046-F764-0BF0-07FBBC399DF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61" y="1971925"/>
                  <a:ext cx="406080" cy="25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9FA4E7F5-7984-72BB-EAD4-871AB894D96C}"/>
              </a:ext>
            </a:extLst>
          </p:cNvPr>
          <p:cNvGrpSpPr/>
          <p:nvPr/>
        </p:nvGrpSpPr>
        <p:grpSpPr>
          <a:xfrm>
            <a:off x="5723039" y="1933765"/>
            <a:ext cx="745920" cy="329760"/>
            <a:chOff x="3666381" y="1964365"/>
            <a:chExt cx="74592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Рукописный ввод 7">
                  <a:extLst>
                    <a:ext uri="{FF2B5EF4-FFF2-40B4-BE49-F238E27FC236}">
                      <a16:creationId xmlns:a16="http://schemas.microsoft.com/office/drawing/2014/main" id="{0972E5EB-1835-C4E6-19F3-12551D1B3CAC}"/>
                    </a:ext>
                  </a:extLst>
                </p14:cNvPr>
                <p14:cNvContentPartPr/>
                <p14:nvPr/>
              </p14:nvContentPartPr>
              <p14:xfrm>
                <a:off x="3747021" y="2221765"/>
                <a:ext cx="500760" cy="28440"/>
              </p14:xfrm>
            </p:contentPart>
          </mc:Choice>
          <mc:Fallback xmlns="">
            <p:pic>
              <p:nvPicPr>
                <p:cNvPr id="8" name="Рукописный ввод 7">
                  <a:extLst>
                    <a:ext uri="{FF2B5EF4-FFF2-40B4-BE49-F238E27FC236}">
                      <a16:creationId xmlns:a16="http://schemas.microsoft.com/office/drawing/2014/main" id="{0972E5EB-1835-C4E6-19F3-12551D1B3CA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38021" y="2212765"/>
                  <a:ext cx="518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Рукописный ввод 8">
                  <a:extLst>
                    <a:ext uri="{FF2B5EF4-FFF2-40B4-BE49-F238E27FC236}">
                      <a16:creationId xmlns:a16="http://schemas.microsoft.com/office/drawing/2014/main" id="{EE16AB11-5C9B-F282-8731-C587B2F985EB}"/>
                    </a:ext>
                  </a:extLst>
                </p14:cNvPr>
                <p14:cNvContentPartPr/>
                <p14:nvPr/>
              </p14:nvContentPartPr>
              <p14:xfrm>
                <a:off x="3666381" y="2016565"/>
                <a:ext cx="18720" cy="277560"/>
              </p14:xfrm>
            </p:contentPart>
          </mc:Choice>
          <mc:Fallback xmlns="">
            <p:pic>
              <p:nvPicPr>
                <p:cNvPr id="9" name="Рукописный ввод 8">
                  <a:extLst>
                    <a:ext uri="{FF2B5EF4-FFF2-40B4-BE49-F238E27FC236}">
                      <a16:creationId xmlns:a16="http://schemas.microsoft.com/office/drawing/2014/main" id="{EE16AB11-5C9B-F282-8731-C587B2F985E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57381" y="2007925"/>
                  <a:ext cx="363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20D10BEA-D149-7B57-5E6C-7BBBEA893E5B}"/>
                    </a:ext>
                  </a:extLst>
                </p14:cNvPr>
                <p14:cNvContentPartPr/>
                <p14:nvPr/>
              </p14:nvContentPartPr>
              <p14:xfrm>
                <a:off x="3720021" y="1964365"/>
                <a:ext cx="692280" cy="296280"/>
              </p14:xfrm>
            </p:contentPart>
          </mc:Choice>
          <mc:Fallback xmlns=""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20D10BEA-D149-7B57-5E6C-7BBBEA893E5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11381" y="1955365"/>
                  <a:ext cx="709920" cy="31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2F41AE84-27B9-B434-CC46-9E3FC2691B53}"/>
                  </a:ext>
                </a:extLst>
              </p14:cNvPr>
              <p14:cNvContentPartPr/>
              <p14:nvPr/>
            </p14:nvContentPartPr>
            <p14:xfrm>
              <a:off x="2011768" y="2433268"/>
              <a:ext cx="421560" cy="360"/>
            </p14:xfrm>
          </p:contentPart>
        </mc:Choice>
        <mc:Fallback xmlns=""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2F41AE84-27B9-B434-CC46-9E3FC2691B5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02768" y="2424268"/>
                <a:ext cx="4392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B8B00073-8454-F18A-C1B1-2B4F4D614EE9}"/>
              </a:ext>
            </a:extLst>
          </p:cNvPr>
          <p:cNvGrpSpPr/>
          <p:nvPr/>
        </p:nvGrpSpPr>
        <p:grpSpPr>
          <a:xfrm>
            <a:off x="5803679" y="2414188"/>
            <a:ext cx="1423080" cy="19080"/>
            <a:chOff x="3720021" y="2437765"/>
            <a:chExt cx="1423080" cy="1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Рукописный ввод 16">
                  <a:extLst>
                    <a:ext uri="{FF2B5EF4-FFF2-40B4-BE49-F238E27FC236}">
                      <a16:creationId xmlns:a16="http://schemas.microsoft.com/office/drawing/2014/main" id="{909C6A6B-13E8-ADF1-9F27-D5B6DEAD9F3A}"/>
                    </a:ext>
                  </a:extLst>
                </p14:cNvPr>
                <p14:cNvContentPartPr/>
                <p14:nvPr/>
              </p14:nvContentPartPr>
              <p14:xfrm>
                <a:off x="3720021" y="2446405"/>
                <a:ext cx="439200" cy="10440"/>
              </p14:xfrm>
            </p:contentPart>
          </mc:Choice>
          <mc:Fallback xmlns="">
            <p:pic>
              <p:nvPicPr>
                <p:cNvPr id="17" name="Рукописный ввод 16">
                  <a:extLst>
                    <a:ext uri="{FF2B5EF4-FFF2-40B4-BE49-F238E27FC236}">
                      <a16:creationId xmlns:a16="http://schemas.microsoft.com/office/drawing/2014/main" id="{909C6A6B-13E8-ADF1-9F27-D5B6DEAD9F3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11381" y="2437405"/>
                  <a:ext cx="456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Рукописный ввод 17">
                  <a:extLst>
                    <a:ext uri="{FF2B5EF4-FFF2-40B4-BE49-F238E27FC236}">
                      <a16:creationId xmlns:a16="http://schemas.microsoft.com/office/drawing/2014/main" id="{DEF55823-93F8-DA90-3FC3-F7579DBCFB02}"/>
                    </a:ext>
                  </a:extLst>
                </p14:cNvPr>
                <p14:cNvContentPartPr/>
                <p14:nvPr/>
              </p14:nvContentPartPr>
              <p14:xfrm>
                <a:off x="4580781" y="2437765"/>
                <a:ext cx="562320" cy="11880"/>
              </p14:xfrm>
            </p:contentPart>
          </mc:Choice>
          <mc:Fallback xmlns="">
            <p:pic>
              <p:nvPicPr>
                <p:cNvPr id="18" name="Рукописный ввод 17">
                  <a:extLst>
                    <a:ext uri="{FF2B5EF4-FFF2-40B4-BE49-F238E27FC236}">
                      <a16:creationId xmlns:a16="http://schemas.microsoft.com/office/drawing/2014/main" id="{DEF55823-93F8-DA90-3FC3-F7579DBCFB0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72141" y="2428765"/>
                  <a:ext cx="579960" cy="295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F5BFE67-B20B-21FD-92A9-C54495F2B00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27220" y="3851250"/>
            <a:ext cx="4391638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694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CA9B-FEC2-D03F-C099-343C7352A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48F34F92-F5AA-13F3-6278-599CAE65BDEA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932F9-A10F-1C03-257C-2058B3DB5039}"/>
              </a:ext>
            </a:extLst>
          </p:cNvPr>
          <p:cNvSpPr txBox="1"/>
          <p:nvPr/>
        </p:nvSpPr>
        <p:spPr>
          <a:xfrm>
            <a:off x="2376248" y="211137"/>
            <a:ext cx="743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АНАЛИЗ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FRAUD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E05CED-1928-31A8-304A-A53A37866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3200"/>
            <a:ext cx="12192000" cy="445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92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336F5-3C4B-9BCF-6958-1388B6863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E9C38AFB-AB64-30FB-7582-167172496FD0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3522C-B088-91FB-564C-808FACCC4954}"/>
              </a:ext>
            </a:extLst>
          </p:cNvPr>
          <p:cNvSpPr txBox="1"/>
          <p:nvPr/>
        </p:nvSpPr>
        <p:spPr>
          <a:xfrm>
            <a:off x="2501754" y="157352"/>
            <a:ext cx="8309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ГРАФИК СРЕДНИХ С ОТДЕЛЬНЫМ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FRAUD </a:t>
            </a:r>
            <a:endParaRPr kumimoji="0" lang="ru-RU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ADABF7B-DEAF-0373-C0B7-A18EBE90E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0496"/>
            <a:ext cx="12192000" cy="470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632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F3625-D833-7DC7-5079-042306845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7C0867B2-6A10-AFB6-19BD-78558BD6E4B8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56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2CCB2D-8444-3ACB-D1B2-52DCB514D2AE}"/>
              </a:ext>
            </a:extLst>
          </p:cNvPr>
          <p:cNvSpPr txBox="1"/>
          <p:nvPr/>
        </p:nvSpPr>
        <p:spPr>
          <a:xfrm>
            <a:off x="2501754" y="157352"/>
            <a:ext cx="83096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</a:rPr>
              <a:t>ГРАФИК СРЕДНИХ С ОТДЕЛЬНЫМ </a:t>
            </a:r>
            <a:r>
              <a:rPr lang="en-US" sz="3600" b="1" dirty="0">
                <a:solidFill>
                  <a:srgbClr val="FF0000"/>
                </a:solidFill>
              </a:rPr>
              <a:t>FRAUD </a:t>
            </a:r>
            <a:endParaRPr lang="ru-RU" sz="3600" b="1" dirty="0">
              <a:solidFill>
                <a:srgbClr val="FF000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2BB753-497E-BABA-938F-F9D8AAA4B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385"/>
            <a:ext cx="12192000" cy="39991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1B1D44-9099-DE9E-62C0-17CEBD98BB08}"/>
              </a:ext>
            </a:extLst>
          </p:cNvPr>
          <p:cNvSpPr txBox="1"/>
          <p:nvPr/>
        </p:nvSpPr>
        <p:spPr>
          <a:xfrm>
            <a:off x="2972194" y="5028450"/>
            <a:ext cx="6371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 КЛАСТЕР:</a:t>
            </a:r>
          </a:p>
          <a:p>
            <a:r>
              <a:rPr lang="ru-RU" b="1" dirty="0"/>
              <a:t>Сумма</a:t>
            </a:r>
            <a:r>
              <a:rPr lang="en-US" b="1" dirty="0"/>
              <a:t> - </a:t>
            </a:r>
            <a:r>
              <a:rPr lang="ru-RU" dirty="0"/>
              <a:t>очень высокий показатель</a:t>
            </a:r>
            <a:r>
              <a:rPr lang="en-US" dirty="0"/>
              <a:t> </a:t>
            </a:r>
            <a:r>
              <a:rPr lang="ru-RU" dirty="0"/>
              <a:t>суммы транзакции</a:t>
            </a:r>
            <a:r>
              <a:rPr lang="en-US" dirty="0"/>
              <a:t>.</a:t>
            </a:r>
            <a:endParaRPr lang="ru-RU" dirty="0"/>
          </a:p>
          <a:p>
            <a:r>
              <a:rPr lang="ru-RU" b="1" dirty="0"/>
              <a:t>Первая транзакция</a:t>
            </a:r>
            <a:r>
              <a:rPr lang="en-US" b="1" dirty="0"/>
              <a:t> </a:t>
            </a:r>
            <a:r>
              <a:rPr lang="ru-RU" dirty="0"/>
              <a:t>- высокий показатель первых транзакций.</a:t>
            </a:r>
          </a:p>
          <a:p>
            <a:r>
              <a:rPr lang="ru-RU" b="1" dirty="0"/>
              <a:t>Макс. Транзакций</a:t>
            </a:r>
            <a:r>
              <a:rPr lang="en-US" b="1" dirty="0"/>
              <a:t> </a:t>
            </a:r>
            <a:r>
              <a:rPr lang="ru-RU" b="1" dirty="0"/>
              <a:t>в день </a:t>
            </a:r>
            <a:r>
              <a:rPr lang="ru-RU" dirty="0"/>
              <a:t>- высокая дневная активность</a:t>
            </a:r>
          </a:p>
        </p:txBody>
      </p:sp>
    </p:spTree>
    <p:extLst>
      <p:ext uri="{BB962C8B-B14F-4D97-AF65-F5344CB8AC3E}">
        <p14:creationId xmlns:p14="http://schemas.microsoft.com/office/powerpoint/2010/main" val="11233819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B590B-74D5-5E2A-8062-562E255D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CB5C115D-037A-840B-5FE7-0D68432D4496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57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969F0-011A-602B-E6B1-21FEC2C8471A}"/>
              </a:ext>
            </a:extLst>
          </p:cNvPr>
          <p:cNvSpPr txBox="1"/>
          <p:nvPr/>
        </p:nvSpPr>
        <p:spPr>
          <a:xfrm>
            <a:off x="1442301" y="181131"/>
            <a:ext cx="1088795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</a:rPr>
              <a:t>СРАВНЕНИЕ НАБОРОВ: ГИПЕРПАРАМЕТРЫ МОДЕЛЕЙ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6778A0-4644-E7DA-91DA-2BD1E8871A4D}"/>
              </a:ext>
            </a:extLst>
          </p:cNvPr>
          <p:cNvSpPr txBox="1"/>
          <p:nvPr/>
        </p:nvSpPr>
        <p:spPr>
          <a:xfrm>
            <a:off x="457200" y="1447542"/>
            <a:ext cx="11734800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sz="2400" b="1" dirty="0"/>
              <a:t>ЛОГИСТИЧЕСКАЯ РЕГРЕССИЯ:</a:t>
            </a:r>
          </a:p>
          <a:p>
            <a:r>
              <a:rPr lang="ru-RU" sz="2000" b="1" dirty="0">
                <a:ea typeface="Calibri"/>
                <a:cs typeface="Calibri"/>
              </a:rPr>
              <a:t>Описание: </a:t>
            </a:r>
            <a:r>
              <a:rPr lang="ru-RU" sz="2000" dirty="0"/>
              <a:t>Линейная модель для бинарной классификации, предсказывает вероятность класса с помощью </a:t>
            </a:r>
            <a:r>
              <a:rPr lang="ru-RU" sz="2000" dirty="0" err="1"/>
              <a:t>сигмоиды</a:t>
            </a:r>
            <a:r>
              <a:rPr lang="ru-RU" sz="2000" dirty="0"/>
              <a:t>. </a:t>
            </a:r>
          </a:p>
          <a:p>
            <a:r>
              <a:rPr lang="ru-RU" sz="2000" b="1" dirty="0" err="1">
                <a:ea typeface="Calibri"/>
                <a:cs typeface="Calibri"/>
              </a:rPr>
              <a:t>Гиперпараметры</a:t>
            </a:r>
            <a:r>
              <a:rPr lang="ru-RU" sz="2000" b="1" dirty="0">
                <a:ea typeface="Calibri"/>
                <a:cs typeface="Calibri"/>
              </a:rPr>
              <a:t>:</a:t>
            </a:r>
            <a:r>
              <a:rPr lang="ru-RU" sz="2000" dirty="0">
                <a:ea typeface="Calibri"/>
                <a:cs typeface="Calibri"/>
              </a:rPr>
              <a:t> C=</a:t>
            </a:r>
            <a:r>
              <a:rPr lang="ru-RU" sz="2000" dirty="0">
                <a:solidFill>
                  <a:srgbClr val="116644"/>
                </a:solidFill>
                <a:ea typeface="+mn-lt"/>
                <a:cs typeface="+mn-lt"/>
              </a:rPr>
              <a:t>0.1</a:t>
            </a:r>
            <a:r>
              <a:rPr lang="ru-RU" sz="2000" dirty="0">
                <a:solidFill>
                  <a:srgbClr val="000000"/>
                </a:solidFill>
                <a:ea typeface="+mn-lt"/>
                <a:cs typeface="+mn-lt"/>
              </a:rPr>
              <a:t>,</a:t>
            </a:r>
            <a:r>
              <a:rPr lang="ru-RU" sz="2000" dirty="0">
                <a:ea typeface="Calibri"/>
                <a:cs typeface="Calibri"/>
              </a:rPr>
              <a:t> </a:t>
            </a:r>
            <a:r>
              <a:rPr lang="ru-RU" sz="2000" dirty="0" err="1">
                <a:ea typeface="Calibri"/>
                <a:cs typeface="Calibri"/>
              </a:rPr>
              <a:t>max_iter</a:t>
            </a:r>
            <a:r>
              <a:rPr lang="ru-RU" sz="2000" dirty="0">
                <a:ea typeface="Calibri"/>
                <a:cs typeface="Calibri"/>
              </a:rPr>
              <a:t>=</a:t>
            </a:r>
            <a:r>
              <a:rPr lang="ru-RU" sz="2000" dirty="0">
                <a:solidFill>
                  <a:srgbClr val="116644"/>
                </a:solidFill>
                <a:ea typeface="Calibri"/>
                <a:cs typeface="Calibri"/>
              </a:rPr>
              <a:t>1000</a:t>
            </a:r>
            <a:r>
              <a:rPr lang="ru-RU" sz="2000" dirty="0">
                <a:ea typeface="Calibri"/>
                <a:cs typeface="Calibri"/>
              </a:rPr>
              <a:t>, </a:t>
            </a:r>
            <a:r>
              <a:rPr lang="ru-RU" sz="2000" dirty="0" err="1">
                <a:ea typeface="Calibri"/>
                <a:cs typeface="Calibri"/>
              </a:rPr>
              <a:t>random_state</a:t>
            </a:r>
            <a:r>
              <a:rPr lang="ru-RU" sz="2000" dirty="0">
                <a:ea typeface="Calibri"/>
                <a:cs typeface="Calibri"/>
              </a:rPr>
              <a:t>=</a:t>
            </a:r>
            <a:r>
              <a:rPr lang="ru-RU" sz="2000" dirty="0">
                <a:solidFill>
                  <a:srgbClr val="116644"/>
                </a:solidFill>
                <a:ea typeface="Calibri"/>
                <a:cs typeface="Calibri"/>
              </a:rPr>
              <a:t>42</a:t>
            </a:r>
            <a:endParaRPr lang="ru-RU" sz="2000" dirty="0"/>
          </a:p>
          <a:p>
            <a:endParaRPr lang="ru-RU" dirty="0">
              <a:ea typeface="Calibri"/>
              <a:cs typeface="Calibri"/>
            </a:endParaRPr>
          </a:p>
          <a:p>
            <a:r>
              <a:rPr lang="ru-RU" sz="2400" b="1" dirty="0">
                <a:ea typeface="Calibri"/>
                <a:cs typeface="Calibri"/>
              </a:rPr>
              <a:t>ДЕРЕВО РЕШЕНИЙ:</a:t>
            </a:r>
          </a:p>
          <a:p>
            <a:r>
              <a:rPr lang="ru-RU" sz="2000" b="1" dirty="0">
                <a:ea typeface="Calibri"/>
                <a:cs typeface="Calibri"/>
              </a:rPr>
              <a:t>Описание: </a:t>
            </a:r>
            <a:r>
              <a:rPr lang="ru-RU" sz="2000" dirty="0"/>
              <a:t>Модель, разбивающая данные на подмножества по признакам с помощью «если-то» правил. </a:t>
            </a:r>
          </a:p>
          <a:p>
            <a:r>
              <a:rPr lang="ru-RU" sz="2000" b="1" dirty="0" err="1">
                <a:ea typeface="Calibri"/>
                <a:cs typeface="Calibri"/>
              </a:rPr>
              <a:t>Гиперпараметры</a:t>
            </a:r>
            <a:r>
              <a:rPr lang="ru-RU" sz="2000" b="1" dirty="0">
                <a:ea typeface="Calibri"/>
                <a:cs typeface="Calibri"/>
              </a:rPr>
              <a:t>: </a:t>
            </a:r>
            <a:r>
              <a:rPr lang="ru-RU" sz="2000" dirty="0" err="1">
                <a:ea typeface="+mn-lt"/>
                <a:cs typeface="+mn-lt"/>
              </a:rPr>
              <a:t>max_depth</a:t>
            </a:r>
            <a:r>
              <a:rPr lang="ru-RU" sz="2000" dirty="0">
                <a:ea typeface="+mn-lt"/>
                <a:cs typeface="+mn-lt"/>
              </a:rPr>
              <a:t>=</a:t>
            </a:r>
            <a:r>
              <a:rPr lang="ru-RU" sz="2000" dirty="0">
                <a:solidFill>
                  <a:srgbClr val="116644"/>
                </a:solidFill>
                <a:ea typeface="+mn-lt"/>
                <a:cs typeface="+mn-lt"/>
              </a:rPr>
              <a:t>8</a:t>
            </a:r>
            <a:r>
              <a:rPr lang="ru-RU" sz="2000" dirty="0">
                <a:ea typeface="+mn-lt"/>
                <a:cs typeface="+mn-lt"/>
              </a:rPr>
              <a:t>, </a:t>
            </a:r>
            <a:r>
              <a:rPr lang="ru-RU" sz="2000" dirty="0" err="1">
                <a:ea typeface="+mn-lt"/>
                <a:cs typeface="+mn-lt"/>
              </a:rPr>
              <a:t>min_samples_split</a:t>
            </a:r>
            <a:r>
              <a:rPr lang="ru-RU" sz="2000" dirty="0">
                <a:ea typeface="+mn-lt"/>
                <a:cs typeface="+mn-lt"/>
              </a:rPr>
              <a:t>=</a:t>
            </a:r>
            <a:r>
              <a:rPr lang="ru-RU" sz="2000" dirty="0">
                <a:solidFill>
                  <a:srgbClr val="116644"/>
                </a:solidFill>
                <a:ea typeface="+mn-lt"/>
                <a:cs typeface="+mn-lt"/>
              </a:rPr>
              <a:t>500</a:t>
            </a:r>
            <a:r>
              <a:rPr lang="ru-RU" sz="2000" dirty="0">
                <a:ea typeface="+mn-lt"/>
                <a:cs typeface="+mn-lt"/>
              </a:rPr>
              <a:t>, </a:t>
            </a:r>
            <a:r>
              <a:rPr lang="ru-RU" sz="2000" dirty="0" err="1">
                <a:ea typeface="+mn-lt"/>
                <a:cs typeface="+mn-lt"/>
              </a:rPr>
              <a:t>random_state</a:t>
            </a:r>
            <a:r>
              <a:rPr lang="ru-RU" sz="2000" dirty="0">
                <a:ea typeface="+mn-lt"/>
                <a:cs typeface="+mn-lt"/>
              </a:rPr>
              <a:t>=</a:t>
            </a:r>
            <a:r>
              <a:rPr lang="ru-RU" sz="2000" dirty="0">
                <a:solidFill>
                  <a:srgbClr val="116644"/>
                </a:solidFill>
                <a:ea typeface="+mn-lt"/>
                <a:cs typeface="+mn-lt"/>
              </a:rPr>
              <a:t>42</a:t>
            </a:r>
            <a:endParaRPr lang="ru-RU" sz="2000" dirty="0">
              <a:ea typeface="Calibri"/>
              <a:cs typeface="Calibri"/>
            </a:endParaRPr>
          </a:p>
          <a:p>
            <a:endParaRPr lang="ru-RU" sz="2400" dirty="0">
              <a:ea typeface="Calibri"/>
              <a:cs typeface="Calibri"/>
            </a:endParaRPr>
          </a:p>
          <a:p>
            <a:r>
              <a:rPr lang="ru-RU" sz="2400" b="1" dirty="0">
                <a:ea typeface="Calibri"/>
                <a:cs typeface="Calibri"/>
              </a:rPr>
              <a:t>SVM:</a:t>
            </a:r>
          </a:p>
          <a:p>
            <a:r>
              <a:rPr lang="ru-RU" sz="2000" b="1" dirty="0">
                <a:ea typeface="Calibri"/>
                <a:cs typeface="Calibri"/>
              </a:rPr>
              <a:t>Описание: </a:t>
            </a:r>
            <a:r>
              <a:rPr lang="ru-RU" sz="2000" dirty="0"/>
              <a:t>Находит гиперплоскость, максимально разделяющую классы. </a:t>
            </a:r>
          </a:p>
          <a:p>
            <a:r>
              <a:rPr lang="ru-RU" sz="2000" b="1" dirty="0" err="1">
                <a:ea typeface="Calibri"/>
                <a:cs typeface="Calibri"/>
              </a:rPr>
              <a:t>Гиперпараметры</a:t>
            </a:r>
            <a:r>
              <a:rPr lang="ru-RU" sz="2000" b="1" dirty="0">
                <a:ea typeface="Calibri"/>
                <a:cs typeface="Calibri"/>
              </a:rPr>
              <a:t>: </a:t>
            </a:r>
            <a:r>
              <a:rPr lang="ru-RU" sz="2000" dirty="0">
                <a:ea typeface="+mn-lt"/>
                <a:cs typeface="+mn-lt"/>
              </a:rPr>
              <a:t>C=</a:t>
            </a:r>
            <a:r>
              <a:rPr lang="ru-RU" sz="2000" dirty="0">
                <a:solidFill>
                  <a:srgbClr val="116644"/>
                </a:solidFill>
                <a:ea typeface="+mn-lt"/>
                <a:cs typeface="+mn-lt"/>
              </a:rPr>
              <a:t>1.0</a:t>
            </a:r>
            <a:r>
              <a:rPr lang="ru-RU" sz="2000" dirty="0">
                <a:ea typeface="+mn-lt"/>
                <a:cs typeface="+mn-lt"/>
              </a:rPr>
              <a:t>, </a:t>
            </a:r>
            <a:r>
              <a:rPr lang="ru-RU" sz="2000" dirty="0" err="1">
                <a:ea typeface="+mn-lt"/>
                <a:cs typeface="+mn-lt"/>
              </a:rPr>
              <a:t>kernel</a:t>
            </a:r>
            <a:r>
              <a:rPr lang="ru-RU" sz="2000" dirty="0">
                <a:ea typeface="+mn-lt"/>
                <a:cs typeface="+mn-lt"/>
              </a:rPr>
              <a:t>=</a:t>
            </a:r>
            <a:r>
              <a:rPr lang="ru-RU" sz="2000" dirty="0">
                <a:solidFill>
                  <a:srgbClr val="A31515"/>
                </a:solidFill>
                <a:ea typeface="+mn-lt"/>
                <a:cs typeface="+mn-lt"/>
              </a:rPr>
              <a:t>'</a:t>
            </a:r>
            <a:r>
              <a:rPr lang="ru-RU" sz="2000" dirty="0" err="1">
                <a:solidFill>
                  <a:srgbClr val="A31515"/>
                </a:solidFill>
                <a:ea typeface="+mn-lt"/>
                <a:cs typeface="+mn-lt"/>
              </a:rPr>
              <a:t>linear</a:t>
            </a:r>
            <a:r>
              <a:rPr lang="ru-RU" sz="2000" dirty="0">
                <a:solidFill>
                  <a:srgbClr val="A31515"/>
                </a:solidFill>
                <a:ea typeface="+mn-lt"/>
                <a:cs typeface="+mn-lt"/>
              </a:rPr>
              <a:t>'</a:t>
            </a:r>
            <a:r>
              <a:rPr lang="ru-RU" sz="2000" dirty="0">
                <a:ea typeface="+mn-lt"/>
                <a:cs typeface="+mn-lt"/>
              </a:rPr>
              <a:t>, </a:t>
            </a:r>
            <a:r>
              <a:rPr lang="ru-RU" sz="2000" dirty="0" err="1">
                <a:ea typeface="+mn-lt"/>
                <a:cs typeface="+mn-lt"/>
              </a:rPr>
              <a:t>probability</a:t>
            </a:r>
            <a:r>
              <a:rPr lang="ru-RU" sz="2000" dirty="0">
                <a:ea typeface="+mn-lt"/>
                <a:cs typeface="+mn-lt"/>
              </a:rPr>
              <a:t>=</a:t>
            </a:r>
            <a:r>
              <a:rPr lang="ru-RU" sz="2000" dirty="0">
                <a:solidFill>
                  <a:srgbClr val="0000FF"/>
                </a:solidFill>
                <a:ea typeface="+mn-lt"/>
                <a:cs typeface="+mn-lt"/>
              </a:rPr>
              <a:t>True</a:t>
            </a:r>
            <a:r>
              <a:rPr lang="ru-RU" sz="2000" dirty="0">
                <a:ea typeface="+mn-lt"/>
                <a:cs typeface="+mn-lt"/>
              </a:rPr>
              <a:t>, </a:t>
            </a:r>
            <a:r>
              <a:rPr lang="ru-RU" sz="2000" dirty="0" err="1">
                <a:ea typeface="+mn-lt"/>
                <a:cs typeface="+mn-lt"/>
              </a:rPr>
              <a:t>random_state</a:t>
            </a:r>
            <a:r>
              <a:rPr lang="ru-RU" sz="2000" dirty="0">
                <a:ea typeface="+mn-lt"/>
                <a:cs typeface="+mn-lt"/>
              </a:rPr>
              <a:t>=</a:t>
            </a:r>
            <a:r>
              <a:rPr lang="ru-RU" sz="2000" dirty="0">
                <a:solidFill>
                  <a:srgbClr val="116644"/>
                </a:solidFill>
                <a:ea typeface="+mn-lt"/>
                <a:cs typeface="+mn-lt"/>
              </a:rPr>
              <a:t>42</a:t>
            </a:r>
            <a:endParaRPr lang="ru-RU" sz="2000" dirty="0">
              <a:ea typeface="Calibri"/>
              <a:cs typeface="Calibri"/>
            </a:endParaRPr>
          </a:p>
          <a:p>
            <a:endParaRPr lang="ru-RU" dirty="0">
              <a:ea typeface="Calibri"/>
              <a:cs typeface="Calibri"/>
            </a:endParaRPr>
          </a:p>
          <a:p>
            <a:endParaRPr lang="ru-RU" sz="2400" dirty="0">
              <a:ea typeface="Calibri"/>
              <a:cs typeface="Calibri"/>
            </a:endParaRPr>
          </a:p>
          <a:p>
            <a:endParaRPr lang="ru-RU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61085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C8DFB-FD11-A057-1BAC-1615A860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B0120C5A-83ED-175F-69DD-14AD363C26F8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58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F9EB4-C378-57AF-D13A-E31D454A832A}"/>
              </a:ext>
            </a:extLst>
          </p:cNvPr>
          <p:cNvSpPr txBox="1"/>
          <p:nvPr/>
        </p:nvSpPr>
        <p:spPr>
          <a:xfrm>
            <a:off x="2501754" y="157352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СРАВНЕНИЕ МЕТРИК МОДЕЛЕЙ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F19D676-0142-A7C8-5A18-BDEF1ACA8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515196"/>
              </p:ext>
            </p:extLst>
          </p:nvPr>
        </p:nvGraphicFramePr>
        <p:xfrm>
          <a:off x="1800277" y="729599"/>
          <a:ext cx="9372551" cy="6128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411">
                  <a:extLst>
                    <a:ext uri="{9D8B030D-6E8A-4147-A177-3AD203B41FA5}">
                      <a16:colId xmlns:a16="http://schemas.microsoft.com/office/drawing/2014/main" val="577862320"/>
                    </a:ext>
                  </a:extLst>
                </a:gridCol>
                <a:gridCol w="1149411">
                  <a:extLst>
                    <a:ext uri="{9D8B030D-6E8A-4147-A177-3AD203B41FA5}">
                      <a16:colId xmlns:a16="http://schemas.microsoft.com/office/drawing/2014/main" val="2401698369"/>
                    </a:ext>
                  </a:extLst>
                </a:gridCol>
                <a:gridCol w="1149411">
                  <a:extLst>
                    <a:ext uri="{9D8B030D-6E8A-4147-A177-3AD203B41FA5}">
                      <a16:colId xmlns:a16="http://schemas.microsoft.com/office/drawing/2014/main" val="3120303465"/>
                    </a:ext>
                  </a:extLst>
                </a:gridCol>
                <a:gridCol w="1149411">
                  <a:extLst>
                    <a:ext uri="{9D8B030D-6E8A-4147-A177-3AD203B41FA5}">
                      <a16:colId xmlns:a16="http://schemas.microsoft.com/office/drawing/2014/main" val="1535543952"/>
                    </a:ext>
                  </a:extLst>
                </a:gridCol>
                <a:gridCol w="1149411">
                  <a:extLst>
                    <a:ext uri="{9D8B030D-6E8A-4147-A177-3AD203B41FA5}">
                      <a16:colId xmlns:a16="http://schemas.microsoft.com/office/drawing/2014/main" val="725882989"/>
                    </a:ext>
                  </a:extLst>
                </a:gridCol>
                <a:gridCol w="972148">
                  <a:extLst>
                    <a:ext uri="{9D8B030D-6E8A-4147-A177-3AD203B41FA5}">
                      <a16:colId xmlns:a16="http://schemas.microsoft.com/office/drawing/2014/main" val="1621722141"/>
                    </a:ext>
                  </a:extLst>
                </a:gridCol>
                <a:gridCol w="1326674">
                  <a:extLst>
                    <a:ext uri="{9D8B030D-6E8A-4147-A177-3AD203B41FA5}">
                      <a16:colId xmlns:a16="http://schemas.microsoft.com/office/drawing/2014/main" val="4141533028"/>
                    </a:ext>
                  </a:extLst>
                </a:gridCol>
                <a:gridCol w="1326674">
                  <a:extLst>
                    <a:ext uri="{9D8B030D-6E8A-4147-A177-3AD203B41FA5}">
                      <a16:colId xmlns:a16="http://schemas.microsoft.com/office/drawing/2014/main" val="3266314473"/>
                    </a:ext>
                  </a:extLst>
                </a:gridCol>
              </a:tblGrid>
              <a:tr h="642001">
                <a:tc>
                  <a:txBody>
                    <a:bodyPr/>
                    <a:lstStyle/>
                    <a:p>
                      <a:r>
                        <a:rPr lang="ru-RU" dirty="0"/>
                        <a:t>МЕТОД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ADD-DEL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BFS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dirty="0"/>
                        <a:t>Генетический</a:t>
                      </a:r>
                      <a:endParaRPr lang="ru-RU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SVM</a:t>
                      </a:r>
                      <a:endParaRPr lang="ru-RU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НАШ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 ПРИЗНАКИ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МЕТРИКА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621738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ЛОГ. РЕГ.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0,994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0,995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0,995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0,995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0,995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2000" b="1" dirty="0" err="1"/>
                        <a:t>Accuracy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6119897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ДЕР. РЕШ.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885209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SVM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0,995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0,995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0,995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0,995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ru-RU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772597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ЛОГ. РЕГ.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0,88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0,90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0,90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0,90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0,90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0,89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2000" b="1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Precision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522256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ДЕР. РЕШ.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0,84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0,83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0,83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0,83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0,83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641410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SVM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0,91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0,93</a:t>
                      </a:r>
                      <a:endParaRPr lang="en-US" sz="1800" b="0" i="0" u="none" strike="noStrike" noProof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>
                    <a:lnR w="12700" cmpd="sng"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0,93</a:t>
                      </a:r>
                      <a:endParaRPr lang="en-US" sz="1800" b="0" i="0" u="none" strike="noStrike" noProof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0,93</a:t>
                      </a:r>
                      <a:endParaRPr lang="en-US" sz="1800" b="0" i="0" u="none" strike="noStrike" noProof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>
                    <a:lnL w="12700" cmpd="sng"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0,93</a:t>
                      </a:r>
                      <a:endParaRPr lang="en-US" sz="1800" b="0" i="0" u="none" strike="noStrike" noProof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0,92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048823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ЛОГ. РЕГ.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0,65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0,67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0,67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0,61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0,67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0,69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2000" b="1" i="0" u="none" strike="noStrike" noProof="0" dirty="0" err="1">
                          <a:solidFill>
                            <a:srgbClr val="000000"/>
                          </a:solidFill>
                          <a:latin typeface="+mn-lt"/>
                        </a:rPr>
                        <a:t>Recall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163212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ДЕР. РЕШ.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0,68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0,72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21070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SVM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0,62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0,64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0,64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0,57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0,64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0,70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930515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ЛОГ. РЕГ.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0,75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0,77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0,77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0,72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0,77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2000" b="1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F1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524090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ДЕР. РЕШ.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0,75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0,76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0,76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0,75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0,76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0,76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192270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SVM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0,74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0,76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0,76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0,71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0,76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0,79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110909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ЛОГ. РЕГ.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0,98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0,97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0,995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ru-RU" sz="2000" b="1" i="0" u="none" strike="noStrike" noProof="0" dirty="0">
                          <a:solidFill>
                            <a:srgbClr val="000000"/>
                          </a:solidFill>
                          <a:latin typeface="+mn-lt"/>
                        </a:rPr>
                        <a:t>AUC</a:t>
                      </a:r>
                      <a:endParaRPr lang="en-US" sz="2000" b="1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628980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ДЕР. РЕШ.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0,97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0,97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718345"/>
                  </a:ext>
                </a:extLst>
              </a:tr>
              <a:tr h="256800">
                <a:tc>
                  <a:txBody>
                    <a:bodyPr/>
                    <a:lstStyle/>
                    <a:p>
                      <a:r>
                        <a:rPr lang="ru-RU" dirty="0"/>
                        <a:t>SVM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0,97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0,91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0,98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0,995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165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4205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9F324-7BE8-250A-A7C2-57881257C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C34D59DB-DFE2-5576-7CEB-2DB4A091C73A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59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7D39AE-AA05-FB1E-8966-EDA97709349C}"/>
              </a:ext>
            </a:extLst>
          </p:cNvPr>
          <p:cNvSpPr txBox="1"/>
          <p:nvPr/>
        </p:nvSpPr>
        <p:spPr>
          <a:xfrm>
            <a:off x="2018080" y="157351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ВСТРОЕННЫЕ БУСТИНГИ(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Python)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5D8802-4A1F-1804-BBF8-6B3BF992D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565" y="1622647"/>
            <a:ext cx="9446709" cy="384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57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67222-8578-BA12-36A0-D1F1F5A9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8BE64826-77DF-40BB-0FE8-54015EB276FE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60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444BD-C077-16C1-DD6E-D2CEF95874FA}"/>
              </a:ext>
            </a:extLst>
          </p:cNvPr>
          <p:cNvSpPr txBox="1"/>
          <p:nvPr/>
        </p:nvSpPr>
        <p:spPr>
          <a:xfrm>
            <a:off x="1857824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КОМИТЕТНЫЙ БУСТИНГ(АЛГОРИТМ) 1/2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49F522-F484-1EB3-B95C-1C8E4AB7765C}"/>
              </a:ext>
            </a:extLst>
          </p:cNvPr>
          <p:cNvSpPr txBox="1"/>
          <p:nvPr/>
        </p:nvSpPr>
        <p:spPr>
          <a:xfrm>
            <a:off x="1605699" y="689057"/>
            <a:ext cx="10586301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Вход: </a:t>
            </a:r>
          </a:p>
          <a:p>
            <a:r>
              <a:rPr lang="ru-RU" sz="2000" dirty="0"/>
              <a:t>        Признаки X, метки y ∈ {−1, +1}, параметры </a:t>
            </a:r>
            <a:r>
              <a:rPr lang="en-US" sz="2000" dirty="0"/>
              <a:t>T, l0, l1, l2, </a:t>
            </a:r>
            <a:r>
              <a:rPr lang="en-US" sz="2000" dirty="0" err="1"/>
              <a:t>delta_l</a:t>
            </a:r>
            <a:r>
              <a:rPr lang="en-US" sz="2000" dirty="0"/>
              <a:t>, </a:t>
            </a:r>
            <a:r>
              <a:rPr lang="en-US" sz="2000" dirty="0" err="1"/>
              <a:t>min_Q_improvement</a:t>
            </a:r>
            <a:endParaRPr lang="ru-RU" sz="2000" dirty="0"/>
          </a:p>
          <a:p>
            <a:r>
              <a:rPr lang="ru-RU" sz="2000" b="1" dirty="0"/>
              <a:t>Инициализация:</a:t>
            </a:r>
          </a:p>
          <a:p>
            <a:pPr lvl="1"/>
            <a:r>
              <a:rPr lang="ru-RU" sz="2000" dirty="0"/>
              <a:t>Пустой ансамбль моделей.</a:t>
            </a:r>
          </a:p>
          <a:p>
            <a:pPr lvl="1"/>
            <a:r>
              <a:rPr lang="ru-RU" sz="2000" dirty="0"/>
              <a:t>Начальные отступы = 0 → сортировка по ним (все объекты одинаковы).</a:t>
            </a:r>
          </a:p>
          <a:p>
            <a:pPr lvl="1"/>
            <a:r>
              <a:rPr lang="ru-RU" sz="2000" dirty="0"/>
              <a:t>Начальное значение Q устанавливается искусственно большим (в коде — 100000).</a:t>
            </a:r>
          </a:p>
          <a:p>
            <a:r>
              <a:rPr lang="ru-RU" sz="2000" b="1" dirty="0"/>
              <a:t>Основной цикл (до T итераций):</a:t>
            </a:r>
          </a:p>
          <a:p>
            <a:pPr lvl="1"/>
            <a:r>
              <a:rPr lang="ru-RU" sz="2000" dirty="0"/>
              <a:t>На каждой итерации:</a:t>
            </a:r>
          </a:p>
          <a:p>
            <a:pPr lvl="2"/>
            <a:r>
              <a:rPr lang="ru-RU" sz="2000" dirty="0"/>
              <a:t>Сортируем объекты по текущему отступу (от меньшего к большему).</a:t>
            </a:r>
          </a:p>
          <a:p>
            <a:pPr lvl="2"/>
            <a:r>
              <a:rPr lang="ru-RU" sz="2000" dirty="0"/>
              <a:t>Для каждого k от l1 до l2 с шагом </a:t>
            </a:r>
            <a:r>
              <a:rPr lang="ru-RU" sz="2000" dirty="0" err="1"/>
              <a:t>delta_l</a:t>
            </a:r>
            <a:r>
              <a:rPr lang="ru-RU" sz="2000" dirty="0"/>
              <a:t>:</a:t>
            </a:r>
          </a:p>
          <a:p>
            <a:pPr lvl="3"/>
            <a:r>
              <a:rPr lang="ru-RU" sz="2000" dirty="0"/>
              <a:t>Берём </a:t>
            </a:r>
            <a:r>
              <a:rPr lang="ru-RU" sz="2000" dirty="0" err="1"/>
              <a:t>подвыборку</a:t>
            </a:r>
            <a:r>
              <a:rPr lang="ru-RU" sz="2000" dirty="0"/>
              <a:t>: объекты с индексами [l0, k) из отсортированного списка.</a:t>
            </a:r>
          </a:p>
          <a:p>
            <a:pPr lvl="3"/>
            <a:r>
              <a:rPr lang="ru-RU" sz="2000" dirty="0"/>
              <a:t>На этой </a:t>
            </a:r>
            <a:r>
              <a:rPr lang="ru-RU" sz="2000" dirty="0" err="1"/>
              <a:t>подвыборке</a:t>
            </a:r>
            <a:r>
              <a:rPr lang="ru-RU" sz="2000" dirty="0"/>
              <a:t> обучаем три модели:</a:t>
            </a:r>
          </a:p>
          <a:p>
            <a:pPr lvl="4"/>
            <a:r>
              <a:rPr lang="ru-RU" sz="2000" dirty="0"/>
              <a:t>SVM (линейный),</a:t>
            </a:r>
          </a:p>
          <a:p>
            <a:pPr lvl="4"/>
            <a:r>
              <a:rPr lang="ru-RU" sz="2000" dirty="0"/>
              <a:t>Дерево решений,</a:t>
            </a:r>
          </a:p>
          <a:p>
            <a:pPr lvl="4"/>
            <a:r>
              <a:rPr lang="ru-RU" sz="2000" dirty="0"/>
              <a:t>Логистическая регрессия.</a:t>
            </a:r>
          </a:p>
          <a:p>
            <a:pPr lvl="2"/>
            <a:r>
              <a:rPr lang="ru-RU" sz="2000" dirty="0"/>
              <a:t>Для каждой обученной модели:</a:t>
            </a:r>
          </a:p>
          <a:p>
            <a:pPr lvl="3"/>
            <a:r>
              <a:rPr lang="ru-RU" sz="2000" dirty="0"/>
              <a:t>Добавляем её предсказания к текущему ансамблю</a:t>
            </a:r>
            <a:r>
              <a:rPr lang="en-US" sz="2000" dirty="0"/>
              <a:t>(</a:t>
            </a:r>
            <a:r>
              <a:rPr lang="ru-RU" sz="2000" dirty="0"/>
              <a:t>временно).</a:t>
            </a:r>
          </a:p>
          <a:p>
            <a:pPr lvl="3"/>
            <a:r>
              <a:rPr lang="ru-RU" sz="2000" dirty="0"/>
              <a:t>Вычисляем новый функционал качества Q (число объектов с отступом &lt; 0).</a:t>
            </a:r>
          </a:p>
          <a:p>
            <a:pPr lvl="2"/>
            <a:r>
              <a:rPr lang="ru-RU" sz="2000" dirty="0"/>
              <a:t>Выбираем лучшую модель — ту, что даёт минимальное Q.</a:t>
            </a:r>
          </a:p>
          <a:p>
            <a:pPr lvl="2"/>
            <a:r>
              <a:rPr lang="ru-RU" sz="2000" dirty="0"/>
              <a:t>Добавляем её в ансамбль.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31798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71543-41E7-7EA0-F699-40B0698B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81D31B78-D45B-8C90-98B3-B6ADAD802FD3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61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696485-4859-3093-0E92-9ED6787481BA}"/>
              </a:ext>
            </a:extLst>
          </p:cNvPr>
          <p:cNvSpPr txBox="1"/>
          <p:nvPr/>
        </p:nvSpPr>
        <p:spPr>
          <a:xfrm>
            <a:off x="1856318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КОМИТЕТНЫЙ БУСТИНГ(АЛГОРИТМ) 2/2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E9DBD9-89C9-3653-D612-40607768B735}"/>
              </a:ext>
            </a:extLst>
          </p:cNvPr>
          <p:cNvSpPr txBox="1"/>
          <p:nvPr/>
        </p:nvSpPr>
        <p:spPr>
          <a:xfrm>
            <a:off x="1250856" y="1709999"/>
            <a:ext cx="10586301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Обновление состояния:</a:t>
            </a:r>
          </a:p>
          <a:p>
            <a:pPr lvl="1"/>
            <a:r>
              <a:rPr lang="ru-RU" sz="2000" dirty="0"/>
              <a:t>Пересчитываем отступы для всех объектов.</a:t>
            </a:r>
          </a:p>
          <a:p>
            <a:pPr lvl="1"/>
            <a:r>
              <a:rPr lang="ru-RU" sz="2000" dirty="0"/>
              <a:t>Обновляем сортировку.</a:t>
            </a:r>
          </a:p>
          <a:p>
            <a:pPr lvl="1"/>
            <a:r>
              <a:rPr lang="ru-RU" sz="2000" dirty="0"/>
              <a:t>Если улучшение Q меньше порога (</a:t>
            </a:r>
            <a:r>
              <a:rPr lang="ru-RU" sz="2000" dirty="0" err="1"/>
              <a:t>min_Q_improvement</a:t>
            </a:r>
            <a:r>
              <a:rPr lang="ru-RU" sz="2000" dirty="0"/>
              <a:t>) — можно остановиться (если закомментировать </a:t>
            </a:r>
            <a:r>
              <a:rPr lang="ru-RU" sz="2000" dirty="0" err="1"/>
              <a:t>break</a:t>
            </a:r>
            <a:r>
              <a:rPr lang="ru-RU" sz="2000" dirty="0"/>
              <a:t>, алгоритм идёт все T итераций).</a:t>
            </a:r>
          </a:p>
          <a:p>
            <a:r>
              <a:rPr lang="ru-RU" sz="2000" b="1" dirty="0"/>
              <a:t>Вывод:</a:t>
            </a:r>
          </a:p>
          <a:p>
            <a:pPr lvl="1"/>
            <a:r>
              <a:rPr lang="ru-RU" sz="2000" dirty="0"/>
              <a:t>На каждой итерации печатается, какая модель добавлена (SVC, дерево или лог. регрессия) и текущее значение Q.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46557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55EB1-EE0E-6DA4-55B5-660722749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DB17A8EF-2772-ECA2-5CE2-0F814B713B65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ABF59-E658-289F-DA87-CF3B510FCBFB}"/>
              </a:ext>
            </a:extLst>
          </p:cNvPr>
          <p:cNvSpPr txBox="1"/>
          <p:nvPr/>
        </p:nvSpPr>
        <p:spPr>
          <a:xfrm>
            <a:off x="2018080" y="157351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КОМИТЕТНЫЙ БУСТИНГ(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PYTHON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AAAF80-D922-2D9B-FE56-D19FBFF07ACB}"/>
              </a:ext>
            </a:extLst>
          </p:cNvPr>
          <p:cNvSpPr txBox="1"/>
          <p:nvPr/>
        </p:nvSpPr>
        <p:spPr>
          <a:xfrm>
            <a:off x="735291" y="1416125"/>
            <a:ext cx="1058630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compute_margin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y_true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np.ndarray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predictions: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np.ndarray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-&gt;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np.ndarray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y_true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*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np.sum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(predictions, axis=1)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y_true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np.ndarray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predictions: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np.ndarray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-&gt; int: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margins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compute_margin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y_true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predictions)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np.sum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(margins &lt; 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predict_with_ensemble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(ensemble: List[Any], X: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np.ndarray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-&gt;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np.ndarray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if not ensemble: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np.zeros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X.shape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[0], 0))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preds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np.column_stack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clf.predict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(X) for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ensemble])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return preds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8347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69F12-D05F-4A2A-6828-01F680079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C9FDBD4B-BB94-0269-160B-59E9FE6091BE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F13A6-9DD7-AE9C-E681-DB70A02684AA}"/>
              </a:ext>
            </a:extLst>
          </p:cNvPr>
          <p:cNvSpPr txBox="1"/>
          <p:nvPr/>
        </p:nvSpPr>
        <p:spPr>
          <a:xfrm>
            <a:off x="2018080" y="157351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КОМИТЕТНЫЙ БУСТИНГ(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PYTHON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557080-52F6-C3C6-8E1A-F29C18E0CFBA}"/>
              </a:ext>
            </a:extLst>
          </p:cNvPr>
          <p:cNvSpPr txBox="1"/>
          <p:nvPr/>
        </p:nvSpPr>
        <p:spPr>
          <a:xfrm>
            <a:off x="1250856" y="991919"/>
            <a:ext cx="1058630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fit_candidate_models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X_train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np.ndarray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y_train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np.ndarray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Optional[int] = None):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candidates = []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SVM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 линейным ядром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svm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SVC(kernel='linear',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svm.fit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X_train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y_train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candidates.append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svm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except Exception: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pass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Дерево решений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tree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DecisionTreeClassifier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max_depth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=10)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tree.fit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X_train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y_train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candidates.append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(tree)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except Exception: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pass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#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Логистическая регрессия (метки должны быть 0/1 для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sklearn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сам преобразует -1/+1)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LogisticRegression(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max_iter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=1000)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lr.fit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X_train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y_train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candidates.append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except Exception: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pass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return candidates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60496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3D75C-DA22-5E14-8CB5-AEDC5F90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ACD47254-010F-9271-109F-44DEB943C4BF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A703B-4405-E4CF-EA50-B2EB46573D81}"/>
              </a:ext>
            </a:extLst>
          </p:cNvPr>
          <p:cNvSpPr txBox="1"/>
          <p:nvPr/>
        </p:nvSpPr>
        <p:spPr>
          <a:xfrm>
            <a:off x="2018080" y="157351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КОМИТЕТНЫЙ БУСТИНГ(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PYTHON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9D47F-BEC3-D44B-3B66-C39697C790CE}"/>
              </a:ext>
            </a:extLst>
          </p:cNvPr>
          <p:cNvSpPr txBox="1"/>
          <p:nvPr/>
        </p:nvSpPr>
        <p:spPr>
          <a:xfrm>
            <a:off x="1250856" y="991919"/>
            <a:ext cx="1058630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margin_based_boosting_multimodel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X: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np.ndarray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y: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np.ndarray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T: int = 10,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l0: int = 0,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l1: int = 10,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l2: int = 100,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delta_l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int = 10,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frac_subsample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float = 1.0,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Optional[int] = None,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min_Q_improvement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float = 1.0,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-&gt; List[Any]: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ensemble: List[Any] = []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all_preds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predict_with_ensemble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(ensemble, X)  # (n, 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margins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compute_margin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(y,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all_preds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sorted_indices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np.argsort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(margins)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Q_prev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=100000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9540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814DA-D9B9-57E2-1CC4-1B5063CDD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90E8D9F6-9067-5ADE-9EDF-A67584C42754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146C3-7CC8-FA27-EC6A-FF675034D5DA}"/>
              </a:ext>
            </a:extLst>
          </p:cNvPr>
          <p:cNvSpPr txBox="1"/>
          <p:nvPr/>
        </p:nvSpPr>
        <p:spPr>
          <a:xfrm>
            <a:off x="4195671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КОМИТЕТНЫЙ БУСТИНГ(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PYTHON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642AE-65F7-3EA8-D785-168A0F579CFC}"/>
              </a:ext>
            </a:extLst>
          </p:cNvPr>
          <p:cNvSpPr txBox="1"/>
          <p:nvPr/>
        </p:nvSpPr>
        <p:spPr>
          <a:xfrm>
            <a:off x="1605699" y="-81094"/>
            <a:ext cx="10586301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 in range(T):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best_candidate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None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float('inf')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best_preds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None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for k in range(l1, l2 + 1,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delta_l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):  #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Перебираем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idxs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sorted_indices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[l0:k]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idxs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== 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continue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X_sub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X[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idxs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y_sub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y[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idxs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candidates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fit_candidate_models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X_sub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y_sub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random_state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#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Обучаем три модели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for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candidates: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try: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new_pred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clf.predict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(X)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except Exception: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continue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ensemble: #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Добавляем к текущим предсказаниям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candidate_preds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np.column_stack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all_preds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new_pred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else: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candidate_preds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new_pred.reshape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(-1, 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Q_candidate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(y,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candidate_preds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Q_candidate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Q_candidate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best_candidate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clf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best_preds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candidate_preds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867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CD0A9-FEBA-F48B-FFE0-D8267EDEB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5CF66A9A-B628-EAAA-8511-4091611D5F45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8F2D8A-0A50-4E3B-A6FD-3744DBBF2600}" type="slidenum">
              <a:rPr kumimoji="0" lang="ru-RU" sz="28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3FEC-8E8F-8A5E-972D-8B098E0D2912}"/>
              </a:ext>
            </a:extLst>
          </p:cNvPr>
          <p:cNvSpPr txBox="1"/>
          <p:nvPr/>
        </p:nvSpPr>
        <p:spPr>
          <a:xfrm>
            <a:off x="4195671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КОМИТЕТНЫЙ БУСТИНГ(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PYTHON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2E1CDC-D010-5AF0-7543-71C100586BD0}"/>
              </a:ext>
            </a:extLst>
          </p:cNvPr>
          <p:cNvSpPr txBox="1"/>
          <p:nvPr/>
        </p:nvSpPr>
        <p:spPr>
          <a:xfrm>
            <a:off x="1417163" y="1125537"/>
            <a:ext cx="1058630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best_candidate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None: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Итерация 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t}: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не удалось обучить ни один кандидат. Завершение.")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Добавляем лучшую модель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ensemble.append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best_candidate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all_preds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best_preds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#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Обновляем отступы и сортировку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margins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compute_margin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(y,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all_preds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sorted_indices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np.argsort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(margins)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Q_curr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best_Q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print(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Q_curr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Q_prev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if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Q_prev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Q_curr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&lt;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min_Q_improvement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Итерация 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t+1}: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улучшение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 =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Q_prev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- Q_curr:.2f} &lt;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min_Q_improvement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}.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Завершение.")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   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break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Q_prev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Q_curr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    print(f"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Итерация {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t+1}/{T}: Q =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Q_curr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    return ensemble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26487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37043-5DD9-998B-2B22-CE7184CB4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79D2693A-9920-85A4-E8EA-51530BF0C892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67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E4467-D556-436B-FED2-9178E0E1C21A}"/>
              </a:ext>
            </a:extLst>
          </p:cNvPr>
          <p:cNvSpPr txBox="1"/>
          <p:nvPr/>
        </p:nvSpPr>
        <p:spPr>
          <a:xfrm>
            <a:off x="2282030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КОМИТЕТНЫЙ БУСТИНГ(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PYTHON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B01B8-606E-F6E9-9510-4A7F6BCE213D}"/>
              </a:ext>
            </a:extLst>
          </p:cNvPr>
          <p:cNvSpPr txBox="1"/>
          <p:nvPr/>
        </p:nvSpPr>
        <p:spPr>
          <a:xfrm>
            <a:off x="518474" y="1502608"/>
            <a:ext cx="97284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ТЕСТ</a:t>
            </a:r>
          </a:p>
          <a:p>
            <a:r>
              <a:rPr lang="en-US" dirty="0"/>
              <a:t>ensemble = </a:t>
            </a:r>
            <a:r>
              <a:rPr lang="en-US" dirty="0" err="1"/>
              <a:t>margin_based</a:t>
            </a:r>
            <a:r>
              <a:rPr lang="en-US" dirty="0"/>
              <a:t>_</a:t>
            </a:r>
          </a:p>
          <a:p>
            <a:r>
              <a:rPr lang="en-US" dirty="0" err="1"/>
              <a:t>boosting_multimodel</a:t>
            </a:r>
            <a:r>
              <a:rPr lang="en-US" dirty="0"/>
              <a:t>(</a:t>
            </a:r>
          </a:p>
          <a:p>
            <a:r>
              <a:rPr lang="en-US" dirty="0"/>
              <a:t>        X, y,</a:t>
            </a:r>
          </a:p>
          <a:p>
            <a:r>
              <a:rPr lang="en-US" dirty="0"/>
              <a:t>        </a:t>
            </a:r>
            <a:r>
              <a:rPr lang="en-US" b="1" dirty="0"/>
              <a:t>T=10,</a:t>
            </a:r>
          </a:p>
          <a:p>
            <a:r>
              <a:rPr lang="en-US" b="1" dirty="0"/>
              <a:t>        l0=50,</a:t>
            </a:r>
          </a:p>
          <a:p>
            <a:r>
              <a:rPr lang="en-US" b="1" dirty="0"/>
              <a:t>        l1=40000,</a:t>
            </a:r>
          </a:p>
          <a:p>
            <a:r>
              <a:rPr lang="en-US" b="1" dirty="0"/>
              <a:t>        l2=50000,</a:t>
            </a:r>
          </a:p>
          <a:p>
            <a:r>
              <a:rPr lang="en-US" b="1" dirty="0"/>
              <a:t>        </a:t>
            </a:r>
            <a:r>
              <a:rPr lang="en-US" b="1" dirty="0" err="1"/>
              <a:t>delta_l</a:t>
            </a:r>
            <a:r>
              <a:rPr lang="en-US" b="1" dirty="0"/>
              <a:t>=2000,</a:t>
            </a:r>
          </a:p>
          <a:p>
            <a:r>
              <a:rPr lang="en-US" dirty="0"/>
              <a:t>        </a:t>
            </a:r>
            <a:r>
              <a:rPr lang="en-US" dirty="0" err="1"/>
              <a:t>frac_subsample</a:t>
            </a:r>
            <a:r>
              <a:rPr lang="en-US" dirty="0"/>
              <a:t>=0.1,  </a:t>
            </a:r>
          </a:p>
          <a:p>
            <a:r>
              <a:rPr lang="en-US" dirty="0"/>
              <a:t># </a:t>
            </a:r>
            <a:r>
              <a:rPr lang="ru-RU" dirty="0"/>
              <a:t>уменьшаем выборку до 10%</a:t>
            </a:r>
          </a:p>
          <a:p>
            <a:r>
              <a:rPr lang="ru-RU" dirty="0"/>
              <a:t>        </a:t>
            </a:r>
            <a:r>
              <a:rPr lang="en-US" dirty="0" err="1"/>
              <a:t>random_state</a:t>
            </a:r>
            <a:r>
              <a:rPr lang="en-US" dirty="0"/>
              <a:t>=42,</a:t>
            </a:r>
          </a:p>
          <a:p>
            <a:r>
              <a:rPr lang="en-US" dirty="0"/>
              <a:t>        </a:t>
            </a:r>
            <a:r>
              <a:rPr lang="en-US" b="1" dirty="0" err="1"/>
              <a:t>min_Q_improvement</a:t>
            </a:r>
            <a:r>
              <a:rPr lang="en-US" b="1" dirty="0"/>
              <a:t>=1.0</a:t>
            </a:r>
          </a:p>
          <a:p>
            <a:r>
              <a:rPr lang="en-US" dirty="0"/>
              <a:t>    )</a:t>
            </a:r>
          </a:p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B8FB48-BE8B-07A3-72A7-528F5947A580}"/>
              </a:ext>
            </a:extLst>
          </p:cNvPr>
          <p:cNvSpPr txBox="1"/>
          <p:nvPr/>
        </p:nvSpPr>
        <p:spPr>
          <a:xfrm>
            <a:off x="7319207" y="1108075"/>
            <a:ext cx="4539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Если убрать прерывание по </a:t>
            </a:r>
            <a:r>
              <a:rPr lang="ru-RU" dirty="0" err="1"/>
              <a:t>неубыванию</a:t>
            </a:r>
            <a:r>
              <a:rPr lang="ru-RU" dirty="0"/>
              <a:t> </a:t>
            </a:r>
            <a:r>
              <a:rPr lang="en-US" dirty="0"/>
              <a:t>Q: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54E0480-DF26-6A71-7F36-022C5758A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982" y="2529033"/>
            <a:ext cx="3871159" cy="153190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3565DFD-87D4-AA5E-9967-6C82DF755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259" y="1490347"/>
            <a:ext cx="4199251" cy="45727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D53121-95C3-0A05-42B3-5660D6B1BCD4}"/>
              </a:ext>
            </a:extLst>
          </p:cNvPr>
          <p:cNvSpPr txBox="1"/>
          <p:nvPr/>
        </p:nvSpPr>
        <p:spPr>
          <a:xfrm>
            <a:off x="3555982" y="2031176"/>
            <a:ext cx="1630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31206462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25C5C-5C0B-B7F6-4123-2CB30E8C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0941E5FE-30B0-ABE9-7225-E24887E4A687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68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B9E8FD-01C5-8C3F-EDEE-7BF0422466B5}"/>
              </a:ext>
            </a:extLst>
          </p:cNvPr>
          <p:cNvSpPr txBox="1"/>
          <p:nvPr/>
        </p:nvSpPr>
        <p:spPr>
          <a:xfrm>
            <a:off x="2282030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КОМПОЗИЦИЯ АЛГОРИТМОВ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D89E4-2DFB-7289-B808-66D8A8938FA2}"/>
              </a:ext>
            </a:extLst>
          </p:cNvPr>
          <p:cNvSpPr txBox="1"/>
          <p:nvPr/>
        </p:nvSpPr>
        <p:spPr>
          <a:xfrm>
            <a:off x="863249" y="1397675"/>
            <a:ext cx="97284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Строилась композиция моделей: </a:t>
            </a:r>
            <a:r>
              <a:rPr lang="en-US" b="1" dirty="0"/>
              <a:t>SVC</a:t>
            </a:r>
            <a:r>
              <a:rPr lang="en-US" dirty="0"/>
              <a:t>, </a:t>
            </a:r>
            <a:r>
              <a:rPr lang="ru-RU" b="1" dirty="0"/>
              <a:t>дерево решений</a:t>
            </a:r>
            <a:r>
              <a:rPr lang="ru-RU" dirty="0"/>
              <a:t>, </a:t>
            </a:r>
            <a:r>
              <a:rPr lang="ru-RU" b="1" dirty="0"/>
              <a:t>логистическая регрессия</a:t>
            </a:r>
            <a:r>
              <a:rPr lang="ru-RU" dirty="0"/>
              <a:t>.</a:t>
            </a:r>
          </a:p>
          <a:p>
            <a:r>
              <a:rPr lang="ru-RU" dirty="0"/>
              <a:t>Модели обучались на тренировочной выборке, предсказания определялись на тестовой, как и построение композиции.</a:t>
            </a:r>
          </a:p>
          <a:p>
            <a:r>
              <a:rPr lang="ru-RU" b="1" dirty="0"/>
              <a:t>Веса</a:t>
            </a:r>
            <a:r>
              <a:rPr lang="ru-RU" dirty="0"/>
              <a:t> определялись по правилу </a:t>
            </a:r>
            <a:r>
              <a:rPr lang="ru-RU" b="1" dirty="0"/>
              <a:t>Байеса</a:t>
            </a:r>
            <a:r>
              <a:rPr lang="ru-RU" dirty="0"/>
              <a:t>.</a:t>
            </a:r>
          </a:p>
          <a:p>
            <a:r>
              <a:rPr lang="ru-RU" dirty="0"/>
              <a:t>Присвоив веса моделям и определив метки как -1 и +1, можно определить класс, присвоенный объекту композицией как -1, если сумма произведений метки на веса меньше 0, +1 если больше 0.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638837-439D-7A85-3FC9-E8655DBDB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338" y="3108488"/>
            <a:ext cx="4755256" cy="299065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EF3FA6-1F07-C036-97B8-BC01F48D4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670" y="4250000"/>
            <a:ext cx="485806" cy="12673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46E4355-2EA8-78A8-2B82-D2418ECB0D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0042" y="4436789"/>
            <a:ext cx="511205" cy="13845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A6E3494-A8B1-B7F4-86F6-EDC46D18C6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246" y="4614969"/>
            <a:ext cx="511205" cy="14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032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F55CC-F798-9EA6-B898-AB3F39C85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0DF13D9F-A4F4-111F-CA39-2E99FB4732BA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69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F3DF2B-8A8F-6502-628C-BF35A3390751}"/>
              </a:ext>
            </a:extLst>
          </p:cNvPr>
          <p:cNvSpPr txBox="1"/>
          <p:nvPr/>
        </p:nvSpPr>
        <p:spPr>
          <a:xfrm>
            <a:off x="2038349" y="211137"/>
            <a:ext cx="961072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ВСТРОЕННЫЕ 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BAGGING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RSM 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3600" b="1" dirty="0">
                <a:solidFill>
                  <a:srgbClr val="FF0000"/>
                </a:solidFill>
                <a:ea typeface="Calibri"/>
                <a:cs typeface="Calibri"/>
              </a:rPr>
              <a:t>BAGGING 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+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RSM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D0A1AD9-E143-D750-8FD8-C7A9FFD0D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75" y="1606811"/>
            <a:ext cx="4073864" cy="399271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4862AD-C629-D4B8-40B0-A0D888E8A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339" y="1795711"/>
            <a:ext cx="5854592" cy="326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864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4FE00-6AB9-623C-2A61-295E010DA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FB2EFAFC-0471-DED7-FA35-7E27B8EA7D73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70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41CB4-9215-AA54-D4AF-4106BB410F39}"/>
              </a:ext>
            </a:extLst>
          </p:cNvPr>
          <p:cNvSpPr txBox="1"/>
          <p:nvPr/>
        </p:nvSpPr>
        <p:spPr>
          <a:xfrm>
            <a:off x="2282030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КАСТОМНЫЙ </a:t>
            </a:r>
            <a:r>
              <a:rPr lang="en-US" sz="3600" b="1" dirty="0">
                <a:solidFill>
                  <a:srgbClr val="FF0000"/>
                </a:solidFill>
                <a:ea typeface="Calibri"/>
                <a:cs typeface="Calibri"/>
              </a:rPr>
              <a:t>BAGGING 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+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RSM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29183-FD11-88F6-AE0C-8501B84C8C11}"/>
              </a:ext>
            </a:extLst>
          </p:cNvPr>
          <p:cNvSpPr txBox="1"/>
          <p:nvPr/>
        </p:nvSpPr>
        <p:spPr>
          <a:xfrm>
            <a:off x="863249" y="1397675"/>
            <a:ext cx="972846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Идея: </a:t>
            </a:r>
            <a:r>
              <a:rPr lang="ru-RU" dirty="0"/>
              <a:t>каждый базовый алгоритм обучается на случайном подмножестве объектов (по </a:t>
            </a:r>
            <a:r>
              <a:rPr lang="ru-RU" dirty="0" err="1"/>
              <a:t>бакетам</a:t>
            </a:r>
            <a:r>
              <a:rPr lang="ru-RU" dirty="0"/>
              <a:t>) и случайном подмножестве признаков, а также проходит фильтрацию по качеству.</a:t>
            </a:r>
          </a:p>
          <a:p>
            <a:endParaRPr lang="ru-RU" dirty="0"/>
          </a:p>
          <a:p>
            <a:r>
              <a:rPr lang="ru-RU" b="1" dirty="0"/>
              <a:t>Алгоритм:</a:t>
            </a:r>
          </a:p>
          <a:p>
            <a:r>
              <a:rPr lang="ru-RU" b="1" dirty="0"/>
              <a:t>Инициализация:</a:t>
            </a:r>
          </a:p>
          <a:p>
            <a:pPr lvl="1"/>
            <a:r>
              <a:rPr lang="ru-RU" dirty="0"/>
              <a:t>Задаются параметры: число моделей (</a:t>
            </a:r>
            <a:r>
              <a:rPr lang="ru-RU" b="1" dirty="0" err="1"/>
              <a:t>n_estimators</a:t>
            </a:r>
            <a:r>
              <a:rPr lang="ru-RU" dirty="0"/>
              <a:t>), диапазоны долей объектов и признаков (</a:t>
            </a:r>
            <a:r>
              <a:rPr lang="ru-RU" b="1" dirty="0" err="1"/>
              <a:t>sample_frac_range</a:t>
            </a:r>
            <a:r>
              <a:rPr lang="ru-RU" dirty="0"/>
              <a:t>, </a:t>
            </a:r>
            <a:r>
              <a:rPr lang="ru-RU" b="1" dirty="0" err="1"/>
              <a:t>feature_frac_range</a:t>
            </a:r>
            <a:r>
              <a:rPr lang="ru-RU" dirty="0"/>
              <a:t>), размер </a:t>
            </a:r>
            <a:r>
              <a:rPr lang="ru-RU" dirty="0" err="1"/>
              <a:t>бакета</a:t>
            </a:r>
            <a:r>
              <a:rPr lang="ru-RU" dirty="0"/>
              <a:t> (</a:t>
            </a:r>
            <a:r>
              <a:rPr lang="ru-RU" b="1" dirty="0" err="1"/>
              <a:t>bucket_size</a:t>
            </a:r>
            <a:r>
              <a:rPr lang="ru-RU" dirty="0"/>
              <a:t>), пороги качества (</a:t>
            </a:r>
            <a:r>
              <a:rPr lang="ru-RU" b="1" dirty="0"/>
              <a:t>epsilon1</a:t>
            </a:r>
            <a:r>
              <a:rPr lang="ru-RU" dirty="0"/>
              <a:t>, </a:t>
            </a:r>
            <a:r>
              <a:rPr lang="ru-RU" b="1" dirty="0"/>
              <a:t>epsilon2</a:t>
            </a:r>
            <a:r>
              <a:rPr lang="ru-RU" dirty="0"/>
              <a:t>).</a:t>
            </a:r>
          </a:p>
          <a:p>
            <a:r>
              <a:rPr lang="ru-RU" b="1" dirty="0"/>
              <a:t>Для каждой из </a:t>
            </a:r>
            <a:r>
              <a:rPr lang="ru-RU" b="1" dirty="0" err="1"/>
              <a:t>n_estimators</a:t>
            </a:r>
            <a:r>
              <a:rPr lang="ru-RU" b="1" dirty="0"/>
              <a:t> итераций:</a:t>
            </a:r>
          </a:p>
          <a:p>
            <a:pPr lvl="1"/>
            <a:r>
              <a:rPr lang="ru-RU" dirty="0"/>
              <a:t>Выбор объектов:</a:t>
            </a:r>
          </a:p>
          <a:p>
            <a:pPr lvl="2"/>
            <a:r>
              <a:rPr lang="ru-RU" dirty="0"/>
              <a:t>Исходная выборка перемешивается.</a:t>
            </a:r>
          </a:p>
          <a:p>
            <a:pPr lvl="2"/>
            <a:r>
              <a:rPr lang="ru-RU" dirty="0"/>
              <a:t>Разбивается на </a:t>
            </a:r>
            <a:r>
              <a:rPr lang="ru-RU" dirty="0" err="1"/>
              <a:t>бакеты</a:t>
            </a:r>
            <a:r>
              <a:rPr lang="ru-RU" dirty="0"/>
              <a:t> по </a:t>
            </a:r>
            <a:r>
              <a:rPr lang="ru-RU" b="1" dirty="0" err="1"/>
              <a:t>bucket_size</a:t>
            </a:r>
            <a:r>
              <a:rPr lang="ru-RU" dirty="0"/>
              <a:t> объектов.</a:t>
            </a:r>
          </a:p>
          <a:p>
            <a:pPr lvl="2"/>
            <a:r>
              <a:rPr lang="ru-RU" dirty="0"/>
              <a:t>Случайно выбирается </a:t>
            </a:r>
            <a:r>
              <a:rPr lang="ru-RU" b="1" dirty="0"/>
              <a:t>l%</a:t>
            </a:r>
            <a:r>
              <a:rPr lang="ru-RU" dirty="0"/>
              <a:t> </a:t>
            </a:r>
            <a:r>
              <a:rPr lang="ru-RU" dirty="0" err="1"/>
              <a:t>бакетов</a:t>
            </a:r>
            <a:r>
              <a:rPr lang="ru-RU" dirty="0"/>
              <a:t> (где </a:t>
            </a:r>
            <a:r>
              <a:rPr lang="ru-RU" b="1" dirty="0"/>
              <a:t>l</a:t>
            </a:r>
            <a:r>
              <a:rPr lang="ru-RU" dirty="0"/>
              <a:t> случайно из </a:t>
            </a:r>
            <a:r>
              <a:rPr lang="ru-RU" b="1" dirty="0" err="1"/>
              <a:t>sample_frac_range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Выбор признаков:</a:t>
            </a:r>
          </a:p>
          <a:p>
            <a:pPr lvl="2"/>
            <a:r>
              <a:rPr lang="ru-RU" dirty="0"/>
              <a:t>Признаки перемешиваются, берётся случайная доля (</a:t>
            </a:r>
            <a:r>
              <a:rPr lang="en-US" b="1" dirty="0"/>
              <a:t>m</a:t>
            </a:r>
            <a:r>
              <a:rPr lang="ru-RU" b="1" dirty="0"/>
              <a:t>%</a:t>
            </a:r>
            <a:r>
              <a:rPr lang="ru-RU" dirty="0"/>
              <a:t>, из </a:t>
            </a:r>
            <a:r>
              <a:rPr lang="ru-RU" b="1" dirty="0" err="1"/>
              <a:t>feature_frac_range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Обучение базовой модели (по умолчанию — дерево решений </a:t>
            </a:r>
            <a:r>
              <a:rPr lang="ru-RU" b="1" dirty="0" err="1"/>
              <a:t>max_depth</a:t>
            </a:r>
            <a:r>
              <a:rPr lang="ru-RU" dirty="0"/>
              <a:t>=5) на пересечении выбранных объектов и признаков.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65919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5BF9B-B3AF-3EA1-7330-C27167D0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D1AAC810-A67F-75DB-B7AD-29E43054A91A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71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04933-2852-CEA8-A8DE-31B5A498D8E2}"/>
              </a:ext>
            </a:extLst>
          </p:cNvPr>
          <p:cNvSpPr txBox="1"/>
          <p:nvPr/>
        </p:nvSpPr>
        <p:spPr>
          <a:xfrm>
            <a:off x="2282030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КАСТОМНЫЙ </a:t>
            </a:r>
            <a:r>
              <a:rPr lang="en-US" sz="3600" b="1" dirty="0">
                <a:solidFill>
                  <a:srgbClr val="FF0000"/>
                </a:solidFill>
                <a:ea typeface="Calibri"/>
                <a:cs typeface="Calibri"/>
              </a:rPr>
              <a:t>BAGGING 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+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RSM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51DCF-7BD9-C64C-1E78-BF5E3B92B55E}"/>
              </a:ext>
            </a:extLst>
          </p:cNvPr>
          <p:cNvSpPr txBox="1"/>
          <p:nvPr/>
        </p:nvSpPr>
        <p:spPr>
          <a:xfrm>
            <a:off x="863249" y="1397675"/>
            <a:ext cx="97284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Фильтрация по качеству:</a:t>
            </a:r>
          </a:p>
          <a:p>
            <a:pPr lvl="1"/>
            <a:r>
              <a:rPr lang="ru-RU" dirty="0"/>
              <a:t>Вычисляется </a:t>
            </a:r>
            <a:r>
              <a:rPr lang="ru-RU" b="1" dirty="0"/>
              <a:t>F1-score</a:t>
            </a:r>
            <a:r>
              <a:rPr lang="ru-RU" dirty="0"/>
              <a:t> модели:</a:t>
            </a:r>
          </a:p>
          <a:p>
            <a:pPr lvl="2"/>
            <a:r>
              <a:rPr lang="ru-RU" dirty="0"/>
              <a:t>На обучающей </a:t>
            </a:r>
            <a:r>
              <a:rPr lang="ru-RU" dirty="0" err="1"/>
              <a:t>подвыборке</a:t>
            </a:r>
            <a:r>
              <a:rPr lang="ru-RU" dirty="0"/>
              <a:t> (объекты из выбранных </a:t>
            </a:r>
            <a:r>
              <a:rPr lang="ru-RU" dirty="0" err="1"/>
              <a:t>бакетов</a:t>
            </a:r>
            <a:r>
              <a:rPr lang="ru-RU" dirty="0"/>
              <a:t>).</a:t>
            </a:r>
          </a:p>
          <a:p>
            <a:pPr lvl="2"/>
            <a:r>
              <a:rPr lang="ru-RU" dirty="0"/>
              <a:t>На контрольной </a:t>
            </a:r>
            <a:r>
              <a:rPr lang="ru-RU" dirty="0" err="1"/>
              <a:t>подвыборке</a:t>
            </a:r>
            <a:r>
              <a:rPr lang="ru-RU" dirty="0"/>
              <a:t> (все остальные объекты — "</a:t>
            </a:r>
            <a:r>
              <a:rPr lang="ru-RU" dirty="0" err="1"/>
              <a:t>out-of-bag</a:t>
            </a:r>
            <a:r>
              <a:rPr lang="ru-RU" dirty="0"/>
              <a:t>").</a:t>
            </a:r>
          </a:p>
          <a:p>
            <a:pPr lvl="1"/>
            <a:r>
              <a:rPr lang="ru-RU" dirty="0"/>
              <a:t>Модель добавляется в ансамбль, только если:</a:t>
            </a:r>
          </a:p>
          <a:p>
            <a:pPr lvl="2"/>
            <a:r>
              <a:rPr lang="ru-RU" b="1" dirty="0"/>
              <a:t>F1_train ≥ epsilon1 </a:t>
            </a:r>
            <a:r>
              <a:rPr lang="ru-RU" dirty="0"/>
              <a:t>и</a:t>
            </a:r>
          </a:p>
          <a:p>
            <a:pPr lvl="2"/>
            <a:r>
              <a:rPr lang="ru-RU" b="1" dirty="0"/>
              <a:t>F1_control ≥ epsilon2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Это отсекает слабые или переобученные модели.</a:t>
            </a:r>
          </a:p>
          <a:p>
            <a:r>
              <a:rPr lang="ru-RU" b="1" dirty="0"/>
              <a:t>Предсказание:</a:t>
            </a:r>
          </a:p>
          <a:p>
            <a:pPr lvl="1"/>
            <a:r>
              <a:rPr lang="ru-RU" dirty="0"/>
              <a:t>Для нового объекта:</a:t>
            </a:r>
          </a:p>
          <a:p>
            <a:pPr lvl="2"/>
            <a:r>
              <a:rPr lang="ru-RU" dirty="0"/>
              <a:t>Каждая модель в ансамбле делает предсказание на своём подмножестве признаков.</a:t>
            </a:r>
          </a:p>
          <a:p>
            <a:pPr lvl="2"/>
            <a:r>
              <a:rPr lang="ru-RU" dirty="0"/>
              <a:t>Итоговое решение — мажоритарное голосование.</a:t>
            </a:r>
          </a:p>
        </p:txBody>
      </p:sp>
    </p:spTree>
    <p:extLst>
      <p:ext uri="{BB962C8B-B14F-4D97-AF65-F5344CB8AC3E}">
        <p14:creationId xmlns:p14="http://schemas.microsoft.com/office/powerpoint/2010/main" val="38132734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C6D5-E6E8-69DA-9721-F3915766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7513D3CA-5229-0189-47E3-0B01C1C73DB4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72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5262C5-22A8-6458-690F-00FADF37E4BF}"/>
              </a:ext>
            </a:extLst>
          </p:cNvPr>
          <p:cNvSpPr txBox="1"/>
          <p:nvPr/>
        </p:nvSpPr>
        <p:spPr>
          <a:xfrm>
            <a:off x="2282030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КАСТОМНЫЙ </a:t>
            </a:r>
            <a:r>
              <a:rPr lang="en-US" sz="3600" b="1" dirty="0">
                <a:solidFill>
                  <a:srgbClr val="FF0000"/>
                </a:solidFill>
                <a:ea typeface="Calibri"/>
                <a:cs typeface="Calibri"/>
              </a:rPr>
              <a:t>BAGGING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+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RSM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Python)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955E31-F9AB-29F7-C275-656AF38E109B}"/>
              </a:ext>
            </a:extLst>
          </p:cNvPr>
          <p:cNvSpPr txBox="1"/>
          <p:nvPr/>
        </p:nvSpPr>
        <p:spPr>
          <a:xfrm>
            <a:off x="863249" y="1397675"/>
            <a:ext cx="97284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custom_bagging</a:t>
            </a:r>
            <a:r>
              <a:rPr lang="en-US" dirty="0"/>
              <a:t> = </a:t>
            </a:r>
            <a:r>
              <a:rPr lang="en-US" dirty="0" err="1"/>
              <a:t>CustomBagging</a:t>
            </a:r>
            <a:r>
              <a:rPr lang="en-US" dirty="0"/>
              <a:t>(</a:t>
            </a:r>
          </a:p>
          <a:p>
            <a:r>
              <a:rPr lang="en-US" dirty="0"/>
              <a:t>    </a:t>
            </a:r>
            <a:r>
              <a:rPr lang="en-US" b="1" dirty="0" err="1"/>
              <a:t>n_estimators</a:t>
            </a:r>
            <a:r>
              <a:rPr lang="en-US" b="1" dirty="0"/>
              <a:t>=20</a:t>
            </a:r>
            <a:r>
              <a:rPr lang="en-US" dirty="0"/>
              <a:t>,</a:t>
            </a:r>
          </a:p>
          <a:p>
            <a:r>
              <a:rPr lang="en-US" dirty="0"/>
              <a:t>    </a:t>
            </a:r>
            <a:r>
              <a:rPr lang="en-US" b="1" dirty="0" err="1"/>
              <a:t>sample_frac_range</a:t>
            </a:r>
            <a:r>
              <a:rPr lang="en-US" b="1" dirty="0"/>
              <a:t>=(0.6, 0.8)</a:t>
            </a:r>
            <a:r>
              <a:rPr lang="en-US" dirty="0"/>
              <a:t>,</a:t>
            </a:r>
          </a:p>
          <a:p>
            <a:r>
              <a:rPr lang="en-US" dirty="0"/>
              <a:t>    </a:t>
            </a:r>
            <a:r>
              <a:rPr lang="en-US" b="1" dirty="0" err="1"/>
              <a:t>feature_frac_range</a:t>
            </a:r>
            <a:r>
              <a:rPr lang="en-US" b="1" dirty="0"/>
              <a:t>=(0.6, 0.8)</a:t>
            </a:r>
            <a:r>
              <a:rPr lang="en-US" dirty="0"/>
              <a:t>,</a:t>
            </a:r>
          </a:p>
          <a:p>
            <a:r>
              <a:rPr lang="en-US" dirty="0"/>
              <a:t>    </a:t>
            </a:r>
            <a:r>
              <a:rPr lang="en-US" b="1" dirty="0"/>
              <a:t>epsilon1=0.5</a:t>
            </a:r>
            <a:r>
              <a:rPr lang="en-US" dirty="0"/>
              <a:t>,  # F1 </a:t>
            </a:r>
            <a:r>
              <a:rPr lang="ru-RU" dirty="0"/>
              <a:t>порог на обучении</a:t>
            </a:r>
          </a:p>
          <a:p>
            <a:r>
              <a:rPr lang="ru-RU" dirty="0"/>
              <a:t>    </a:t>
            </a:r>
            <a:r>
              <a:rPr lang="en-US" b="1" dirty="0"/>
              <a:t>epsilon2=0.3</a:t>
            </a:r>
            <a:r>
              <a:rPr lang="en-US" dirty="0"/>
              <a:t>,  # F1 </a:t>
            </a:r>
            <a:r>
              <a:rPr lang="ru-RU" dirty="0"/>
              <a:t>порог на контроле</a:t>
            </a:r>
          </a:p>
          <a:p>
            <a:r>
              <a:rPr lang="ru-RU" dirty="0"/>
              <a:t>    </a:t>
            </a:r>
            <a:r>
              <a:rPr lang="en-US" dirty="0" err="1"/>
              <a:t>random_state</a:t>
            </a:r>
            <a:r>
              <a:rPr lang="en-US" dirty="0"/>
              <a:t>=42</a:t>
            </a:r>
          </a:p>
          <a:p>
            <a:r>
              <a:rPr lang="en-US" dirty="0"/>
              <a:t>)</a:t>
            </a:r>
          </a:p>
          <a:p>
            <a:r>
              <a:rPr lang="en-US" dirty="0" err="1"/>
              <a:t>custom_bagging.fit</a:t>
            </a:r>
            <a:r>
              <a:rPr lang="en-US" dirty="0"/>
              <a:t>(</a:t>
            </a:r>
            <a:r>
              <a:rPr lang="en-US" dirty="0" err="1"/>
              <a:t>X_train_custom</a:t>
            </a:r>
            <a:r>
              <a:rPr lang="en-US" dirty="0"/>
              <a:t>, </a:t>
            </a:r>
            <a:r>
              <a:rPr lang="en-US" dirty="0" err="1"/>
              <a:t>y_train_custom</a:t>
            </a:r>
            <a:r>
              <a:rPr lang="en-US" dirty="0"/>
              <a:t>)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0B8D8E-1B5A-CBF8-014B-4654155E5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30369"/>
            <a:ext cx="5438063" cy="3397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D59086-18B6-F784-C0E0-7BCF40997FB8}"/>
              </a:ext>
            </a:extLst>
          </p:cNvPr>
          <p:cNvSpPr txBox="1"/>
          <p:nvPr/>
        </p:nvSpPr>
        <p:spPr>
          <a:xfrm>
            <a:off x="6146277" y="1234911"/>
            <a:ext cx="2564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5932067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182A1-1216-BD7E-41FF-3BDA3962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469AF85D-731B-C11C-9A24-C0804AA11419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73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61729-EEC3-B2B1-D722-DBA34DF0BB4B}"/>
              </a:ext>
            </a:extLst>
          </p:cNvPr>
          <p:cNvSpPr txBox="1"/>
          <p:nvPr/>
        </p:nvSpPr>
        <p:spPr>
          <a:xfrm>
            <a:off x="2282030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КАСТОМНЫЙ </a:t>
            </a:r>
            <a:r>
              <a:rPr lang="en-US" sz="3600" b="1" dirty="0">
                <a:solidFill>
                  <a:srgbClr val="FF0000"/>
                </a:solidFill>
                <a:ea typeface="Calibri"/>
                <a:cs typeface="Calibri"/>
              </a:rPr>
              <a:t>BAGGING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+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RSM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Python)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EF78C3F-6385-9374-7204-016A8A65E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590" y="1177187"/>
            <a:ext cx="3620005" cy="528711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725D003-0922-5498-2E5D-5514E41C1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77186"/>
            <a:ext cx="3620005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771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58DD3-DC56-3D10-E2C0-B208A0BC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19486CAC-AB67-D33E-612E-8E68F0498314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74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8CC6C-9B7D-DAA2-E56B-EEAE4B0816A1}"/>
              </a:ext>
            </a:extLst>
          </p:cNvPr>
          <p:cNvSpPr txBox="1"/>
          <p:nvPr/>
        </p:nvSpPr>
        <p:spPr>
          <a:xfrm>
            <a:off x="2282030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КАСТОМНЫЙ </a:t>
            </a:r>
            <a:r>
              <a:rPr lang="en-US" sz="3600" b="1" dirty="0">
                <a:solidFill>
                  <a:srgbClr val="FF0000"/>
                </a:solidFill>
                <a:ea typeface="Calibri"/>
                <a:cs typeface="Calibri"/>
              </a:rPr>
              <a:t>BAGGING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+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RSM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Python)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5F33E00-734F-2458-A810-C477AC618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661" y="1196240"/>
            <a:ext cx="3648584" cy="526806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201A3D8-EDF0-6958-9C21-B06EDCA6F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96240"/>
            <a:ext cx="3581900" cy="531569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949E4F-4201-D359-83E5-993AC357D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0080" y="3228947"/>
            <a:ext cx="2314898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047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50A39-EE26-A4E8-9B37-0D1B2834C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793528A5-C350-5203-E576-8E0AC2ACB0DF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75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E4B92-D23E-2A46-77D0-619DBC1AE6F0}"/>
              </a:ext>
            </a:extLst>
          </p:cNvPr>
          <p:cNvSpPr txBox="1"/>
          <p:nvPr/>
        </p:nvSpPr>
        <p:spPr>
          <a:xfrm>
            <a:off x="2282030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КАСТОМНЫЙ </a:t>
            </a:r>
            <a:r>
              <a:rPr lang="en-US" sz="3600" b="1" dirty="0">
                <a:solidFill>
                  <a:srgbClr val="FF0000"/>
                </a:solidFill>
                <a:ea typeface="Calibri"/>
                <a:cs typeface="Calibri"/>
              </a:rPr>
              <a:t>BAGGING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+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RSM</a:t>
            </a:r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Python)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14B5E5-9667-6231-6FCB-03091683C6CD}"/>
              </a:ext>
            </a:extLst>
          </p:cNvPr>
          <p:cNvSpPr txBox="1"/>
          <p:nvPr/>
        </p:nvSpPr>
        <p:spPr>
          <a:xfrm>
            <a:off x="923826" y="1397531"/>
            <a:ext cx="9191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ru-RU" dirty="0"/>
              <a:t>После обучения оцениваются метрики (F1, </a:t>
            </a:r>
            <a:r>
              <a:rPr lang="ru-RU" dirty="0" err="1"/>
              <a:t>Recall</a:t>
            </a:r>
            <a:r>
              <a:rPr lang="ru-RU" dirty="0"/>
              <a:t>, ROC-AUC и др.) на тестовой выборке.</a:t>
            </a:r>
          </a:p>
          <a:p>
            <a:pPr lvl="1"/>
            <a:endParaRPr lang="ru-RU" dirty="0"/>
          </a:p>
          <a:p>
            <a:pPr lvl="1"/>
            <a:r>
              <a:rPr lang="ru-RU" dirty="0"/>
              <a:t>Результаты сравниваются со стандартным </a:t>
            </a:r>
            <a:r>
              <a:rPr lang="ru-RU" dirty="0" err="1"/>
              <a:t>BaggingClassifier</a:t>
            </a:r>
            <a:r>
              <a:rPr lang="ru-RU" dirty="0"/>
              <a:t> из библиотеки </a:t>
            </a:r>
            <a:r>
              <a:rPr lang="ru-RU" dirty="0" err="1"/>
              <a:t>sklearn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2261F4A-3B83-CC10-1DB5-E9155A1EF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08" y="2597860"/>
            <a:ext cx="4755379" cy="298280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14B3C8B-BC26-FBBC-8942-FA64C5BE4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794" y="2597860"/>
            <a:ext cx="4796189" cy="281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378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0929F-1275-9030-8806-B796FDA68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14">
            <a:extLst>
              <a:ext uri="{FF2B5EF4-FFF2-40B4-BE49-F238E27FC236}">
                <a16:creationId xmlns:a16="http://schemas.microsoft.com/office/drawing/2014/main" id="{61242FEB-815E-C7D9-49C9-9B982E37382C}"/>
              </a:ext>
            </a:extLst>
          </p:cNvPr>
          <p:cNvSpPr txBox="1">
            <a:spLocks/>
          </p:cNvSpPr>
          <p:nvPr/>
        </p:nvSpPr>
        <p:spPr>
          <a:xfrm>
            <a:off x="9093957" y="62817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08F2D8A-0A50-4E3B-A6FD-3744DBBF2600}" type="slidenum">
              <a:rPr lang="ru-RU" sz="280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76</a:t>
            </a:fld>
            <a:endParaRPr lang="ru-RU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495A97-3542-4897-06B2-EEEFAE169762}"/>
              </a:ext>
            </a:extLst>
          </p:cNvPr>
          <p:cNvSpPr txBox="1"/>
          <p:nvPr/>
        </p:nvSpPr>
        <p:spPr>
          <a:xfrm>
            <a:off x="2282030" y="211137"/>
            <a:ext cx="830968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ЗАКЛЮЧЕНИЕ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396E2C-DF49-E1EB-E97D-4C57D57C680A}"/>
              </a:ext>
            </a:extLst>
          </p:cNvPr>
          <p:cNvSpPr txBox="1"/>
          <p:nvPr/>
        </p:nvSpPr>
        <p:spPr>
          <a:xfrm>
            <a:off x="923826" y="1397531"/>
            <a:ext cx="919113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Лучшими оказались</a:t>
            </a:r>
            <a:r>
              <a:rPr lang="ru-RU" sz="2000" dirty="0"/>
              <a:t>:</a:t>
            </a:r>
            <a:endParaRPr lang="en-US" sz="2000" dirty="0"/>
          </a:p>
          <a:p>
            <a:endParaRPr lang="en-US" sz="2000" dirty="0"/>
          </a:p>
          <a:p>
            <a:r>
              <a:rPr lang="ru-RU" sz="2000" dirty="0"/>
              <a:t>По метрике </a:t>
            </a:r>
            <a:r>
              <a:rPr lang="en-US" sz="2000" b="1" dirty="0"/>
              <a:t>Accuracy</a:t>
            </a:r>
            <a:r>
              <a:rPr lang="en-US" sz="2000" dirty="0"/>
              <a:t>=0,9953 </a:t>
            </a:r>
            <a:r>
              <a:rPr lang="ru-RU" sz="2000" dirty="0"/>
              <a:t>– встроенный </a:t>
            </a:r>
            <a:r>
              <a:rPr lang="ru-RU" sz="2000" dirty="0" err="1"/>
              <a:t>бэггинг</a:t>
            </a:r>
            <a:r>
              <a:rPr lang="ru-RU" sz="2000" dirty="0"/>
              <a:t>;</a:t>
            </a:r>
          </a:p>
          <a:p>
            <a:r>
              <a:rPr lang="ru-RU" sz="2000" dirty="0"/>
              <a:t>По метрике </a:t>
            </a:r>
            <a:r>
              <a:rPr lang="en-US" sz="2000" b="1" dirty="0"/>
              <a:t>Precision</a:t>
            </a:r>
            <a:r>
              <a:rPr lang="en-US" sz="2000" dirty="0"/>
              <a:t>=0,9250 </a:t>
            </a:r>
            <a:r>
              <a:rPr lang="ru-RU" sz="2000" dirty="0"/>
              <a:t>– кастомный </a:t>
            </a:r>
            <a:r>
              <a:rPr lang="ru-RU" sz="2000" dirty="0" err="1"/>
              <a:t>беггинг</a:t>
            </a:r>
            <a:r>
              <a:rPr lang="ru-RU" sz="2000" dirty="0"/>
              <a:t>+</a:t>
            </a:r>
            <a:r>
              <a:rPr lang="en-US" sz="2000" dirty="0"/>
              <a:t>RSM</a:t>
            </a:r>
            <a:r>
              <a:rPr lang="ru-RU" sz="2000" dirty="0"/>
              <a:t>;</a:t>
            </a:r>
            <a:endParaRPr lang="en-US" sz="2000" dirty="0"/>
          </a:p>
          <a:p>
            <a:r>
              <a:rPr lang="ru-RU" sz="2000" dirty="0"/>
              <a:t>По метрике </a:t>
            </a:r>
            <a:r>
              <a:rPr lang="en-US" sz="2000" b="1" dirty="0"/>
              <a:t>Recall</a:t>
            </a:r>
            <a:r>
              <a:rPr lang="en-US" sz="2000" dirty="0"/>
              <a:t>=0,7715 </a:t>
            </a:r>
            <a:r>
              <a:rPr lang="ru-RU" sz="2000" dirty="0"/>
              <a:t>– </a:t>
            </a:r>
            <a:r>
              <a:rPr lang="en-US" sz="2000" dirty="0" err="1"/>
              <a:t>XGBoost</a:t>
            </a:r>
            <a:r>
              <a:rPr lang="ru-RU" sz="2000" dirty="0"/>
              <a:t>;</a:t>
            </a:r>
            <a:endParaRPr lang="en-US" sz="2000" dirty="0"/>
          </a:p>
          <a:p>
            <a:r>
              <a:rPr lang="ru-RU" sz="2000" dirty="0"/>
              <a:t>По метрике </a:t>
            </a:r>
            <a:r>
              <a:rPr lang="en-US" sz="2000" b="1" dirty="0"/>
              <a:t>F1</a:t>
            </a:r>
            <a:r>
              <a:rPr lang="en-US" sz="2000" dirty="0"/>
              <a:t>=0,8277 – </a:t>
            </a:r>
            <a:r>
              <a:rPr lang="en-US" sz="2000" dirty="0" err="1"/>
              <a:t>CatBoost</a:t>
            </a:r>
            <a:r>
              <a:rPr lang="ru-RU" sz="2000" dirty="0"/>
              <a:t>;</a:t>
            </a:r>
            <a:endParaRPr lang="en-US" sz="2000" dirty="0"/>
          </a:p>
          <a:p>
            <a:r>
              <a:rPr lang="ru-RU" sz="2000" dirty="0"/>
              <a:t>По метрике </a:t>
            </a:r>
            <a:r>
              <a:rPr lang="en-US" sz="2000" b="1" dirty="0"/>
              <a:t>AUC</a:t>
            </a:r>
            <a:r>
              <a:rPr lang="en-US" sz="2000" dirty="0"/>
              <a:t>=0,9972 – </a:t>
            </a:r>
            <a:r>
              <a:rPr lang="en-US" sz="2000" dirty="0" err="1"/>
              <a:t>CatBoost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/>
              <a:t>Stochastic Gradient Boosting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76498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5823A1C-CE5D-327A-D0CD-919FD9439EC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Google Shape;72;p2">
            <a:extLst>
              <a:ext uri="{FF2B5EF4-FFF2-40B4-BE49-F238E27FC236}">
                <a16:creationId xmlns:a16="http://schemas.microsoft.com/office/drawing/2014/main" id="{75B44C19-2C0A-12E0-0A20-FD21D7F0904F}"/>
              </a:ext>
            </a:extLst>
          </p:cNvPr>
          <p:cNvSpPr txBox="1"/>
          <p:nvPr/>
        </p:nvSpPr>
        <p:spPr bwMode="auto">
          <a:xfrm>
            <a:off x="1425388" y="309652"/>
            <a:ext cx="1036889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/>
            </a:pPr>
            <a:r>
              <a:rPr lang="ru-RU" sz="4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</a:rPr>
              <a:t>ЗАКЛЮЧЕНИЕ</a:t>
            </a:r>
          </a:p>
        </p:txBody>
      </p:sp>
      <p:sp>
        <p:nvSpPr>
          <p:cNvPr id="7" name="Google Shape;75;p2">
            <a:extLst>
              <a:ext uri="{FF2B5EF4-FFF2-40B4-BE49-F238E27FC236}">
                <a16:creationId xmlns:a16="http://schemas.microsoft.com/office/drawing/2014/main" id="{6086679F-0FB1-F013-7974-8BD5B3291476}"/>
              </a:ext>
            </a:extLst>
          </p:cNvPr>
          <p:cNvSpPr txBox="1"/>
          <p:nvPr/>
        </p:nvSpPr>
        <p:spPr bwMode="auto">
          <a:xfrm>
            <a:off x="11466951" y="6156199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ru-RU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</a:rPr>
              <a:t>9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F2D0B18-D65F-2274-7A00-14DD95230E06}"/>
              </a:ext>
            </a:extLst>
          </p:cNvPr>
          <p:cNvSpPr/>
          <p:nvPr/>
        </p:nvSpPr>
        <p:spPr>
          <a:xfrm>
            <a:off x="744071" y="1783976"/>
            <a:ext cx="10722880" cy="437222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F343D-3C2E-D919-3EB4-EEE772C0311D}"/>
              </a:ext>
            </a:extLst>
          </p:cNvPr>
          <p:cNvSpPr txBox="1"/>
          <p:nvPr/>
        </p:nvSpPr>
        <p:spPr>
          <a:xfrm>
            <a:off x="2308412" y="2093548"/>
            <a:ext cx="7575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806D8E9-B9C5-06BE-F6B1-5570A8858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55" y="0"/>
            <a:ext cx="12143563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69ADF9-2D72-C7C0-6F70-6AC3DD63D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63718" cy="688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987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34454</TotalTime>
  <Words>10421</Words>
  <Application>Microsoft Office PowerPoint</Application>
  <PresentationFormat>Широкоэкранный</PresentationFormat>
  <Paragraphs>1310</Paragraphs>
  <Slides>77</Slides>
  <Notes>76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77</vt:i4>
      </vt:variant>
    </vt:vector>
  </HeadingPairs>
  <TitlesOfParts>
    <vt:vector size="83" baseType="lpstr">
      <vt:lpstr>Arial</vt:lpstr>
      <vt:lpstr>Calibri</vt:lpstr>
      <vt:lpstr>Calibri Light</vt:lpstr>
      <vt:lpstr>Times New Roman</vt:lpstr>
      <vt:lpstr>Тема Office</vt:lpstr>
      <vt:lpstr>1_Тема Office</vt:lpstr>
      <vt:lpstr>Презентация PowerPoint</vt:lpstr>
      <vt:lpstr>ДАННЫЕ</vt:lpstr>
      <vt:lpstr>ДАННЫЕ</vt:lpstr>
      <vt:lpstr>ДАННЫЕ</vt:lpstr>
      <vt:lpstr>ДАННЫЕ</vt:lpstr>
      <vt:lpstr>ДАННЫЕ</vt:lpstr>
      <vt:lpstr>ДАННЫЕ</vt:lpstr>
      <vt:lpstr>ДАННЫЕ</vt:lpstr>
      <vt:lpstr>ДАННЫЕ</vt:lpstr>
      <vt:lpstr>ДАННЫЕ</vt:lpstr>
      <vt:lpstr>ДАННЫЕ</vt:lpstr>
      <vt:lpstr>ДАННЫЕ</vt:lpstr>
      <vt:lpstr>K-MEANS - ЛОКОТЬ</vt:lpstr>
      <vt:lpstr>РАСПРЕДЕЛЕНИЕ FRAUD</vt:lpstr>
      <vt:lpstr>РАСПРЕДЕЛЕНИЕ FRAUD</vt:lpstr>
      <vt:lpstr>ГРАФИК СРЕДНИХ РАСШИРЕННЫЙ</vt:lpstr>
      <vt:lpstr>ГРАФИК СРЕДНИХ РАСШИРЕННЫЙ</vt:lpstr>
      <vt:lpstr>ИНТЕРПРЕТАЦИЯ 6 КЛАСТЕРА</vt:lpstr>
      <vt:lpstr>Анализ признаков - Алгоритм ADD-DEL</vt:lpstr>
      <vt:lpstr>Алгоритм ADD-DEL(python)</vt:lpstr>
      <vt:lpstr>Алгоритм ADD-DEL(python)</vt:lpstr>
      <vt:lpstr>Алгоритм ADD-DEL(python)</vt:lpstr>
      <vt:lpstr>Алгоритм ADD-DEL(python)</vt:lpstr>
      <vt:lpstr>Алгоритм ADD-DEL(python)</vt:lpstr>
      <vt:lpstr>Алгоритм ADD-DEL(python)</vt:lpstr>
      <vt:lpstr>Алгоритм ADD-DEL</vt:lpstr>
      <vt:lpstr>Алгоритм BFS</vt:lpstr>
      <vt:lpstr>Алгоритм BFS(поиск в ширину)</vt:lpstr>
      <vt:lpstr>Алгоритм BFS(python)</vt:lpstr>
      <vt:lpstr>Алгоритм BFS(python)</vt:lpstr>
      <vt:lpstr>Алгоритм BFS(python)</vt:lpstr>
      <vt:lpstr>Алгоритм BFS(python)</vt:lpstr>
      <vt:lpstr>Алгоритм BFS(python)</vt:lpstr>
      <vt:lpstr>Алгоритм BFS(python)</vt:lpstr>
      <vt:lpstr>Алгоритм BFS</vt:lpstr>
      <vt:lpstr>Генетический алгоритм</vt:lpstr>
      <vt:lpstr>Генетический алгоритм(python)</vt:lpstr>
      <vt:lpstr>Генетический алгоритм(python)</vt:lpstr>
      <vt:lpstr>Генетический алгоритм(python)</vt:lpstr>
      <vt:lpstr>Генетический алгоритм(python)</vt:lpstr>
      <vt:lpstr>Генетический алгоритм(python)</vt:lpstr>
      <vt:lpstr>Генетический алгоритм(python)</vt:lpstr>
      <vt:lpstr>Генетический алгоритм(python)</vt:lpstr>
      <vt:lpstr>Генетический алгоритм(python)</vt:lpstr>
      <vt:lpstr>Генетический алгоритм(python)</vt:lpstr>
      <vt:lpstr>Генетический алгоритм(python)</vt:lpstr>
      <vt:lpstr>Генетический алгоритм(python)</vt:lpstr>
      <vt:lpstr>Генетический алгоритм</vt:lpstr>
      <vt:lpstr>Нахождение весов признаков</vt:lpstr>
      <vt:lpstr>Сравнение  методов  отбора  признаков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Никулин</dc:creator>
  <cp:lastModifiedBy>Егор Магай</cp:lastModifiedBy>
  <cp:revision>163</cp:revision>
  <dcterms:created xsi:type="dcterms:W3CDTF">2024-11-04T15:48:34Z</dcterms:created>
  <dcterms:modified xsi:type="dcterms:W3CDTF">2025-12-23T20:58:07Z</dcterms:modified>
</cp:coreProperties>
</file>